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70" r:id="rId12"/>
    <p:sldId id="268" r:id="rId13"/>
    <p:sldId id="269" r:id="rId14"/>
    <p:sldId id="271" r:id="rId15"/>
    <p:sldId id="272" r:id="rId16"/>
    <p:sldId id="273" r:id="rId17"/>
    <p:sldId id="274" r:id="rId18"/>
    <p:sldId id="275" r:id="rId19"/>
    <p:sldId id="276" r:id="rId20"/>
    <p:sldId id="277" r:id="rId21"/>
    <p:sldId id="278" r:id="rId22"/>
    <p:sldId id="279" r:id="rId23"/>
    <p:sldId id="280" r:id="rId24"/>
  </p:sldIdLst>
  <p:sldSz cx="14630400" cy="8229600"/>
  <p:notesSz cx="8229600" cy="14630400"/>
  <p:embeddedFontLst>
    <p:embeddedFont>
      <p:font typeface="Inter"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C3FB"/>
    <a:srgbClr val="4B0082"/>
    <a:srgbClr val="7543C0"/>
    <a:srgbClr val="835D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3A253-7D55-4E3A-AE39-3C3AA791B20B}" v="29" dt="2025-10-28T14:06:41.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hiksha Vasudevan" userId="5ae03805c2c584a6" providerId="LiveId" clId="{BA967BB9-894D-4965-A654-BCB94421372A}"/>
    <pc:docChg chg="undo redo custSel addSld delSld modSld">
      <pc:chgData name="Prathiksha Vasudevan" userId="5ae03805c2c584a6" providerId="LiveId" clId="{BA967BB9-894D-4965-A654-BCB94421372A}" dt="2025-10-28T14:23:13.140" v="568" actId="478"/>
      <pc:docMkLst>
        <pc:docMk/>
      </pc:docMkLst>
      <pc:sldChg chg="modSp mod">
        <pc:chgData name="Prathiksha Vasudevan" userId="5ae03805c2c584a6" providerId="LiveId" clId="{BA967BB9-894D-4965-A654-BCB94421372A}" dt="2025-10-16T04:33:50.385" v="283" actId="20577"/>
        <pc:sldMkLst>
          <pc:docMk/>
          <pc:sldMk cId="0" sldId="259"/>
        </pc:sldMkLst>
        <pc:spChg chg="mod">
          <ac:chgData name="Prathiksha Vasudevan" userId="5ae03805c2c584a6" providerId="LiveId" clId="{BA967BB9-894D-4965-A654-BCB94421372A}" dt="2025-10-16T04:33:50.385" v="283" actId="20577"/>
          <ac:spMkLst>
            <pc:docMk/>
            <pc:sldMk cId="0" sldId="259"/>
            <ac:spMk id="6" creationId="{00000000-0000-0000-0000-000000000000}"/>
          </ac:spMkLst>
        </pc:spChg>
      </pc:sldChg>
      <pc:sldChg chg="modSp mod">
        <pc:chgData name="Prathiksha Vasudevan" userId="5ae03805c2c584a6" providerId="LiveId" clId="{BA967BB9-894D-4965-A654-BCB94421372A}" dt="2025-10-16T04:11:46.304" v="141" actId="1036"/>
        <pc:sldMkLst>
          <pc:docMk/>
          <pc:sldMk cId="0" sldId="261"/>
        </pc:sldMkLst>
        <pc:spChg chg="mod">
          <ac:chgData name="Prathiksha Vasudevan" userId="5ae03805c2c584a6" providerId="LiveId" clId="{BA967BB9-894D-4965-A654-BCB94421372A}" dt="2025-10-16T04:11:46.304" v="141" actId="1036"/>
          <ac:spMkLst>
            <pc:docMk/>
            <pc:sldMk cId="0" sldId="261"/>
            <ac:spMk id="2" creationId="{00000000-0000-0000-0000-000000000000}"/>
          </ac:spMkLst>
        </pc:spChg>
      </pc:sldChg>
      <pc:sldChg chg="addSp delSp modSp mod">
        <pc:chgData name="Prathiksha Vasudevan" userId="5ae03805c2c584a6" providerId="LiveId" clId="{BA967BB9-894D-4965-A654-BCB94421372A}" dt="2025-10-16T05:00:22.315" v="447" actId="1076"/>
        <pc:sldMkLst>
          <pc:docMk/>
          <pc:sldMk cId="0" sldId="262"/>
        </pc:sldMkLst>
        <pc:spChg chg="mod">
          <ac:chgData name="Prathiksha Vasudevan" userId="5ae03805c2c584a6" providerId="LiveId" clId="{BA967BB9-894D-4965-A654-BCB94421372A}" dt="2025-10-16T04:43:32.282" v="289" actId="1076"/>
          <ac:spMkLst>
            <pc:docMk/>
            <pc:sldMk cId="0" sldId="262"/>
            <ac:spMk id="6" creationId="{00000000-0000-0000-0000-000000000000}"/>
          </ac:spMkLst>
        </pc:spChg>
        <pc:spChg chg="mod">
          <ac:chgData name="Prathiksha Vasudevan" userId="5ae03805c2c584a6" providerId="LiveId" clId="{BA967BB9-894D-4965-A654-BCB94421372A}" dt="2025-10-16T04:43:53.685" v="290" actId="1076"/>
          <ac:spMkLst>
            <pc:docMk/>
            <pc:sldMk cId="0" sldId="262"/>
            <ac:spMk id="7" creationId="{00000000-0000-0000-0000-000000000000}"/>
          </ac:spMkLst>
        </pc:spChg>
        <pc:spChg chg="mod">
          <ac:chgData name="Prathiksha Vasudevan" userId="5ae03805c2c584a6" providerId="LiveId" clId="{BA967BB9-894D-4965-A654-BCB94421372A}" dt="2025-10-16T04:43:53.685" v="290" actId="1076"/>
          <ac:spMkLst>
            <pc:docMk/>
            <pc:sldMk cId="0" sldId="262"/>
            <ac:spMk id="8" creationId="{00000000-0000-0000-0000-000000000000}"/>
          </ac:spMkLst>
        </pc:spChg>
        <pc:spChg chg="mod">
          <ac:chgData name="Prathiksha Vasudevan" userId="5ae03805c2c584a6" providerId="LiveId" clId="{BA967BB9-894D-4965-A654-BCB94421372A}" dt="2025-10-16T04:47:48.074" v="350" actId="1076"/>
          <ac:spMkLst>
            <pc:docMk/>
            <pc:sldMk cId="0" sldId="262"/>
            <ac:spMk id="9" creationId="{00000000-0000-0000-0000-000000000000}"/>
          </ac:spMkLst>
        </pc:spChg>
        <pc:spChg chg="mod">
          <ac:chgData name="Prathiksha Vasudevan" userId="5ae03805c2c584a6" providerId="LiveId" clId="{BA967BB9-894D-4965-A654-BCB94421372A}" dt="2025-10-16T04:44:19.191" v="291" actId="164"/>
          <ac:spMkLst>
            <pc:docMk/>
            <pc:sldMk cId="0" sldId="262"/>
            <ac:spMk id="10" creationId="{00000000-0000-0000-0000-000000000000}"/>
          </ac:spMkLst>
        </pc:spChg>
        <pc:spChg chg="mod">
          <ac:chgData name="Prathiksha Vasudevan" userId="5ae03805c2c584a6" providerId="LiveId" clId="{BA967BB9-894D-4965-A654-BCB94421372A}" dt="2025-10-16T04:44:31.473" v="293" actId="1076"/>
          <ac:spMkLst>
            <pc:docMk/>
            <pc:sldMk cId="0" sldId="262"/>
            <ac:spMk id="12" creationId="{00000000-0000-0000-0000-000000000000}"/>
          </ac:spMkLst>
        </pc:spChg>
        <pc:spChg chg="mod">
          <ac:chgData name="Prathiksha Vasudevan" userId="5ae03805c2c584a6" providerId="LiveId" clId="{BA967BB9-894D-4965-A654-BCB94421372A}" dt="2025-10-16T04:43:53.685" v="290" actId="1076"/>
          <ac:spMkLst>
            <pc:docMk/>
            <pc:sldMk cId="0" sldId="262"/>
            <ac:spMk id="13" creationId="{00000000-0000-0000-0000-000000000000}"/>
          </ac:spMkLst>
        </pc:spChg>
        <pc:spChg chg="mod">
          <ac:chgData name="Prathiksha Vasudevan" userId="5ae03805c2c584a6" providerId="LiveId" clId="{BA967BB9-894D-4965-A654-BCB94421372A}" dt="2025-10-16T04:43:53.685" v="290" actId="1076"/>
          <ac:spMkLst>
            <pc:docMk/>
            <pc:sldMk cId="0" sldId="262"/>
            <ac:spMk id="14" creationId="{00000000-0000-0000-0000-000000000000}"/>
          </ac:spMkLst>
        </pc:spChg>
        <pc:spChg chg="mod">
          <ac:chgData name="Prathiksha Vasudevan" userId="5ae03805c2c584a6" providerId="LiveId" clId="{BA967BB9-894D-4965-A654-BCB94421372A}" dt="2025-10-16T04:44:19.191" v="291" actId="164"/>
          <ac:spMkLst>
            <pc:docMk/>
            <pc:sldMk cId="0" sldId="262"/>
            <ac:spMk id="15" creationId="{00000000-0000-0000-0000-000000000000}"/>
          </ac:spMkLst>
        </pc:spChg>
        <pc:spChg chg="mod">
          <ac:chgData name="Prathiksha Vasudevan" userId="5ae03805c2c584a6" providerId="LiveId" clId="{BA967BB9-894D-4965-A654-BCB94421372A}" dt="2025-10-16T04:44:19.191" v="291" actId="164"/>
          <ac:spMkLst>
            <pc:docMk/>
            <pc:sldMk cId="0" sldId="262"/>
            <ac:spMk id="16" creationId="{00000000-0000-0000-0000-000000000000}"/>
          </ac:spMkLst>
        </pc:spChg>
        <pc:spChg chg="mod">
          <ac:chgData name="Prathiksha Vasudevan" userId="5ae03805c2c584a6" providerId="LiveId" clId="{BA967BB9-894D-4965-A654-BCB94421372A}" dt="2025-10-16T04:44:19.191" v="291" actId="164"/>
          <ac:spMkLst>
            <pc:docMk/>
            <pc:sldMk cId="0" sldId="262"/>
            <ac:spMk id="17" creationId="{00000000-0000-0000-0000-000000000000}"/>
          </ac:spMkLst>
        </pc:spChg>
        <pc:spChg chg="mod">
          <ac:chgData name="Prathiksha Vasudevan" userId="5ae03805c2c584a6" providerId="LiveId" clId="{BA967BB9-894D-4965-A654-BCB94421372A}" dt="2025-10-16T04:43:32.282" v="289" actId="1076"/>
          <ac:spMkLst>
            <pc:docMk/>
            <pc:sldMk cId="0" sldId="262"/>
            <ac:spMk id="18" creationId="{00000000-0000-0000-0000-000000000000}"/>
          </ac:spMkLst>
        </pc:spChg>
        <pc:spChg chg="mod">
          <ac:chgData name="Prathiksha Vasudevan" userId="5ae03805c2c584a6" providerId="LiveId" clId="{BA967BB9-894D-4965-A654-BCB94421372A}" dt="2025-10-16T04:44:19.191" v="291" actId="164"/>
          <ac:spMkLst>
            <pc:docMk/>
            <pc:sldMk cId="0" sldId="262"/>
            <ac:spMk id="19" creationId="{00000000-0000-0000-0000-000000000000}"/>
          </ac:spMkLst>
        </pc:spChg>
        <pc:spChg chg="mod">
          <ac:chgData name="Prathiksha Vasudevan" userId="5ae03805c2c584a6" providerId="LiveId" clId="{BA967BB9-894D-4965-A654-BCB94421372A}" dt="2025-10-16T04:44:19.191" v="291" actId="164"/>
          <ac:spMkLst>
            <pc:docMk/>
            <pc:sldMk cId="0" sldId="262"/>
            <ac:spMk id="20" creationId="{00000000-0000-0000-0000-000000000000}"/>
          </ac:spMkLst>
        </pc:spChg>
        <pc:spChg chg="mod">
          <ac:chgData name="Prathiksha Vasudevan" userId="5ae03805c2c584a6" providerId="LiveId" clId="{BA967BB9-894D-4965-A654-BCB94421372A}" dt="2025-10-16T04:43:53.685" v="290" actId="1076"/>
          <ac:spMkLst>
            <pc:docMk/>
            <pc:sldMk cId="0" sldId="262"/>
            <ac:spMk id="21" creationId="{00000000-0000-0000-0000-000000000000}"/>
          </ac:spMkLst>
        </pc:spChg>
        <pc:spChg chg="mod">
          <ac:chgData name="Prathiksha Vasudevan" userId="5ae03805c2c584a6" providerId="LiveId" clId="{BA967BB9-894D-4965-A654-BCB94421372A}" dt="2025-10-16T04:48:04.308" v="353" actId="1076"/>
          <ac:spMkLst>
            <pc:docMk/>
            <pc:sldMk cId="0" sldId="262"/>
            <ac:spMk id="22" creationId="{00000000-0000-0000-0000-000000000000}"/>
          </ac:spMkLst>
        </pc:spChg>
        <pc:spChg chg="mod">
          <ac:chgData name="Prathiksha Vasudevan" userId="5ae03805c2c584a6" providerId="LiveId" clId="{BA967BB9-894D-4965-A654-BCB94421372A}" dt="2025-10-16T04:44:19.191" v="291" actId="164"/>
          <ac:spMkLst>
            <pc:docMk/>
            <pc:sldMk cId="0" sldId="262"/>
            <ac:spMk id="23" creationId="{00000000-0000-0000-0000-000000000000}"/>
          </ac:spMkLst>
        </pc:spChg>
        <pc:spChg chg="mod">
          <ac:chgData name="Prathiksha Vasudevan" userId="5ae03805c2c584a6" providerId="LiveId" clId="{BA967BB9-894D-4965-A654-BCB94421372A}" dt="2025-10-16T04:46:03.250" v="317" actId="1076"/>
          <ac:spMkLst>
            <pc:docMk/>
            <pc:sldMk cId="0" sldId="262"/>
            <ac:spMk id="24" creationId="{00000000-0000-0000-0000-000000000000}"/>
          </ac:spMkLst>
        </pc:spChg>
        <pc:spChg chg="mod">
          <ac:chgData name="Prathiksha Vasudevan" userId="5ae03805c2c584a6" providerId="LiveId" clId="{BA967BB9-894D-4965-A654-BCB94421372A}" dt="2025-10-16T04:44:19.191" v="291" actId="164"/>
          <ac:spMkLst>
            <pc:docMk/>
            <pc:sldMk cId="0" sldId="262"/>
            <ac:spMk id="25" creationId="{00000000-0000-0000-0000-000000000000}"/>
          </ac:spMkLst>
        </pc:spChg>
        <pc:spChg chg="mod">
          <ac:chgData name="Prathiksha Vasudevan" userId="5ae03805c2c584a6" providerId="LiveId" clId="{BA967BB9-894D-4965-A654-BCB94421372A}" dt="2025-10-16T04:43:53.685" v="290" actId="1076"/>
          <ac:spMkLst>
            <pc:docMk/>
            <pc:sldMk cId="0" sldId="262"/>
            <ac:spMk id="27" creationId="{00000000-0000-0000-0000-000000000000}"/>
          </ac:spMkLst>
        </pc:spChg>
        <pc:spChg chg="mod">
          <ac:chgData name="Prathiksha Vasudevan" userId="5ae03805c2c584a6" providerId="LiveId" clId="{BA967BB9-894D-4965-A654-BCB94421372A}" dt="2025-10-16T04:48:11.249" v="354" actId="1076"/>
          <ac:spMkLst>
            <pc:docMk/>
            <pc:sldMk cId="0" sldId="262"/>
            <ac:spMk id="28" creationId="{00000000-0000-0000-0000-000000000000}"/>
          </ac:spMkLst>
        </pc:spChg>
        <pc:spChg chg="mod">
          <ac:chgData name="Prathiksha Vasudevan" userId="5ae03805c2c584a6" providerId="LiveId" clId="{BA967BB9-894D-4965-A654-BCB94421372A}" dt="2025-10-16T04:43:03.529" v="284" actId="1076"/>
          <ac:spMkLst>
            <pc:docMk/>
            <pc:sldMk cId="0" sldId="262"/>
            <ac:spMk id="30" creationId="{00000000-0000-0000-0000-000000000000}"/>
          </ac:spMkLst>
        </pc:spChg>
        <pc:spChg chg="mod">
          <ac:chgData name="Prathiksha Vasudevan" userId="5ae03805c2c584a6" providerId="LiveId" clId="{BA967BB9-894D-4965-A654-BCB94421372A}" dt="2025-10-16T04:43:08.187" v="285" actId="1076"/>
          <ac:spMkLst>
            <pc:docMk/>
            <pc:sldMk cId="0" sldId="262"/>
            <ac:spMk id="31" creationId="{00000000-0000-0000-0000-000000000000}"/>
          </ac:spMkLst>
        </pc:spChg>
        <pc:spChg chg="add mod">
          <ac:chgData name="Prathiksha Vasudevan" userId="5ae03805c2c584a6" providerId="LiveId" clId="{BA967BB9-894D-4965-A654-BCB94421372A}" dt="2025-10-16T04:55:36.333" v="439" actId="1076"/>
          <ac:spMkLst>
            <pc:docMk/>
            <pc:sldMk cId="0" sldId="262"/>
            <ac:spMk id="38" creationId="{A1950B78-3153-9836-0184-C3D34BB9A118}"/>
          </ac:spMkLst>
        </pc:spChg>
        <pc:spChg chg="add mod">
          <ac:chgData name="Prathiksha Vasudevan" userId="5ae03805c2c584a6" providerId="LiveId" clId="{BA967BB9-894D-4965-A654-BCB94421372A}" dt="2025-10-16T04:57:12.143" v="445" actId="113"/>
          <ac:spMkLst>
            <pc:docMk/>
            <pc:sldMk cId="0" sldId="262"/>
            <ac:spMk id="40" creationId="{9CDB719A-F589-3C20-55E1-B65DE008E691}"/>
          </ac:spMkLst>
        </pc:spChg>
        <pc:spChg chg="add mod">
          <ac:chgData name="Prathiksha Vasudevan" userId="5ae03805c2c584a6" providerId="LiveId" clId="{BA967BB9-894D-4965-A654-BCB94421372A}" dt="2025-10-16T04:56:51.193" v="443" actId="207"/>
          <ac:spMkLst>
            <pc:docMk/>
            <pc:sldMk cId="0" sldId="262"/>
            <ac:spMk id="41" creationId="{4F778F0C-DA77-2141-049D-58A63CC6596F}"/>
          </ac:spMkLst>
        </pc:spChg>
        <pc:spChg chg="add mod">
          <ac:chgData name="Prathiksha Vasudevan" userId="5ae03805c2c584a6" providerId="LiveId" clId="{BA967BB9-894D-4965-A654-BCB94421372A}" dt="2025-10-16T04:59:35.017" v="446" actId="1076"/>
          <ac:spMkLst>
            <pc:docMk/>
            <pc:sldMk cId="0" sldId="262"/>
            <ac:spMk id="42" creationId="{8F8B10E5-F779-E1F0-D79A-21C3E0D23E72}"/>
          </ac:spMkLst>
        </pc:spChg>
        <pc:spChg chg="add mod">
          <ac:chgData name="Prathiksha Vasudevan" userId="5ae03805c2c584a6" providerId="LiveId" clId="{BA967BB9-894D-4965-A654-BCB94421372A}" dt="2025-10-16T04:55:30.332" v="437" actId="207"/>
          <ac:spMkLst>
            <pc:docMk/>
            <pc:sldMk cId="0" sldId="262"/>
            <ac:spMk id="43" creationId="{DADE04C1-C387-A19D-22EB-816CB9466B58}"/>
          </ac:spMkLst>
        </pc:spChg>
        <pc:spChg chg="add mod">
          <ac:chgData name="Prathiksha Vasudevan" userId="5ae03805c2c584a6" providerId="LiveId" clId="{BA967BB9-894D-4965-A654-BCB94421372A}" dt="2025-10-16T05:00:22.315" v="447" actId="1076"/>
          <ac:spMkLst>
            <pc:docMk/>
            <pc:sldMk cId="0" sldId="262"/>
            <ac:spMk id="44" creationId="{5FBC346A-5E96-D94A-AC51-3BA55EC3D6DD}"/>
          </ac:spMkLst>
        </pc:spChg>
        <pc:grpChg chg="mod">
          <ac:chgData name="Prathiksha Vasudevan" userId="5ae03805c2c584a6" providerId="LiveId" clId="{BA967BB9-894D-4965-A654-BCB94421372A}" dt="2025-10-16T04:47:05.635" v="324" actId="1076"/>
          <ac:grpSpMkLst>
            <pc:docMk/>
            <pc:sldMk cId="0" sldId="262"/>
            <ac:grpSpMk id="32" creationId="{359A30F1-67AA-A1D6-4628-42B41EF4B0E6}"/>
          </ac:grpSpMkLst>
        </pc:grpChg>
      </pc:sldChg>
      <pc:sldChg chg="addSp delSp modSp mod">
        <pc:chgData name="Prathiksha Vasudevan" userId="5ae03805c2c584a6" providerId="LiveId" clId="{BA967BB9-894D-4965-A654-BCB94421372A}" dt="2025-10-16T05:09:21.208" v="502" actId="20577"/>
        <pc:sldMkLst>
          <pc:docMk/>
          <pc:sldMk cId="0" sldId="264"/>
        </pc:sldMkLst>
        <pc:spChg chg="mod">
          <ac:chgData name="Prathiksha Vasudevan" userId="5ae03805c2c584a6" providerId="LiveId" clId="{BA967BB9-894D-4965-A654-BCB94421372A}" dt="2025-10-16T04:31:59.120" v="276" actId="20577"/>
          <ac:spMkLst>
            <pc:docMk/>
            <pc:sldMk cId="0" sldId="264"/>
            <ac:spMk id="3" creationId="{00000000-0000-0000-0000-000000000000}"/>
          </ac:spMkLst>
        </pc:spChg>
        <pc:spChg chg="mod">
          <ac:chgData name="Prathiksha Vasudevan" userId="5ae03805c2c584a6" providerId="LiveId" clId="{BA967BB9-894D-4965-A654-BCB94421372A}" dt="2025-10-16T04:31:10.702" v="266" actId="20577"/>
          <ac:spMkLst>
            <pc:docMk/>
            <pc:sldMk cId="0" sldId="264"/>
            <ac:spMk id="5" creationId="{00000000-0000-0000-0000-000000000000}"/>
          </ac:spMkLst>
        </pc:spChg>
        <pc:spChg chg="mod">
          <ac:chgData name="Prathiksha Vasudevan" userId="5ae03805c2c584a6" providerId="LiveId" clId="{BA967BB9-894D-4965-A654-BCB94421372A}" dt="2025-10-16T05:09:21.208" v="502" actId="20577"/>
          <ac:spMkLst>
            <pc:docMk/>
            <pc:sldMk cId="0" sldId="264"/>
            <ac:spMk id="6" creationId="{00000000-0000-0000-0000-000000000000}"/>
          </ac:spMkLst>
        </pc:spChg>
        <pc:spChg chg="mod">
          <ac:chgData name="Prathiksha Vasudevan" userId="5ae03805c2c584a6" providerId="LiveId" clId="{BA967BB9-894D-4965-A654-BCB94421372A}" dt="2025-10-16T05:08:41.465" v="486" actId="20577"/>
          <ac:spMkLst>
            <pc:docMk/>
            <pc:sldMk cId="0" sldId="264"/>
            <ac:spMk id="7" creationId="{00000000-0000-0000-0000-000000000000}"/>
          </ac:spMkLst>
        </pc:spChg>
        <pc:spChg chg="mod">
          <ac:chgData name="Prathiksha Vasudevan" userId="5ae03805c2c584a6" providerId="LiveId" clId="{BA967BB9-894D-4965-A654-BCB94421372A}" dt="2025-10-16T05:05:31.334" v="464" actId="20577"/>
          <ac:spMkLst>
            <pc:docMk/>
            <pc:sldMk cId="0" sldId="264"/>
            <ac:spMk id="8" creationId="{00000000-0000-0000-0000-000000000000}"/>
          </ac:spMkLst>
        </pc:spChg>
        <pc:picChg chg="add mod">
          <ac:chgData name="Prathiksha Vasudevan" userId="5ae03805c2c584a6" providerId="LiveId" clId="{BA967BB9-894D-4965-A654-BCB94421372A}" dt="2025-10-16T04:30:58.869" v="248" actId="1076"/>
          <ac:picMkLst>
            <pc:docMk/>
            <pc:sldMk cId="0" sldId="264"/>
            <ac:picMk id="26" creationId="{CBF337FB-4F85-1755-4EE7-6060328982F8}"/>
          </ac:picMkLst>
        </pc:picChg>
      </pc:sldChg>
      <pc:sldChg chg="addSp modSp mod setBg">
        <pc:chgData name="Prathiksha Vasudevan" userId="5ae03805c2c584a6" providerId="LiveId" clId="{BA967BB9-894D-4965-A654-BCB94421372A}" dt="2025-10-28T14:09:14.623" v="562" actId="207"/>
        <pc:sldMkLst>
          <pc:docMk/>
          <pc:sldMk cId="0" sldId="270"/>
        </pc:sldMkLst>
        <pc:spChg chg="mod">
          <ac:chgData name="Prathiksha Vasudevan" userId="5ae03805c2c584a6" providerId="LiveId" clId="{BA967BB9-894D-4965-A654-BCB94421372A}" dt="2025-10-28T14:08:22.413" v="545" actId="207"/>
          <ac:spMkLst>
            <pc:docMk/>
            <pc:sldMk cId="0" sldId="270"/>
            <ac:spMk id="14" creationId="{DEFCA7A9-DD16-E1F1-9F5F-7F0A680C5F5E}"/>
          </ac:spMkLst>
        </pc:spChg>
        <pc:spChg chg="mod">
          <ac:chgData name="Prathiksha Vasudevan" userId="5ae03805c2c584a6" providerId="LiveId" clId="{BA967BB9-894D-4965-A654-BCB94421372A}" dt="2025-10-28T14:07:58.722" v="540" actId="207"/>
          <ac:spMkLst>
            <pc:docMk/>
            <pc:sldMk cId="0" sldId="270"/>
            <ac:spMk id="16" creationId="{A0476086-49F8-24F9-1522-C4011E9A88DC}"/>
          </ac:spMkLst>
        </pc:spChg>
        <pc:spChg chg="mod">
          <ac:chgData name="Prathiksha Vasudevan" userId="5ae03805c2c584a6" providerId="LiveId" clId="{BA967BB9-894D-4965-A654-BCB94421372A}" dt="2025-10-28T14:08:25.556" v="546" actId="207"/>
          <ac:spMkLst>
            <pc:docMk/>
            <pc:sldMk cId="0" sldId="270"/>
            <ac:spMk id="17" creationId="{3B0F8AA9-8C53-7738-CB2C-27E633A17872}"/>
          </ac:spMkLst>
        </pc:spChg>
        <pc:spChg chg="mod">
          <ac:chgData name="Prathiksha Vasudevan" userId="5ae03805c2c584a6" providerId="LiveId" clId="{BA967BB9-894D-4965-A654-BCB94421372A}" dt="2025-10-28T14:08:09.634" v="542" actId="207"/>
          <ac:spMkLst>
            <pc:docMk/>
            <pc:sldMk cId="0" sldId="270"/>
            <ac:spMk id="18" creationId="{68E2F172-F89C-0933-6C8F-F50B2BA41ACC}"/>
          </ac:spMkLst>
        </pc:spChg>
        <pc:spChg chg="mod">
          <ac:chgData name="Prathiksha Vasudevan" userId="5ae03805c2c584a6" providerId="LiveId" clId="{BA967BB9-894D-4965-A654-BCB94421372A}" dt="2025-10-28T14:07:36.613" v="535" actId="207"/>
          <ac:spMkLst>
            <pc:docMk/>
            <pc:sldMk cId="0" sldId="270"/>
            <ac:spMk id="19" creationId="{63DDCF08-E0A2-5969-25D0-6991922C9F61}"/>
          </ac:spMkLst>
        </pc:spChg>
        <pc:spChg chg="mod">
          <ac:chgData name="Prathiksha Vasudevan" userId="5ae03805c2c584a6" providerId="LiveId" clId="{BA967BB9-894D-4965-A654-BCB94421372A}" dt="2025-10-28T14:07:49.534" v="539" actId="207"/>
          <ac:spMkLst>
            <pc:docMk/>
            <pc:sldMk cId="0" sldId="270"/>
            <ac:spMk id="20" creationId="{5B431B42-5AC8-07E1-FC7E-50667B89C6C9}"/>
          </ac:spMkLst>
        </pc:spChg>
        <pc:spChg chg="mod">
          <ac:chgData name="Prathiksha Vasudevan" userId="5ae03805c2c584a6" providerId="LiveId" clId="{BA967BB9-894D-4965-A654-BCB94421372A}" dt="2025-10-28T14:07:33.955" v="534" actId="207"/>
          <ac:spMkLst>
            <pc:docMk/>
            <pc:sldMk cId="0" sldId="270"/>
            <ac:spMk id="21" creationId="{F8A5F2E6-15EE-13CF-64BB-48F973273EB3}"/>
          </ac:spMkLst>
        </pc:spChg>
        <pc:spChg chg="mod">
          <ac:chgData name="Prathiksha Vasudevan" userId="5ae03805c2c584a6" providerId="LiveId" clId="{BA967BB9-894D-4965-A654-BCB94421372A}" dt="2025-10-28T14:07:31.180" v="533" actId="207"/>
          <ac:spMkLst>
            <pc:docMk/>
            <pc:sldMk cId="0" sldId="270"/>
            <ac:spMk id="22" creationId="{8D0DF3D4-2428-53FB-E079-B9F26C6957B9}"/>
          </ac:spMkLst>
        </pc:spChg>
        <pc:spChg chg="mod">
          <ac:chgData name="Prathiksha Vasudevan" userId="5ae03805c2c584a6" providerId="LiveId" clId="{BA967BB9-894D-4965-A654-BCB94421372A}" dt="2025-10-28T14:07:27.897" v="532" actId="207"/>
          <ac:spMkLst>
            <pc:docMk/>
            <pc:sldMk cId="0" sldId="270"/>
            <ac:spMk id="23" creationId="{D44DD5C7-0CA2-0BFA-F8C0-E300BB818638}"/>
          </ac:spMkLst>
        </pc:spChg>
        <pc:spChg chg="mod">
          <ac:chgData name="Prathiksha Vasudevan" userId="5ae03805c2c584a6" providerId="LiveId" clId="{BA967BB9-894D-4965-A654-BCB94421372A}" dt="2025-10-28T14:08:28.678" v="547" actId="207"/>
          <ac:spMkLst>
            <pc:docMk/>
            <pc:sldMk cId="0" sldId="270"/>
            <ac:spMk id="24" creationId="{CF0E2B3B-23CA-6B5F-3732-CAAEB9CD256A}"/>
          </ac:spMkLst>
        </pc:spChg>
        <pc:spChg chg="mod">
          <ac:chgData name="Prathiksha Vasudevan" userId="5ae03805c2c584a6" providerId="LiveId" clId="{BA967BB9-894D-4965-A654-BCB94421372A}" dt="2025-10-28T14:09:05.919" v="560" actId="207"/>
          <ac:spMkLst>
            <pc:docMk/>
            <pc:sldMk cId="0" sldId="270"/>
            <ac:spMk id="25" creationId="{4D8A3847-8AA6-83D7-9216-DE6726779BDB}"/>
          </ac:spMkLst>
        </pc:spChg>
        <pc:spChg chg="mod">
          <ac:chgData name="Prathiksha Vasudevan" userId="5ae03805c2c584a6" providerId="LiveId" clId="{BA967BB9-894D-4965-A654-BCB94421372A}" dt="2025-10-28T14:09:02.856" v="558" actId="207"/>
          <ac:spMkLst>
            <pc:docMk/>
            <pc:sldMk cId="0" sldId="270"/>
            <ac:spMk id="26" creationId="{B06AE6EF-8965-1B2B-0FE8-BB7B462C95D2}"/>
          </ac:spMkLst>
        </pc:spChg>
        <pc:spChg chg="mod">
          <ac:chgData name="Prathiksha Vasudevan" userId="5ae03805c2c584a6" providerId="LiveId" clId="{BA967BB9-894D-4965-A654-BCB94421372A}" dt="2025-10-28T14:09:00.277" v="557" actId="207"/>
          <ac:spMkLst>
            <pc:docMk/>
            <pc:sldMk cId="0" sldId="270"/>
            <ac:spMk id="27" creationId="{E44D6905-7835-C710-C68E-08FCC4226E81}"/>
          </ac:spMkLst>
        </pc:spChg>
        <pc:spChg chg="mod">
          <ac:chgData name="Prathiksha Vasudevan" userId="5ae03805c2c584a6" providerId="LiveId" clId="{BA967BB9-894D-4965-A654-BCB94421372A}" dt="2025-10-28T14:08:57.670" v="556" actId="207"/>
          <ac:spMkLst>
            <pc:docMk/>
            <pc:sldMk cId="0" sldId="270"/>
            <ac:spMk id="28" creationId="{7F4C3E94-B4B4-6803-F984-4CC91DADF767}"/>
          </ac:spMkLst>
        </pc:spChg>
        <pc:spChg chg="mod">
          <ac:chgData name="Prathiksha Vasudevan" userId="5ae03805c2c584a6" providerId="LiveId" clId="{BA967BB9-894D-4965-A654-BCB94421372A}" dt="2025-10-28T14:08:55.152" v="555" actId="207"/>
          <ac:spMkLst>
            <pc:docMk/>
            <pc:sldMk cId="0" sldId="270"/>
            <ac:spMk id="29" creationId="{FE71E818-47FE-7170-A45C-A4718748DAEF}"/>
          </ac:spMkLst>
        </pc:spChg>
        <pc:spChg chg="mod">
          <ac:chgData name="Prathiksha Vasudevan" userId="5ae03805c2c584a6" providerId="LiveId" clId="{BA967BB9-894D-4965-A654-BCB94421372A}" dt="2025-10-28T14:08:52.820" v="554" actId="207"/>
          <ac:spMkLst>
            <pc:docMk/>
            <pc:sldMk cId="0" sldId="270"/>
            <ac:spMk id="30" creationId="{C9238541-5AD7-CB10-70E2-9E29C1EAEACB}"/>
          </ac:spMkLst>
        </pc:spChg>
        <pc:spChg chg="mod">
          <ac:chgData name="Prathiksha Vasudevan" userId="5ae03805c2c584a6" providerId="LiveId" clId="{BA967BB9-894D-4965-A654-BCB94421372A}" dt="2025-10-28T14:08:50.150" v="553" actId="207"/>
          <ac:spMkLst>
            <pc:docMk/>
            <pc:sldMk cId="0" sldId="270"/>
            <ac:spMk id="31" creationId="{30C19C04-30A3-5F89-7690-46E029365F89}"/>
          </ac:spMkLst>
        </pc:spChg>
        <pc:spChg chg="mod">
          <ac:chgData name="Prathiksha Vasudevan" userId="5ae03805c2c584a6" providerId="LiveId" clId="{BA967BB9-894D-4965-A654-BCB94421372A}" dt="2025-10-28T14:08:46.985" v="552" actId="207"/>
          <ac:spMkLst>
            <pc:docMk/>
            <pc:sldMk cId="0" sldId="270"/>
            <ac:spMk id="32" creationId="{B68915C7-DFA3-2F22-1BF7-E8F0F939363A}"/>
          </ac:spMkLst>
        </pc:spChg>
        <pc:spChg chg="mod">
          <ac:chgData name="Prathiksha Vasudevan" userId="5ae03805c2c584a6" providerId="LiveId" clId="{BA967BB9-894D-4965-A654-BCB94421372A}" dt="2025-10-28T14:08:43.600" v="551" actId="207"/>
          <ac:spMkLst>
            <pc:docMk/>
            <pc:sldMk cId="0" sldId="270"/>
            <ac:spMk id="33" creationId="{78452DA9-F4BF-4C76-3C2E-A5F4D89A9AD4}"/>
          </ac:spMkLst>
        </pc:spChg>
        <pc:spChg chg="mod">
          <ac:chgData name="Prathiksha Vasudevan" userId="5ae03805c2c584a6" providerId="LiveId" clId="{BA967BB9-894D-4965-A654-BCB94421372A}" dt="2025-10-28T14:08:40.893" v="550" actId="207"/>
          <ac:spMkLst>
            <pc:docMk/>
            <pc:sldMk cId="0" sldId="270"/>
            <ac:spMk id="35" creationId="{CC836C64-2271-FABC-326D-61E10E523A90}"/>
          </ac:spMkLst>
        </pc:spChg>
        <pc:spChg chg="mod">
          <ac:chgData name="Prathiksha Vasudevan" userId="5ae03805c2c584a6" providerId="LiveId" clId="{BA967BB9-894D-4965-A654-BCB94421372A}" dt="2025-10-28T14:08:37.317" v="549" actId="207"/>
          <ac:spMkLst>
            <pc:docMk/>
            <pc:sldMk cId="0" sldId="270"/>
            <ac:spMk id="36" creationId="{B5FFB829-D352-EB04-CAC0-EAA86902CD99}"/>
          </ac:spMkLst>
        </pc:spChg>
        <pc:spChg chg="mod">
          <ac:chgData name="Prathiksha Vasudevan" userId="5ae03805c2c584a6" providerId="LiveId" clId="{BA967BB9-894D-4965-A654-BCB94421372A}" dt="2025-10-28T14:08:31.618" v="548" actId="207"/>
          <ac:spMkLst>
            <pc:docMk/>
            <pc:sldMk cId="0" sldId="270"/>
            <ac:spMk id="37" creationId="{ADA83E72-BBBC-490C-7E57-7ECCC7025FE2}"/>
          </ac:spMkLst>
        </pc:spChg>
        <pc:spChg chg="mod">
          <ac:chgData name="Prathiksha Vasudevan" userId="5ae03805c2c584a6" providerId="LiveId" clId="{BA967BB9-894D-4965-A654-BCB94421372A}" dt="2025-10-28T14:09:10.823" v="561" actId="207"/>
          <ac:spMkLst>
            <pc:docMk/>
            <pc:sldMk cId="0" sldId="270"/>
            <ac:spMk id="38" creationId="{CC59C7DE-2A44-FC9C-E08E-18E1EAD24FAA}"/>
          </ac:spMkLst>
        </pc:spChg>
        <pc:spChg chg="mod">
          <ac:chgData name="Prathiksha Vasudevan" userId="5ae03805c2c584a6" providerId="LiveId" clId="{BA967BB9-894D-4965-A654-BCB94421372A}" dt="2025-10-28T14:09:14.623" v="562" actId="207"/>
          <ac:spMkLst>
            <pc:docMk/>
            <pc:sldMk cId="0" sldId="270"/>
            <ac:spMk id="39" creationId="{8EFC9699-CB70-640E-3AA4-7B8E1F4B4FB8}"/>
          </ac:spMkLst>
        </pc:spChg>
      </pc:sldChg>
      <pc:sldChg chg="modSp mod">
        <pc:chgData name="Prathiksha Vasudevan" userId="5ae03805c2c584a6" providerId="LiveId" clId="{BA967BB9-894D-4965-A654-BCB94421372A}" dt="2025-10-16T03:56:40.555" v="17" actId="20577"/>
        <pc:sldMkLst>
          <pc:docMk/>
          <pc:sldMk cId="1631216489" sldId="271"/>
        </pc:sldMkLst>
        <pc:spChg chg="mod">
          <ac:chgData name="Prathiksha Vasudevan" userId="5ae03805c2c584a6" providerId="LiveId" clId="{BA967BB9-894D-4965-A654-BCB94421372A}" dt="2025-10-16T03:56:40.555" v="17" actId="20577"/>
          <ac:spMkLst>
            <pc:docMk/>
            <pc:sldMk cId="1631216489" sldId="271"/>
            <ac:spMk id="8" creationId="{51FC34E7-3FCF-3B2D-A1E7-43A2ED95811B}"/>
          </ac:spMkLst>
        </pc:spChg>
      </pc:sldChg>
      <pc:sldChg chg="delSp modSp mod">
        <pc:chgData name="Prathiksha Vasudevan" userId="5ae03805c2c584a6" providerId="LiveId" clId="{BA967BB9-894D-4965-A654-BCB94421372A}" dt="2025-10-28T14:23:13.140" v="568" actId="478"/>
        <pc:sldMkLst>
          <pc:docMk/>
          <pc:sldMk cId="3915004565" sldId="277"/>
        </pc:sldMkLst>
        <pc:spChg chg="del mod">
          <ac:chgData name="Prathiksha Vasudevan" userId="5ae03805c2c584a6" providerId="LiveId" clId="{BA967BB9-894D-4965-A654-BCB94421372A}" dt="2025-10-28T14:23:13.140" v="568" actId="478"/>
          <ac:spMkLst>
            <pc:docMk/>
            <pc:sldMk cId="3915004565" sldId="277"/>
            <ac:spMk id="6" creationId="{3EBF9FD0-F901-1E54-768B-0E48B147A2B3}"/>
          </ac:spMkLst>
        </pc:spChg>
      </pc:sldChg>
      <pc:sldChg chg="addSp delSp modSp mod">
        <pc:chgData name="Prathiksha Vasudevan" userId="5ae03805c2c584a6" providerId="LiveId" clId="{BA967BB9-894D-4965-A654-BCB94421372A}" dt="2025-10-16T05:33:25.943" v="526" actId="14100"/>
        <pc:sldMkLst>
          <pc:docMk/>
          <pc:sldMk cId="1440373607" sldId="278"/>
        </pc:sldMkLst>
        <pc:spChg chg="mod">
          <ac:chgData name="Prathiksha Vasudevan" userId="5ae03805c2c584a6" providerId="LiveId" clId="{BA967BB9-894D-4965-A654-BCB94421372A}" dt="2025-10-16T05:33:25.943" v="526" actId="14100"/>
          <ac:spMkLst>
            <pc:docMk/>
            <pc:sldMk cId="1440373607" sldId="278"/>
            <ac:spMk id="32" creationId="{15437644-6D3B-03F2-C2B2-C4FD43AC5A24}"/>
          </ac:spMkLst>
        </pc:spChg>
        <pc:picChg chg="add mod">
          <ac:chgData name="Prathiksha Vasudevan" userId="5ae03805c2c584a6" providerId="LiveId" clId="{BA967BB9-894D-4965-A654-BCB94421372A}" dt="2025-10-16T05:19:57.658" v="508" actId="1076"/>
          <ac:picMkLst>
            <pc:docMk/>
            <pc:sldMk cId="1440373607" sldId="278"/>
            <ac:picMk id="4" creationId="{8C1CD61F-5099-6274-DA3A-6CF700F447E4}"/>
          </ac:picMkLst>
        </pc:picChg>
      </pc:sldChg>
      <pc:sldChg chg="addSp delSp modSp mod">
        <pc:chgData name="Prathiksha Vasudevan" userId="5ae03805c2c584a6" providerId="LiveId" clId="{BA967BB9-894D-4965-A654-BCB94421372A}" dt="2025-10-28T14:19:09.855" v="566" actId="478"/>
        <pc:sldMkLst>
          <pc:docMk/>
          <pc:sldMk cId="3643657577" sldId="279"/>
        </pc:sldMkLst>
        <pc:spChg chg="del">
          <ac:chgData name="Prathiksha Vasudevan" userId="5ae03805c2c584a6" providerId="LiveId" clId="{BA967BB9-894D-4965-A654-BCB94421372A}" dt="2025-10-28T14:19:09.855" v="566" actId="478"/>
          <ac:spMkLst>
            <pc:docMk/>
            <pc:sldMk cId="3643657577" sldId="279"/>
            <ac:spMk id="2" creationId="{FC0F0C09-B0BA-AA7F-2EDC-0333F6246B99}"/>
          </ac:spMkLst>
        </pc:spChg>
        <pc:spChg chg="add mod">
          <ac:chgData name="Prathiksha Vasudevan" userId="5ae03805c2c584a6" providerId="LiveId" clId="{BA967BB9-894D-4965-A654-BCB94421372A}" dt="2025-10-16T04:05:18.521" v="60" actId="164"/>
          <ac:spMkLst>
            <pc:docMk/>
            <pc:sldMk cId="3643657577" sldId="279"/>
            <ac:spMk id="3" creationId="{012185CB-9797-2F9D-2801-A65F55D6FE24}"/>
          </ac:spMkLst>
        </pc:spChg>
        <pc:spChg chg="add mod">
          <ac:chgData name="Prathiksha Vasudevan" userId="5ae03805c2c584a6" providerId="LiveId" clId="{BA967BB9-894D-4965-A654-BCB94421372A}" dt="2025-10-16T04:05:18.521" v="60" actId="164"/>
          <ac:spMkLst>
            <pc:docMk/>
            <pc:sldMk cId="3643657577" sldId="279"/>
            <ac:spMk id="5" creationId="{C9203BFA-3531-99D1-2B8B-D25EA666F866}"/>
          </ac:spMkLst>
        </pc:spChg>
        <pc:spChg chg="add mod">
          <ac:chgData name="Prathiksha Vasudevan" userId="5ae03805c2c584a6" providerId="LiveId" clId="{BA967BB9-894D-4965-A654-BCB94421372A}" dt="2025-10-16T04:05:18.521" v="60" actId="164"/>
          <ac:spMkLst>
            <pc:docMk/>
            <pc:sldMk cId="3643657577" sldId="279"/>
            <ac:spMk id="7" creationId="{FD47EE40-6BA9-18E2-D180-628B9E471159}"/>
          </ac:spMkLst>
        </pc:spChg>
        <pc:spChg chg="del mod">
          <ac:chgData name="Prathiksha Vasudevan" userId="5ae03805c2c584a6" providerId="LiveId" clId="{BA967BB9-894D-4965-A654-BCB94421372A}" dt="2025-10-28T14:19:07.415" v="565" actId="478"/>
          <ac:spMkLst>
            <pc:docMk/>
            <pc:sldMk cId="3643657577" sldId="279"/>
            <ac:spMk id="10" creationId="{34F4E78E-CD71-A2CF-33E3-4A95EB0BE264}"/>
          </ac:spMkLst>
        </pc:spChg>
        <pc:spChg chg="mod">
          <ac:chgData name="Prathiksha Vasudevan" userId="5ae03805c2c584a6" providerId="LiveId" clId="{BA967BB9-894D-4965-A654-BCB94421372A}" dt="2025-10-16T04:07:15.224" v="90" actId="1076"/>
          <ac:spMkLst>
            <pc:docMk/>
            <pc:sldMk cId="3643657577" sldId="279"/>
            <ac:spMk id="12" creationId="{46F8B267-08BE-6709-15DC-5511365AFB66}"/>
          </ac:spMkLst>
        </pc:spChg>
        <pc:spChg chg="mod">
          <ac:chgData name="Prathiksha Vasudevan" userId="5ae03805c2c584a6" providerId="LiveId" clId="{BA967BB9-894D-4965-A654-BCB94421372A}" dt="2025-10-16T04:05:22.110" v="61"/>
          <ac:spMkLst>
            <pc:docMk/>
            <pc:sldMk cId="3643657577" sldId="279"/>
            <ac:spMk id="13" creationId="{C3B964A7-718C-7DB4-97AF-FC4C653C9E21}"/>
          </ac:spMkLst>
        </pc:spChg>
        <pc:spChg chg="mod">
          <ac:chgData name="Prathiksha Vasudevan" userId="5ae03805c2c584a6" providerId="LiveId" clId="{BA967BB9-894D-4965-A654-BCB94421372A}" dt="2025-10-16T04:05:22.110" v="61"/>
          <ac:spMkLst>
            <pc:docMk/>
            <pc:sldMk cId="3643657577" sldId="279"/>
            <ac:spMk id="14" creationId="{912B3076-93D5-2D9C-9682-83E13CD2CA6C}"/>
          </ac:spMkLst>
        </pc:spChg>
        <pc:spChg chg="mod">
          <ac:chgData name="Prathiksha Vasudevan" userId="5ae03805c2c584a6" providerId="LiveId" clId="{BA967BB9-894D-4965-A654-BCB94421372A}" dt="2025-10-16T04:08:12.824" v="137" actId="20577"/>
          <ac:spMkLst>
            <pc:docMk/>
            <pc:sldMk cId="3643657577" sldId="279"/>
            <ac:spMk id="16" creationId="{AEEAC396-ED85-02A9-B5F6-CD2C144673F4}"/>
          </ac:spMkLst>
        </pc:spChg>
        <pc:spChg chg="mod">
          <ac:chgData name="Prathiksha Vasudevan" userId="5ae03805c2c584a6" providerId="LiveId" clId="{BA967BB9-894D-4965-A654-BCB94421372A}" dt="2025-10-16T04:07:22.577" v="91"/>
          <ac:spMkLst>
            <pc:docMk/>
            <pc:sldMk cId="3643657577" sldId="279"/>
            <ac:spMk id="17" creationId="{A2F9BE83-D188-C756-CD80-C1A7A008C178}"/>
          </ac:spMkLst>
        </pc:spChg>
        <pc:spChg chg="mod">
          <ac:chgData name="Prathiksha Vasudevan" userId="5ae03805c2c584a6" providerId="LiveId" clId="{BA967BB9-894D-4965-A654-BCB94421372A}" dt="2025-10-16T04:07:22.577" v="91"/>
          <ac:spMkLst>
            <pc:docMk/>
            <pc:sldMk cId="3643657577" sldId="279"/>
            <ac:spMk id="18" creationId="{324E5FD9-A54D-09DD-FDAF-7BE7CA37B3EA}"/>
          </ac:spMkLst>
        </pc:spChg>
        <pc:grpChg chg="add mod">
          <ac:chgData name="Prathiksha Vasudevan" userId="5ae03805c2c584a6" providerId="LiveId" clId="{BA967BB9-894D-4965-A654-BCB94421372A}" dt="2025-10-16T04:05:18.521" v="60" actId="164"/>
          <ac:grpSpMkLst>
            <pc:docMk/>
            <pc:sldMk cId="3643657577" sldId="279"/>
            <ac:grpSpMk id="9" creationId="{4E4CD2C9-CF6D-28D4-A721-04FEAB2F93DE}"/>
          </ac:grpSpMkLst>
        </pc:grpChg>
        <pc:grpChg chg="add mod">
          <ac:chgData name="Prathiksha Vasudevan" userId="5ae03805c2c584a6" providerId="LiveId" clId="{BA967BB9-894D-4965-A654-BCB94421372A}" dt="2025-10-16T04:06:06.610" v="66" actId="1076"/>
          <ac:grpSpMkLst>
            <pc:docMk/>
            <pc:sldMk cId="3643657577" sldId="279"/>
            <ac:grpSpMk id="11" creationId="{96A944FF-9696-CAFD-307B-37B6EA99B360}"/>
          </ac:grpSpMkLst>
        </pc:grpChg>
        <pc:grpChg chg="add mod">
          <ac:chgData name="Prathiksha Vasudevan" userId="5ae03805c2c584a6" providerId="LiveId" clId="{BA967BB9-894D-4965-A654-BCB94421372A}" dt="2025-10-16T04:07:29.756" v="92" actId="1076"/>
          <ac:grpSpMkLst>
            <pc:docMk/>
            <pc:sldMk cId="3643657577" sldId="279"/>
            <ac:grpSpMk id="15" creationId="{FEE9D5B3-4A14-72E0-D726-B10410C8830D}"/>
          </ac:grpSpMkLst>
        </pc:grpChg>
        <pc:picChg chg="mod">
          <ac:chgData name="Prathiksha Vasudevan" userId="5ae03805c2c584a6" providerId="LiveId" clId="{BA967BB9-894D-4965-A654-BCB94421372A}" dt="2025-10-16T04:05:43.506" v="63" actId="1076"/>
          <ac:picMkLst>
            <pc:docMk/>
            <pc:sldMk cId="3643657577" sldId="279"/>
            <ac:picMk id="4" creationId="{28F3F995-61F7-84D3-58E8-DE8AEB5C100E}"/>
          </ac:picMkLst>
        </pc:picChg>
      </pc:sldChg>
      <pc:sldChg chg="addSp modSp new mod">
        <pc:chgData name="Prathiksha Vasudevan" userId="5ae03805c2c584a6" providerId="LiveId" clId="{BA967BB9-894D-4965-A654-BCB94421372A}" dt="2025-10-16T05:35:00.875" v="527" actId="20577"/>
        <pc:sldMkLst>
          <pc:docMk/>
          <pc:sldMk cId="78772431" sldId="280"/>
        </pc:sldMkLst>
        <pc:spChg chg="add mod">
          <ac:chgData name="Prathiksha Vasudevan" userId="5ae03805c2c584a6" providerId="LiveId" clId="{BA967BB9-894D-4965-A654-BCB94421372A}" dt="2025-10-16T04:24:29.088" v="235" actId="2711"/>
          <ac:spMkLst>
            <pc:docMk/>
            <pc:sldMk cId="78772431" sldId="280"/>
            <ac:spMk id="2" creationId="{F9FC7644-C46E-D955-67FA-72D1F63BA005}"/>
          </ac:spMkLst>
        </pc:spChg>
        <pc:spChg chg="add mod">
          <ac:chgData name="Prathiksha Vasudevan" userId="5ae03805c2c584a6" providerId="LiveId" clId="{BA967BB9-894D-4965-A654-BCB94421372A}" dt="2025-10-16T05:35:00.875" v="527" actId="20577"/>
          <ac:spMkLst>
            <pc:docMk/>
            <pc:sldMk cId="78772431" sldId="280"/>
            <ac:spMk id="3" creationId="{E302B031-8058-EA8A-427B-5034AE30ED81}"/>
          </ac:spMkLst>
        </pc:spChg>
        <pc:spChg chg="add mod">
          <ac:chgData name="Prathiksha Vasudevan" userId="5ae03805c2c584a6" providerId="LiveId" clId="{BA967BB9-894D-4965-A654-BCB94421372A}" dt="2025-10-16T04:25:13.893" v="242" actId="14100"/>
          <ac:spMkLst>
            <pc:docMk/>
            <pc:sldMk cId="78772431" sldId="280"/>
            <ac:spMk id="5" creationId="{ED6ADD2F-024F-7B60-F4D6-EC85296BEE6E}"/>
          </ac:spMkLst>
        </pc:spChg>
        <pc:spChg chg="add mod">
          <ac:chgData name="Prathiksha Vasudevan" userId="5ae03805c2c584a6" providerId="LiveId" clId="{BA967BB9-894D-4965-A654-BCB94421372A}" dt="2025-10-16T04:18:05.091" v="204" actId="1076"/>
          <ac:spMkLst>
            <pc:docMk/>
            <pc:sldMk cId="78772431" sldId="280"/>
            <ac:spMk id="6" creationId="{2B59E7BC-81D2-B7C4-6514-6087512EF089}"/>
          </ac:spMkLst>
        </pc:spChg>
      </pc:sldChg>
      <pc:sldChg chg="new del">
        <pc:chgData name="Prathiksha Vasudevan" userId="5ae03805c2c584a6" providerId="LiveId" clId="{BA967BB9-894D-4965-A654-BCB94421372A}" dt="2025-10-16T04:11:59.978" v="143" actId="47"/>
        <pc:sldMkLst>
          <pc:docMk/>
          <pc:sldMk cId="2625980495" sldId="280"/>
        </pc:sldMkLst>
      </pc:sldChg>
      <pc:sldChg chg="new del">
        <pc:chgData name="Prathiksha Vasudevan" userId="5ae03805c2c584a6" providerId="LiveId" clId="{BA967BB9-894D-4965-A654-BCB94421372A}" dt="2025-10-15T18:04:50.407" v="1" actId="47"/>
        <pc:sldMkLst>
          <pc:docMk/>
          <pc:sldMk cId="4090333059"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9304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9288DA"/>
          </a:solidFill>
          <a:ln/>
        </p:spPr>
      </p:sp>
      <p:sp>
        <p:nvSpPr>
          <p:cNvPr id="3" name="Shape 1"/>
          <p:cNvSpPr/>
          <p:nvPr/>
        </p:nvSpPr>
        <p:spPr>
          <a:xfrm>
            <a:off x="0" y="0"/>
            <a:ext cx="14630400" cy="8229600"/>
          </a:xfrm>
          <a:prstGeom prst="rect">
            <a:avLst/>
          </a:prstGeom>
          <a:solidFill>
            <a:srgbClr val="FAFAF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15.xml"/><Relationship Id="rId5" Type="http://schemas.openxmlformats.org/officeDocument/2006/relationships/image" Target="../media/image24.jpg"/><Relationship Id="rId4" Type="http://schemas.openxmlformats.org/officeDocument/2006/relationships/image" Target="../media/image23.jpg"/></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30.jpg"/><Relationship Id="rId2" Type="http://schemas.openxmlformats.org/officeDocument/2006/relationships/image" Target="../media/image25.jpg"/><Relationship Id="rId1" Type="http://schemas.openxmlformats.org/officeDocument/2006/relationships/slideLayout" Target="../slideLayouts/slideLayout15.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5.xml"/><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35D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6035040" cy="8229600"/>
          </a:xfrm>
          <a:prstGeom prst="rect">
            <a:avLst/>
          </a:prstGeom>
        </p:spPr>
      </p:pic>
      <p:sp>
        <p:nvSpPr>
          <p:cNvPr id="3" name="Text 0"/>
          <p:cNvSpPr/>
          <p:nvPr/>
        </p:nvSpPr>
        <p:spPr>
          <a:xfrm>
            <a:off x="6280190" y="2295882"/>
            <a:ext cx="7556421" cy="2934653"/>
          </a:xfrm>
          <a:prstGeom prst="rect">
            <a:avLst/>
          </a:prstGeom>
          <a:noFill/>
          <a:ln/>
        </p:spPr>
        <p:txBody>
          <a:bodyPr wrap="square" lIns="0" tIns="0" rIns="0" bIns="0" rtlCol="0" anchor="t"/>
          <a:lstStyle/>
          <a:p>
            <a:pPr marL="0" indent="0" algn="l">
              <a:lnSpc>
                <a:spcPts val="7700"/>
              </a:lnSpc>
              <a:buNone/>
            </a:pPr>
            <a:r>
              <a:rPr lang="en-US" sz="6150" b="1" dirty="0">
                <a:solidFill>
                  <a:srgbClr val="231971"/>
                </a:solidFill>
                <a:latin typeface="Inter Bold" pitchFamily="34" charset="0"/>
                <a:ea typeface="Inter Bold" pitchFamily="34" charset="-122"/>
                <a:cs typeface="Inter Bold" pitchFamily="34" charset="-120"/>
              </a:rPr>
              <a:t>SpendSmart – Personal Finance &amp; Expense Tracker</a:t>
            </a:r>
            <a:endParaRPr lang="en-US" sz="6150" dirty="0"/>
          </a:p>
        </p:txBody>
      </p:sp>
      <p:sp>
        <p:nvSpPr>
          <p:cNvPr id="4" name="Text 1"/>
          <p:cNvSpPr/>
          <p:nvPr/>
        </p:nvSpPr>
        <p:spPr>
          <a:xfrm>
            <a:off x="6280190" y="5570696"/>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Smartly manage your expenses, effortlessly.</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6519" y="573405"/>
            <a:ext cx="2673548" cy="324445"/>
          </a:xfrm>
          <a:prstGeom prst="rect">
            <a:avLst/>
          </a:prstGeom>
          <a:noFill/>
          <a:ln/>
        </p:spPr>
        <p:txBody>
          <a:bodyPr wrap="none" lIns="0" tIns="0" rIns="0" bIns="0" rtlCol="0" anchor="t"/>
          <a:lstStyle/>
          <a:p>
            <a:pPr marL="0" indent="0" algn="l">
              <a:lnSpc>
                <a:spcPts val="2550"/>
              </a:lnSpc>
              <a:buNone/>
            </a:pPr>
            <a:r>
              <a:rPr lang="en-US" sz="2000" b="1" dirty="0">
                <a:solidFill>
                  <a:srgbClr val="231971"/>
                </a:solidFill>
                <a:latin typeface="Inter Bold" pitchFamily="34" charset="0"/>
                <a:ea typeface="Inter Bold" pitchFamily="34" charset="-122"/>
                <a:cs typeface="Inter Bold" pitchFamily="34" charset="-120"/>
              </a:rPr>
              <a:t>PROJECT OVERVIEW</a:t>
            </a:r>
            <a:endParaRPr lang="en-US" sz="2000" dirty="0"/>
          </a:p>
        </p:txBody>
      </p:sp>
      <p:sp>
        <p:nvSpPr>
          <p:cNvPr id="3" name="Text 1"/>
          <p:cNvSpPr/>
          <p:nvPr/>
        </p:nvSpPr>
        <p:spPr>
          <a:xfrm>
            <a:off x="726519" y="980837"/>
            <a:ext cx="9483209" cy="518874"/>
          </a:xfrm>
          <a:prstGeom prst="rect">
            <a:avLst/>
          </a:prstGeom>
          <a:noFill/>
          <a:ln/>
        </p:spPr>
        <p:txBody>
          <a:bodyPr wrap="none" lIns="0" tIns="0" rIns="0" bIns="0" rtlCol="0" anchor="t"/>
          <a:lstStyle/>
          <a:p>
            <a:pPr marL="0" indent="0" algn="l">
              <a:lnSpc>
                <a:spcPts val="4050"/>
              </a:lnSpc>
              <a:buNone/>
            </a:pPr>
            <a:r>
              <a:rPr lang="en-US" sz="3250" b="1" dirty="0">
                <a:solidFill>
                  <a:srgbClr val="231971"/>
                </a:solidFill>
                <a:latin typeface="Inter Bold" pitchFamily="34" charset="0"/>
                <a:ea typeface="Inter Bold" pitchFamily="34" charset="-122"/>
                <a:cs typeface="Inter Bold" pitchFamily="34" charset="-120"/>
              </a:rPr>
              <a:t>Revolutionising Personal Finance Management</a:t>
            </a:r>
            <a:endParaRPr lang="en-US" sz="3250" dirty="0"/>
          </a:p>
        </p:txBody>
      </p:sp>
      <p:sp>
        <p:nvSpPr>
          <p:cNvPr id="4" name="Shape 2"/>
          <p:cNvSpPr/>
          <p:nvPr/>
        </p:nvSpPr>
        <p:spPr>
          <a:xfrm>
            <a:off x="726519" y="1811060"/>
            <a:ext cx="6484858" cy="2788563"/>
          </a:xfrm>
          <a:prstGeom prst="roundRect">
            <a:avLst>
              <a:gd name="adj" fmla="val 3935"/>
            </a:avLst>
          </a:prstGeom>
          <a:solidFill>
            <a:srgbClr val="FAFAFA">
              <a:alpha val="95000"/>
            </a:srgbClr>
          </a:solidFill>
          <a:ln w="22860">
            <a:solidFill>
              <a:srgbClr val="D4CECE"/>
            </a:solidFill>
            <a:prstDash val="solid"/>
          </a:ln>
          <a:effectLst>
            <a:outerShdw blurRad="311150" algn="bl" rotWithShape="0">
              <a:srgbClr val="333333">
                <a:alpha val="10000"/>
              </a:srgbClr>
            </a:outerShdw>
          </a:effectLst>
        </p:spPr>
      </p:sp>
      <p:sp>
        <p:nvSpPr>
          <p:cNvPr id="5" name="Shape 3"/>
          <p:cNvSpPr/>
          <p:nvPr/>
        </p:nvSpPr>
        <p:spPr>
          <a:xfrm>
            <a:off x="703659" y="1811060"/>
            <a:ext cx="91440" cy="2788563"/>
          </a:xfrm>
          <a:prstGeom prst="roundRect">
            <a:avLst>
              <a:gd name="adj" fmla="val 204336"/>
            </a:avLst>
          </a:prstGeom>
          <a:solidFill>
            <a:srgbClr val="5E4CE6"/>
          </a:solidFill>
          <a:ln/>
        </p:spPr>
      </p:sp>
      <p:sp>
        <p:nvSpPr>
          <p:cNvPr id="6" name="Text 4"/>
          <p:cNvSpPr/>
          <p:nvPr/>
        </p:nvSpPr>
        <p:spPr>
          <a:xfrm>
            <a:off x="1025485" y="2041446"/>
            <a:ext cx="2988350" cy="324445"/>
          </a:xfrm>
          <a:prstGeom prst="rect">
            <a:avLst/>
          </a:prstGeom>
          <a:noFill/>
          <a:ln/>
        </p:spPr>
        <p:txBody>
          <a:bodyPr wrap="none" lIns="0" tIns="0" rIns="0" bIns="0" rtlCol="0" anchor="t"/>
          <a:lstStyle/>
          <a:p>
            <a:pPr marL="0" indent="0" algn="l">
              <a:lnSpc>
                <a:spcPts val="2550"/>
              </a:lnSpc>
              <a:buNone/>
            </a:pPr>
            <a:r>
              <a:rPr lang="en-US" sz="2000" b="1" dirty="0">
                <a:solidFill>
                  <a:srgbClr val="2A2742"/>
                </a:solidFill>
                <a:latin typeface="Inter Bold" pitchFamily="34" charset="0"/>
                <a:ea typeface="Inter Bold" pitchFamily="34" charset="-122"/>
                <a:cs typeface="Inter Bold" pitchFamily="34" charset="-120"/>
              </a:rPr>
              <a:t>The SpendSmart Vision</a:t>
            </a:r>
            <a:endParaRPr lang="en-US" sz="2000" dirty="0"/>
          </a:p>
        </p:txBody>
      </p:sp>
      <p:sp>
        <p:nvSpPr>
          <p:cNvPr id="7" name="Text 5"/>
          <p:cNvSpPr/>
          <p:nvPr/>
        </p:nvSpPr>
        <p:spPr>
          <a:xfrm>
            <a:off x="1025485" y="2490430"/>
            <a:ext cx="5955506" cy="1660922"/>
          </a:xfrm>
          <a:prstGeom prst="rect">
            <a:avLst/>
          </a:prstGeom>
          <a:noFill/>
          <a:ln/>
        </p:spPr>
        <p:txBody>
          <a:bodyPr wrap="square" lIns="0" tIns="0" rIns="0" bIns="0" rtlCol="0" anchor="t"/>
          <a:lstStyle/>
          <a:p>
            <a:pPr marL="0" indent="0" algn="l">
              <a:lnSpc>
                <a:spcPts val="2600"/>
              </a:lnSpc>
              <a:buNone/>
            </a:pPr>
            <a:r>
              <a:rPr lang="en-US" sz="1600" dirty="0">
                <a:solidFill>
                  <a:srgbClr val="2A2742"/>
                </a:solidFill>
                <a:latin typeface="Inter" pitchFamily="34" charset="0"/>
                <a:ea typeface="Inter" pitchFamily="34" charset="-122"/>
                <a:cs typeface="Inter" pitchFamily="34" charset="-120"/>
              </a:rPr>
              <a:t>SpendSmart was designed to bridge the gap between complex financial tools and daily expense tracking. Our goal was to create an intuitive, AI-powered assistant that makes managing money simple and insightful for the everyday user.</a:t>
            </a:r>
            <a:endParaRPr lang="en-US" sz="1600" dirty="0"/>
          </a:p>
        </p:txBody>
      </p:sp>
      <p:sp>
        <p:nvSpPr>
          <p:cNvPr id="8" name="Shape 6"/>
          <p:cNvSpPr/>
          <p:nvPr/>
        </p:nvSpPr>
        <p:spPr>
          <a:xfrm>
            <a:off x="7418903" y="1811060"/>
            <a:ext cx="6484977" cy="2788563"/>
          </a:xfrm>
          <a:prstGeom prst="roundRect">
            <a:avLst>
              <a:gd name="adj" fmla="val 3935"/>
            </a:avLst>
          </a:prstGeom>
          <a:solidFill>
            <a:srgbClr val="FAFAFA">
              <a:alpha val="95000"/>
            </a:srgbClr>
          </a:solidFill>
          <a:ln w="22860">
            <a:solidFill>
              <a:srgbClr val="D4CECE"/>
            </a:solidFill>
            <a:prstDash val="solid"/>
          </a:ln>
          <a:effectLst>
            <a:outerShdw blurRad="311150" algn="bl" rotWithShape="0">
              <a:srgbClr val="333333">
                <a:alpha val="10000"/>
              </a:srgbClr>
            </a:outerShdw>
          </a:effectLst>
        </p:spPr>
      </p:sp>
      <p:sp>
        <p:nvSpPr>
          <p:cNvPr id="9" name="Shape 7"/>
          <p:cNvSpPr/>
          <p:nvPr/>
        </p:nvSpPr>
        <p:spPr>
          <a:xfrm>
            <a:off x="7396043" y="1811060"/>
            <a:ext cx="91440" cy="2788563"/>
          </a:xfrm>
          <a:prstGeom prst="roundRect">
            <a:avLst>
              <a:gd name="adj" fmla="val 204336"/>
            </a:avLst>
          </a:prstGeom>
          <a:solidFill>
            <a:srgbClr val="5E4CE6"/>
          </a:solidFill>
          <a:ln/>
        </p:spPr>
      </p:sp>
      <p:sp>
        <p:nvSpPr>
          <p:cNvPr id="10" name="Text 8"/>
          <p:cNvSpPr/>
          <p:nvPr/>
        </p:nvSpPr>
        <p:spPr>
          <a:xfrm>
            <a:off x="7717869" y="2041446"/>
            <a:ext cx="2594967" cy="324445"/>
          </a:xfrm>
          <a:prstGeom prst="rect">
            <a:avLst/>
          </a:prstGeom>
          <a:noFill/>
          <a:ln/>
        </p:spPr>
        <p:txBody>
          <a:bodyPr wrap="none" lIns="0" tIns="0" rIns="0" bIns="0" rtlCol="0" anchor="t"/>
          <a:lstStyle/>
          <a:p>
            <a:pPr marL="0" indent="0" algn="l">
              <a:lnSpc>
                <a:spcPts val="2550"/>
              </a:lnSpc>
              <a:buNone/>
            </a:pPr>
            <a:r>
              <a:rPr lang="en-US" sz="2000" b="1" dirty="0">
                <a:solidFill>
                  <a:srgbClr val="2A2742"/>
                </a:solidFill>
                <a:latin typeface="Inter Bold" pitchFamily="34" charset="0"/>
                <a:ea typeface="Inter Bold" pitchFamily="34" charset="-122"/>
                <a:cs typeface="Inter Bold" pitchFamily="34" charset="-120"/>
              </a:rPr>
              <a:t>Key Project Goals</a:t>
            </a:r>
            <a:endParaRPr lang="en-US" sz="2000" dirty="0"/>
          </a:p>
        </p:txBody>
      </p:sp>
      <p:sp>
        <p:nvSpPr>
          <p:cNvPr id="11" name="Text 9"/>
          <p:cNvSpPr/>
          <p:nvPr/>
        </p:nvSpPr>
        <p:spPr>
          <a:xfrm>
            <a:off x="7717869" y="2490430"/>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Enhance user awareness of spending habits.</a:t>
            </a:r>
            <a:endParaRPr lang="en-US" sz="1600" dirty="0"/>
          </a:p>
        </p:txBody>
      </p:sp>
      <p:sp>
        <p:nvSpPr>
          <p:cNvPr id="12" name="Text 10"/>
          <p:cNvSpPr/>
          <p:nvPr/>
        </p:nvSpPr>
        <p:spPr>
          <a:xfrm>
            <a:off x="7717869" y="2895243"/>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Simplify the expense logging process to seconds.</a:t>
            </a:r>
            <a:endParaRPr lang="en-US" sz="1600" dirty="0"/>
          </a:p>
        </p:txBody>
      </p:sp>
      <p:sp>
        <p:nvSpPr>
          <p:cNvPr id="13" name="Text 11"/>
          <p:cNvSpPr/>
          <p:nvPr/>
        </p:nvSpPr>
        <p:spPr>
          <a:xfrm>
            <a:off x="7717869" y="3300055"/>
            <a:ext cx="5955625" cy="664369"/>
          </a:xfrm>
          <a:prstGeom prst="rect">
            <a:avLst/>
          </a:prstGeom>
          <a:noFill/>
          <a:ln/>
        </p:spPr>
        <p:txBody>
          <a:bodyPr wrap="squar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Provide actionable insights and savings recommendations.</a:t>
            </a:r>
            <a:endParaRPr lang="en-US" sz="1600" dirty="0"/>
          </a:p>
        </p:txBody>
      </p:sp>
      <p:sp>
        <p:nvSpPr>
          <p:cNvPr id="14" name="Text 12"/>
          <p:cNvSpPr/>
          <p:nvPr/>
        </p:nvSpPr>
        <p:spPr>
          <a:xfrm>
            <a:off x="7717869" y="4037052"/>
            <a:ext cx="5955625" cy="332184"/>
          </a:xfrm>
          <a:prstGeom prst="rect">
            <a:avLst/>
          </a:prstGeom>
          <a:noFill/>
          <a:ln/>
        </p:spPr>
        <p:txBody>
          <a:bodyPr wrap="none" lIns="0" tIns="0" rIns="0" bIns="0" rtlCol="0" anchor="t"/>
          <a:lstStyle/>
          <a:p>
            <a:pPr marL="342900" indent="-342900" algn="l">
              <a:lnSpc>
                <a:spcPts val="2600"/>
              </a:lnSpc>
              <a:buSzPct val="100000"/>
              <a:buChar char="•"/>
            </a:pPr>
            <a:r>
              <a:rPr lang="en-US" sz="1600" dirty="0">
                <a:solidFill>
                  <a:srgbClr val="2A2742"/>
                </a:solidFill>
                <a:latin typeface="Inter" pitchFamily="34" charset="0"/>
                <a:ea typeface="Inter" pitchFamily="34" charset="-122"/>
                <a:cs typeface="Inter" pitchFamily="34" charset="-120"/>
              </a:rPr>
              <a:t>Create a clean, non-intimidating UX.</a:t>
            </a:r>
            <a:endParaRPr lang="en-US" sz="1600" dirty="0"/>
          </a:p>
        </p:txBody>
      </p:sp>
      <p:pic>
        <p:nvPicPr>
          <p:cNvPr id="15" name="Image 0" descr="preencoded.png"/>
          <p:cNvPicPr>
            <a:picLocks noChangeAspect="1"/>
          </p:cNvPicPr>
          <p:nvPr/>
        </p:nvPicPr>
        <p:blipFill>
          <a:blip r:embed="rId3"/>
          <a:stretch>
            <a:fillRect/>
          </a:stretch>
        </p:blipFill>
        <p:spPr>
          <a:xfrm>
            <a:off x="3495556" y="4967407"/>
            <a:ext cx="3736657" cy="2491145"/>
          </a:xfrm>
          <a:prstGeom prst="rect">
            <a:avLst/>
          </a:prstGeom>
        </p:spPr>
      </p:pic>
      <p:pic>
        <p:nvPicPr>
          <p:cNvPr id="16" name="Image 1" descr="preencoded.png"/>
          <p:cNvPicPr>
            <a:picLocks noChangeAspect="1"/>
          </p:cNvPicPr>
          <p:nvPr/>
        </p:nvPicPr>
        <p:blipFill>
          <a:blip r:embed="rId4"/>
          <a:stretch>
            <a:fillRect/>
          </a:stretch>
        </p:blipFill>
        <p:spPr>
          <a:xfrm>
            <a:off x="7398187" y="4967407"/>
            <a:ext cx="3736657" cy="2491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2114" y="567333"/>
            <a:ext cx="9674304" cy="515779"/>
          </a:xfrm>
          <a:prstGeom prst="rect">
            <a:avLst/>
          </a:prstGeom>
          <a:noFill/>
          <a:ln/>
        </p:spPr>
        <p:txBody>
          <a:bodyPr wrap="none" lIns="0" tIns="0" rIns="0" bIns="0" rtlCol="0" anchor="t"/>
          <a:lstStyle/>
          <a:p>
            <a:pPr marL="0" indent="0" algn="l">
              <a:lnSpc>
                <a:spcPts val="4050"/>
              </a:lnSpc>
              <a:buNone/>
            </a:pPr>
            <a:r>
              <a:rPr lang="en-US" sz="3200" b="1" dirty="0">
                <a:solidFill>
                  <a:srgbClr val="231971"/>
                </a:solidFill>
                <a:latin typeface="Inter Bold" pitchFamily="34" charset="0"/>
                <a:ea typeface="Inter Bold" pitchFamily="34" charset="-122"/>
                <a:cs typeface="Inter Bold" pitchFamily="34" charset="-120"/>
              </a:rPr>
              <a:t>Problem and Solution: From Confusion to Clarity</a:t>
            </a:r>
            <a:endParaRPr lang="en-US" sz="3200" dirty="0"/>
          </a:p>
        </p:txBody>
      </p:sp>
      <p:sp>
        <p:nvSpPr>
          <p:cNvPr id="3" name="Text 1"/>
          <p:cNvSpPr/>
          <p:nvPr/>
        </p:nvSpPr>
        <p:spPr>
          <a:xfrm>
            <a:off x="722114" y="1598771"/>
            <a:ext cx="4817269" cy="386715"/>
          </a:xfrm>
          <a:prstGeom prst="rect">
            <a:avLst/>
          </a:prstGeom>
          <a:noFill/>
          <a:ln/>
        </p:spPr>
        <p:txBody>
          <a:bodyPr wrap="none" lIns="0" tIns="0" rIns="0" bIns="0" rtlCol="0" anchor="t"/>
          <a:lstStyle/>
          <a:p>
            <a:pPr marL="0" indent="0" algn="l">
              <a:lnSpc>
                <a:spcPts val="3000"/>
              </a:lnSpc>
              <a:buNone/>
            </a:pPr>
            <a:r>
              <a:rPr lang="en-US" sz="2400" b="1" dirty="0">
                <a:solidFill>
                  <a:srgbClr val="231971"/>
                </a:solidFill>
                <a:latin typeface="Inter Bold" pitchFamily="34" charset="0"/>
                <a:ea typeface="Inter Bold" pitchFamily="34" charset="-122"/>
                <a:cs typeface="Inter Bold" pitchFamily="34" charset="-120"/>
              </a:rPr>
              <a:t>The Challenge: User Pain Points</a:t>
            </a:r>
            <a:endParaRPr lang="en-US" sz="2400" dirty="0"/>
          </a:p>
        </p:txBody>
      </p:sp>
      <p:pic>
        <p:nvPicPr>
          <p:cNvPr id="4" name="Image 0" descr="preencoded.png"/>
          <p:cNvPicPr>
            <a:picLocks noChangeAspect="1"/>
          </p:cNvPicPr>
          <p:nvPr/>
        </p:nvPicPr>
        <p:blipFill>
          <a:blip r:embed="rId3"/>
          <a:stretch>
            <a:fillRect/>
          </a:stretch>
        </p:blipFill>
        <p:spPr>
          <a:xfrm>
            <a:off x="799386" y="2185154"/>
            <a:ext cx="309443" cy="386834"/>
          </a:xfrm>
          <a:prstGeom prst="rect">
            <a:avLst/>
          </a:prstGeom>
        </p:spPr>
      </p:pic>
      <p:sp>
        <p:nvSpPr>
          <p:cNvPr id="5" name="Text 2"/>
          <p:cNvSpPr/>
          <p:nvPr/>
        </p:nvSpPr>
        <p:spPr>
          <a:xfrm>
            <a:off x="1392436" y="2217539"/>
            <a:ext cx="3390305"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Manual &amp; Tedious Tracking</a:t>
            </a:r>
            <a:endParaRPr lang="en-US" sz="2000" dirty="0"/>
          </a:p>
        </p:txBody>
      </p:sp>
      <p:sp>
        <p:nvSpPr>
          <p:cNvPr id="6" name="Text 3"/>
          <p:cNvSpPr/>
          <p:nvPr/>
        </p:nvSpPr>
        <p:spPr>
          <a:xfrm>
            <a:off x="1392436" y="2746058"/>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Users rely on spreadsheets or manual entries, making tracking inconsistent and frustrating.</a:t>
            </a:r>
            <a:endParaRPr lang="en-US" sz="1600" dirty="0"/>
          </a:p>
        </p:txBody>
      </p:sp>
      <p:pic>
        <p:nvPicPr>
          <p:cNvPr id="7" name="Image 1" descr="preencoded.png"/>
          <p:cNvPicPr>
            <a:picLocks noChangeAspect="1"/>
          </p:cNvPicPr>
          <p:nvPr/>
        </p:nvPicPr>
        <p:blipFill>
          <a:blip r:embed="rId3"/>
          <a:stretch>
            <a:fillRect/>
          </a:stretch>
        </p:blipFill>
        <p:spPr>
          <a:xfrm>
            <a:off x="799386" y="3786307"/>
            <a:ext cx="309443" cy="386834"/>
          </a:xfrm>
          <a:prstGeom prst="rect">
            <a:avLst/>
          </a:prstGeom>
        </p:spPr>
      </p:pic>
      <p:sp>
        <p:nvSpPr>
          <p:cNvPr id="8" name="Text 4"/>
          <p:cNvSpPr/>
          <p:nvPr/>
        </p:nvSpPr>
        <p:spPr>
          <a:xfrm>
            <a:off x="1392436" y="3818692"/>
            <a:ext cx="2578894"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Lack of Insight</a:t>
            </a:r>
            <a:endParaRPr lang="en-US" sz="2000" dirty="0"/>
          </a:p>
        </p:txBody>
      </p:sp>
      <p:sp>
        <p:nvSpPr>
          <p:cNvPr id="9" name="Text 5"/>
          <p:cNvSpPr/>
          <p:nvPr/>
        </p:nvSpPr>
        <p:spPr>
          <a:xfrm>
            <a:off x="1392436" y="4347210"/>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Existing apps often show data but fail to translate it into actionable financial advice or budgeting tips.</a:t>
            </a:r>
            <a:endParaRPr lang="en-US" sz="1600" dirty="0"/>
          </a:p>
        </p:txBody>
      </p:sp>
      <p:pic>
        <p:nvPicPr>
          <p:cNvPr id="10" name="Image 2" descr="preencoded.png"/>
          <p:cNvPicPr>
            <a:picLocks noChangeAspect="1"/>
          </p:cNvPicPr>
          <p:nvPr/>
        </p:nvPicPr>
        <p:blipFill>
          <a:blip r:embed="rId3"/>
          <a:stretch>
            <a:fillRect/>
          </a:stretch>
        </p:blipFill>
        <p:spPr>
          <a:xfrm>
            <a:off x="799386" y="5387459"/>
            <a:ext cx="309443" cy="386834"/>
          </a:xfrm>
          <a:prstGeom prst="rect">
            <a:avLst/>
          </a:prstGeom>
        </p:spPr>
      </p:pic>
      <p:sp>
        <p:nvSpPr>
          <p:cNvPr id="11" name="Text 6"/>
          <p:cNvSpPr/>
          <p:nvPr/>
        </p:nvSpPr>
        <p:spPr>
          <a:xfrm>
            <a:off x="1392436" y="5419844"/>
            <a:ext cx="2578894"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Budget Overruns</a:t>
            </a:r>
            <a:endParaRPr lang="en-US" sz="2000" dirty="0"/>
          </a:p>
        </p:txBody>
      </p:sp>
      <p:sp>
        <p:nvSpPr>
          <p:cNvPr id="12" name="Text 7"/>
          <p:cNvSpPr/>
          <p:nvPr/>
        </p:nvSpPr>
        <p:spPr>
          <a:xfrm>
            <a:off x="1392436" y="5948363"/>
            <a:ext cx="5671066"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Poor awareness of real-time spending leads to frequently exceeding budget limits and financial stress.</a:t>
            </a:r>
            <a:endParaRPr lang="en-US" sz="1600" dirty="0"/>
          </a:p>
        </p:txBody>
      </p:sp>
      <p:sp>
        <p:nvSpPr>
          <p:cNvPr id="13" name="Text 8"/>
          <p:cNvSpPr/>
          <p:nvPr/>
        </p:nvSpPr>
        <p:spPr>
          <a:xfrm>
            <a:off x="7574518" y="1598771"/>
            <a:ext cx="5797629" cy="386715"/>
          </a:xfrm>
          <a:prstGeom prst="rect">
            <a:avLst/>
          </a:prstGeom>
          <a:noFill/>
          <a:ln/>
        </p:spPr>
        <p:txBody>
          <a:bodyPr wrap="none" lIns="0" tIns="0" rIns="0" bIns="0" rtlCol="0" anchor="t"/>
          <a:lstStyle/>
          <a:p>
            <a:pPr marL="0" indent="0" algn="l">
              <a:lnSpc>
                <a:spcPts val="3000"/>
              </a:lnSpc>
              <a:buNone/>
            </a:pPr>
            <a:r>
              <a:rPr lang="en-US" sz="2400" b="1" dirty="0">
                <a:solidFill>
                  <a:srgbClr val="231971"/>
                </a:solidFill>
                <a:latin typeface="Inter Bold" pitchFamily="34" charset="0"/>
                <a:ea typeface="Inter Bold" pitchFamily="34" charset="-122"/>
                <a:cs typeface="Inter Bold" pitchFamily="34" charset="-120"/>
              </a:rPr>
              <a:t>The Solution: SpendSmart's Approach</a:t>
            </a:r>
            <a:endParaRPr lang="en-US" sz="2400" dirty="0"/>
          </a:p>
        </p:txBody>
      </p:sp>
      <p:sp>
        <p:nvSpPr>
          <p:cNvPr id="14" name="Shape 9"/>
          <p:cNvSpPr/>
          <p:nvPr/>
        </p:nvSpPr>
        <p:spPr>
          <a:xfrm>
            <a:off x="7574518" y="2217539"/>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15" name="Text 10"/>
          <p:cNvSpPr/>
          <p:nvPr/>
        </p:nvSpPr>
        <p:spPr>
          <a:xfrm>
            <a:off x="7780734" y="2423755"/>
            <a:ext cx="3141345"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Effortless Categorisation</a:t>
            </a:r>
            <a:endParaRPr lang="en-US" sz="2000" dirty="0"/>
          </a:p>
        </p:txBody>
      </p:sp>
      <p:sp>
        <p:nvSpPr>
          <p:cNvPr id="16" name="Text 11"/>
          <p:cNvSpPr/>
          <p:nvPr/>
        </p:nvSpPr>
        <p:spPr>
          <a:xfrm>
            <a:off x="7780734" y="2952274"/>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Quick entry templates and intelligent categorization powered by machine learning for simple tracking.</a:t>
            </a:r>
            <a:endParaRPr lang="en-US" sz="1600" dirty="0"/>
          </a:p>
        </p:txBody>
      </p:sp>
      <p:sp>
        <p:nvSpPr>
          <p:cNvPr id="17" name="Shape 12"/>
          <p:cNvSpPr/>
          <p:nvPr/>
        </p:nvSpPr>
        <p:spPr>
          <a:xfrm>
            <a:off x="7574518" y="4024789"/>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18" name="Text 13"/>
          <p:cNvSpPr/>
          <p:nvPr/>
        </p:nvSpPr>
        <p:spPr>
          <a:xfrm>
            <a:off x="7780734" y="4231005"/>
            <a:ext cx="2684859"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Visual Data Analytics</a:t>
            </a:r>
            <a:endParaRPr lang="en-US" sz="2000" dirty="0"/>
          </a:p>
        </p:txBody>
      </p:sp>
      <p:sp>
        <p:nvSpPr>
          <p:cNvPr id="19" name="Text 14"/>
          <p:cNvSpPr/>
          <p:nvPr/>
        </p:nvSpPr>
        <p:spPr>
          <a:xfrm>
            <a:off x="7780734" y="4759523"/>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Intuitive charts and clear visualisations that immediately highlight spending trends and anomalies.</a:t>
            </a:r>
            <a:endParaRPr lang="en-US" sz="1600" dirty="0"/>
          </a:p>
        </p:txBody>
      </p:sp>
      <p:sp>
        <p:nvSpPr>
          <p:cNvPr id="20" name="Shape 15"/>
          <p:cNvSpPr/>
          <p:nvPr/>
        </p:nvSpPr>
        <p:spPr>
          <a:xfrm>
            <a:off x="7574518" y="5832038"/>
            <a:ext cx="6341388" cy="1601033"/>
          </a:xfrm>
          <a:prstGeom prst="roundRect">
            <a:avLst>
              <a:gd name="adj" fmla="val 11598"/>
            </a:avLst>
          </a:prstGeom>
          <a:solidFill>
            <a:srgbClr val="FAFAFA"/>
          </a:solidFill>
          <a:ln/>
          <a:effectLst>
            <a:outerShdw blurRad="308610" algn="bl" rotWithShape="0">
              <a:srgbClr val="333333">
                <a:alpha val="10000"/>
              </a:srgbClr>
            </a:outerShdw>
          </a:effectLst>
        </p:spPr>
      </p:sp>
      <p:sp>
        <p:nvSpPr>
          <p:cNvPr id="21" name="Text 16"/>
          <p:cNvSpPr/>
          <p:nvPr/>
        </p:nvSpPr>
        <p:spPr>
          <a:xfrm>
            <a:off x="7780734" y="6038255"/>
            <a:ext cx="2607112" cy="322302"/>
          </a:xfrm>
          <a:prstGeom prst="rect">
            <a:avLst/>
          </a:prstGeom>
          <a:noFill/>
          <a:ln/>
        </p:spPr>
        <p:txBody>
          <a:bodyPr wrap="none" lIns="0" tIns="0" rIns="0" bIns="0" rtlCol="0" anchor="t"/>
          <a:lstStyle/>
          <a:p>
            <a:pPr marL="0" indent="0" algn="l">
              <a:lnSpc>
                <a:spcPts val="2500"/>
              </a:lnSpc>
              <a:buNone/>
            </a:pPr>
            <a:r>
              <a:rPr lang="en-US" sz="2000" b="1" dirty="0">
                <a:solidFill>
                  <a:srgbClr val="2A2742"/>
                </a:solidFill>
                <a:latin typeface="Inter Bold" pitchFamily="34" charset="0"/>
                <a:ea typeface="Inter Bold" pitchFamily="34" charset="-122"/>
                <a:cs typeface="Inter Bold" pitchFamily="34" charset="-120"/>
              </a:rPr>
              <a:t>Proactive Reminders</a:t>
            </a:r>
            <a:endParaRPr lang="en-US" sz="2000" dirty="0"/>
          </a:p>
        </p:txBody>
      </p:sp>
      <p:sp>
        <p:nvSpPr>
          <p:cNvPr id="22" name="Text 17"/>
          <p:cNvSpPr/>
          <p:nvPr/>
        </p:nvSpPr>
        <p:spPr>
          <a:xfrm>
            <a:off x="7780734" y="6566773"/>
            <a:ext cx="5928955" cy="660083"/>
          </a:xfrm>
          <a:prstGeom prst="rect">
            <a:avLst/>
          </a:prstGeom>
          <a:noFill/>
          <a:ln/>
        </p:spPr>
        <p:txBody>
          <a:bodyPr wrap="square" lIns="0" tIns="0" rIns="0" bIns="0" rtlCol="0" anchor="t"/>
          <a:lstStyle/>
          <a:p>
            <a:pPr marL="0" indent="0" algn="l">
              <a:lnSpc>
                <a:spcPts val="2550"/>
              </a:lnSpc>
              <a:buNone/>
            </a:pPr>
            <a:r>
              <a:rPr lang="en-US" sz="1600" dirty="0">
                <a:solidFill>
                  <a:srgbClr val="2A2742"/>
                </a:solidFill>
                <a:latin typeface="Inter" pitchFamily="34" charset="0"/>
                <a:ea typeface="Inter" pitchFamily="34" charset="-122"/>
                <a:cs typeface="Inter" pitchFamily="34" charset="-120"/>
              </a:rPr>
              <a:t>Real-time notifications and friendly reminders to keep users within their defined financial boundaries.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60690" y="770811"/>
            <a:ext cx="4347329" cy="543282"/>
          </a:xfrm>
          <a:prstGeom prst="rect">
            <a:avLst/>
          </a:prstGeom>
          <a:noFill/>
          <a:ln/>
        </p:spPr>
        <p:txBody>
          <a:bodyPr wrap="none" lIns="0" tIns="0" rIns="0" bIns="0" rtlCol="0" anchor="t"/>
          <a:lstStyle/>
          <a:p>
            <a:pPr marL="0" indent="0" algn="l">
              <a:lnSpc>
                <a:spcPts val="4250"/>
              </a:lnSpc>
              <a:buNone/>
            </a:pPr>
            <a:r>
              <a:rPr lang="en-US" sz="3400" b="1" dirty="0">
                <a:solidFill>
                  <a:srgbClr val="231971"/>
                </a:solidFill>
                <a:latin typeface="Inter Bold" pitchFamily="34" charset="0"/>
                <a:ea typeface="Inter Bold" pitchFamily="34" charset="-122"/>
                <a:cs typeface="Inter Bold" pitchFamily="34" charset="-120"/>
              </a:rPr>
              <a:t>Target Audience</a:t>
            </a:r>
            <a:endParaRPr lang="en-US" sz="3400" dirty="0"/>
          </a:p>
        </p:txBody>
      </p:sp>
      <p:sp>
        <p:nvSpPr>
          <p:cNvPr id="3" name="Shape 1"/>
          <p:cNvSpPr/>
          <p:nvPr/>
        </p:nvSpPr>
        <p:spPr>
          <a:xfrm>
            <a:off x="760690" y="1884521"/>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4" name="Shape 2"/>
          <p:cNvSpPr/>
          <p:nvPr/>
        </p:nvSpPr>
        <p:spPr>
          <a:xfrm>
            <a:off x="977979" y="2101810"/>
            <a:ext cx="651986" cy="651986"/>
          </a:xfrm>
          <a:prstGeom prst="roundRect">
            <a:avLst>
              <a:gd name="adj" fmla="val 14023439"/>
            </a:avLst>
          </a:prstGeom>
          <a:solidFill>
            <a:srgbClr val="5E4CE6"/>
          </a:solidFill>
          <a:ln/>
        </p:spPr>
      </p:sp>
      <p:pic>
        <p:nvPicPr>
          <p:cNvPr id="5" name="Image 0" descr="preencoded.png"/>
          <p:cNvPicPr>
            <a:picLocks noChangeAspect="1"/>
          </p:cNvPicPr>
          <p:nvPr/>
        </p:nvPicPr>
        <p:blipFill>
          <a:blip r:embed="rId3"/>
          <a:stretch>
            <a:fillRect/>
          </a:stretch>
        </p:blipFill>
        <p:spPr>
          <a:xfrm>
            <a:off x="1157288" y="2244447"/>
            <a:ext cx="293370" cy="366713"/>
          </a:xfrm>
          <a:prstGeom prst="rect">
            <a:avLst/>
          </a:prstGeom>
        </p:spPr>
      </p:pic>
      <p:sp>
        <p:nvSpPr>
          <p:cNvPr id="6" name="Text 3"/>
          <p:cNvSpPr/>
          <p:nvPr/>
        </p:nvSpPr>
        <p:spPr>
          <a:xfrm>
            <a:off x="977979" y="2971086"/>
            <a:ext cx="3795713"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Young Professionals </a:t>
            </a:r>
            <a:endParaRPr lang="en-US" sz="2100" dirty="0"/>
          </a:p>
        </p:txBody>
      </p:sp>
      <p:sp>
        <p:nvSpPr>
          <p:cNvPr id="7" name="Text 4"/>
          <p:cNvSpPr/>
          <p:nvPr/>
        </p:nvSpPr>
        <p:spPr>
          <a:xfrm>
            <a:off x="977979" y="3527941"/>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Establishing financial independence, managing debt, and starting to save seriously.</a:t>
            </a:r>
            <a:endParaRPr lang="en-US" sz="1700" dirty="0"/>
          </a:p>
        </p:txBody>
      </p:sp>
      <p:sp>
        <p:nvSpPr>
          <p:cNvPr id="8" name="Shape 5"/>
          <p:cNvSpPr/>
          <p:nvPr/>
        </p:nvSpPr>
        <p:spPr>
          <a:xfrm>
            <a:off x="760690" y="4658082"/>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9" name="Shape 6"/>
          <p:cNvSpPr/>
          <p:nvPr/>
        </p:nvSpPr>
        <p:spPr>
          <a:xfrm>
            <a:off x="977979" y="4875371"/>
            <a:ext cx="651986" cy="651986"/>
          </a:xfrm>
          <a:prstGeom prst="roundRect">
            <a:avLst>
              <a:gd name="adj" fmla="val 14023439"/>
            </a:avLst>
          </a:prstGeom>
          <a:solidFill>
            <a:srgbClr val="5E4CE6"/>
          </a:solidFill>
          <a:ln/>
        </p:spPr>
      </p:sp>
      <p:pic>
        <p:nvPicPr>
          <p:cNvPr id="10" name="Image 1" descr="preencoded.png"/>
          <p:cNvPicPr>
            <a:picLocks noChangeAspect="1"/>
          </p:cNvPicPr>
          <p:nvPr/>
        </p:nvPicPr>
        <p:blipFill>
          <a:blip r:embed="rId4"/>
          <a:stretch>
            <a:fillRect/>
          </a:stretch>
        </p:blipFill>
        <p:spPr>
          <a:xfrm>
            <a:off x="1157288" y="5018008"/>
            <a:ext cx="293370" cy="366713"/>
          </a:xfrm>
          <a:prstGeom prst="rect">
            <a:avLst/>
          </a:prstGeom>
        </p:spPr>
      </p:pic>
      <p:sp>
        <p:nvSpPr>
          <p:cNvPr id="11" name="Text 7"/>
          <p:cNvSpPr/>
          <p:nvPr/>
        </p:nvSpPr>
        <p:spPr>
          <a:xfrm>
            <a:off x="977979" y="5744647"/>
            <a:ext cx="2991207"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Families &amp; Households</a:t>
            </a:r>
            <a:endParaRPr lang="en-US" sz="2100" dirty="0"/>
          </a:p>
        </p:txBody>
      </p:sp>
      <p:sp>
        <p:nvSpPr>
          <p:cNvPr id="12" name="Text 8"/>
          <p:cNvSpPr/>
          <p:nvPr/>
        </p:nvSpPr>
        <p:spPr>
          <a:xfrm>
            <a:off x="977979" y="6301502"/>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Need to track shared expenses, manage varying income streams, and plan for future large purchases.</a:t>
            </a:r>
            <a:endParaRPr lang="en-US" sz="1700" dirty="0"/>
          </a:p>
        </p:txBody>
      </p:sp>
      <p:sp>
        <p:nvSpPr>
          <p:cNvPr id="13" name="Shape 9"/>
          <p:cNvSpPr/>
          <p:nvPr/>
        </p:nvSpPr>
        <p:spPr>
          <a:xfrm>
            <a:off x="7587972" y="1884521"/>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14" name="Shape 10"/>
          <p:cNvSpPr/>
          <p:nvPr/>
        </p:nvSpPr>
        <p:spPr>
          <a:xfrm>
            <a:off x="7805261" y="2101810"/>
            <a:ext cx="651986" cy="651986"/>
          </a:xfrm>
          <a:prstGeom prst="roundRect">
            <a:avLst>
              <a:gd name="adj" fmla="val 14023439"/>
            </a:avLst>
          </a:prstGeom>
          <a:solidFill>
            <a:srgbClr val="5E4CE6"/>
          </a:solidFill>
          <a:ln/>
        </p:spPr>
      </p:sp>
      <p:pic>
        <p:nvPicPr>
          <p:cNvPr id="15" name="Image 2" descr="preencoded.png"/>
          <p:cNvPicPr>
            <a:picLocks noChangeAspect="1"/>
          </p:cNvPicPr>
          <p:nvPr/>
        </p:nvPicPr>
        <p:blipFill>
          <a:blip r:embed="rId5"/>
          <a:stretch>
            <a:fillRect/>
          </a:stretch>
        </p:blipFill>
        <p:spPr>
          <a:xfrm>
            <a:off x="7984569" y="2244447"/>
            <a:ext cx="293370" cy="366713"/>
          </a:xfrm>
          <a:prstGeom prst="rect">
            <a:avLst/>
          </a:prstGeom>
        </p:spPr>
      </p:pic>
      <p:sp>
        <p:nvSpPr>
          <p:cNvPr id="16" name="Text 11"/>
          <p:cNvSpPr/>
          <p:nvPr/>
        </p:nvSpPr>
        <p:spPr>
          <a:xfrm>
            <a:off x="7805261" y="2971086"/>
            <a:ext cx="3911203"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Financially Minded Beginners</a:t>
            </a:r>
            <a:endParaRPr lang="en-US" sz="2100" dirty="0"/>
          </a:p>
        </p:txBody>
      </p:sp>
      <p:sp>
        <p:nvSpPr>
          <p:cNvPr id="17" name="Text 12"/>
          <p:cNvSpPr/>
          <p:nvPr/>
        </p:nvSpPr>
        <p:spPr>
          <a:xfrm>
            <a:off x="7805261" y="3527941"/>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Individuals new to budgeting who need guidance, education, and simple visual feedback.</a:t>
            </a:r>
            <a:endParaRPr lang="en-US" sz="1700" dirty="0"/>
          </a:p>
        </p:txBody>
      </p:sp>
      <p:sp>
        <p:nvSpPr>
          <p:cNvPr id="18" name="Shape 13"/>
          <p:cNvSpPr/>
          <p:nvPr/>
        </p:nvSpPr>
        <p:spPr>
          <a:xfrm>
            <a:off x="7587972" y="4658082"/>
            <a:ext cx="6289358" cy="2556272"/>
          </a:xfrm>
          <a:prstGeom prst="roundRect">
            <a:avLst>
              <a:gd name="adj" fmla="val 7653"/>
            </a:avLst>
          </a:prstGeom>
          <a:solidFill>
            <a:srgbClr val="FAFAFA"/>
          </a:solidFill>
          <a:ln/>
          <a:effectLst>
            <a:outerShdw blurRad="325120" algn="bl" rotWithShape="0">
              <a:srgbClr val="333333">
                <a:alpha val="10000"/>
              </a:srgbClr>
            </a:outerShdw>
          </a:effectLst>
        </p:spPr>
      </p:sp>
      <p:sp>
        <p:nvSpPr>
          <p:cNvPr id="19" name="Shape 14"/>
          <p:cNvSpPr/>
          <p:nvPr/>
        </p:nvSpPr>
        <p:spPr>
          <a:xfrm>
            <a:off x="7805261" y="4875371"/>
            <a:ext cx="651986" cy="651986"/>
          </a:xfrm>
          <a:prstGeom prst="roundRect">
            <a:avLst>
              <a:gd name="adj" fmla="val 14023439"/>
            </a:avLst>
          </a:prstGeom>
          <a:solidFill>
            <a:srgbClr val="5E4CE6"/>
          </a:solidFill>
          <a:ln/>
        </p:spPr>
      </p:sp>
      <p:pic>
        <p:nvPicPr>
          <p:cNvPr id="20" name="Image 3" descr="preencoded.png"/>
          <p:cNvPicPr>
            <a:picLocks noChangeAspect="1"/>
          </p:cNvPicPr>
          <p:nvPr/>
        </p:nvPicPr>
        <p:blipFill>
          <a:blip r:embed="rId6"/>
          <a:stretch>
            <a:fillRect/>
          </a:stretch>
        </p:blipFill>
        <p:spPr>
          <a:xfrm>
            <a:off x="7984569" y="5018008"/>
            <a:ext cx="293370" cy="366713"/>
          </a:xfrm>
          <a:prstGeom prst="rect">
            <a:avLst/>
          </a:prstGeom>
        </p:spPr>
      </p:pic>
      <p:sp>
        <p:nvSpPr>
          <p:cNvPr id="21" name="Text 15"/>
          <p:cNvSpPr/>
          <p:nvPr/>
        </p:nvSpPr>
        <p:spPr>
          <a:xfrm>
            <a:off x="7805261" y="5744647"/>
            <a:ext cx="2717006" cy="339566"/>
          </a:xfrm>
          <a:prstGeom prst="rect">
            <a:avLst/>
          </a:prstGeom>
          <a:noFill/>
          <a:ln/>
        </p:spPr>
        <p:txBody>
          <a:bodyPr wrap="none" lIns="0" tIns="0" rIns="0" bIns="0" rtlCol="0" anchor="t"/>
          <a:lstStyle/>
          <a:p>
            <a:pPr marL="0" indent="0" algn="l">
              <a:lnSpc>
                <a:spcPts val="2650"/>
              </a:lnSpc>
              <a:buNone/>
            </a:pPr>
            <a:r>
              <a:rPr lang="en-US" sz="2100" b="1" dirty="0">
                <a:solidFill>
                  <a:srgbClr val="2A2742"/>
                </a:solidFill>
                <a:latin typeface="Inter Bold" pitchFamily="34" charset="0"/>
                <a:ea typeface="Inter Bold" pitchFamily="34" charset="-122"/>
                <a:cs typeface="Inter Bold" pitchFamily="34" charset="-120"/>
              </a:rPr>
              <a:t>The Core User</a:t>
            </a:r>
            <a:endParaRPr lang="en-US" sz="2100" dirty="0"/>
          </a:p>
        </p:txBody>
      </p:sp>
      <p:sp>
        <p:nvSpPr>
          <p:cNvPr id="22" name="Text 16"/>
          <p:cNvSpPr/>
          <p:nvPr/>
        </p:nvSpPr>
        <p:spPr>
          <a:xfrm>
            <a:off x="7805261" y="6301502"/>
            <a:ext cx="5854779" cy="695563"/>
          </a:xfrm>
          <a:prstGeom prst="rect">
            <a:avLst/>
          </a:prstGeom>
          <a:noFill/>
          <a:ln/>
        </p:spPr>
        <p:txBody>
          <a:bodyPr wrap="square" lIns="0" tIns="0" rIns="0" bIns="0" rtlCol="0" anchor="t"/>
          <a:lstStyle/>
          <a:p>
            <a:pPr marL="0" indent="0" algn="l">
              <a:lnSpc>
                <a:spcPts val="2700"/>
              </a:lnSpc>
              <a:buNone/>
            </a:pPr>
            <a:r>
              <a:rPr lang="en-US" sz="1700" dirty="0">
                <a:solidFill>
                  <a:srgbClr val="2A2742"/>
                </a:solidFill>
                <a:latin typeface="Inter" pitchFamily="34" charset="0"/>
                <a:ea typeface="Inter" pitchFamily="34" charset="-122"/>
                <a:cs typeface="Inter" pitchFamily="34" charset="-120"/>
              </a:rPr>
              <a:t>Tech-savvy, values time, seeks clear data visualization, and wants actionable steps toward financial wellness.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6387" y="484465"/>
            <a:ext cx="4266486" cy="440293"/>
          </a:xfrm>
          <a:prstGeom prst="rect">
            <a:avLst/>
          </a:prstGeom>
          <a:noFill/>
          <a:ln/>
        </p:spPr>
        <p:txBody>
          <a:bodyPr wrap="none" lIns="0" tIns="0" rIns="0" bIns="0" rtlCol="0" anchor="t"/>
          <a:lstStyle/>
          <a:p>
            <a:pPr marL="0" indent="0" algn="l">
              <a:lnSpc>
                <a:spcPts val="3450"/>
              </a:lnSpc>
              <a:buNone/>
            </a:pPr>
            <a:r>
              <a:rPr lang="en-US" sz="2750" b="1" dirty="0">
                <a:solidFill>
                  <a:srgbClr val="231971"/>
                </a:solidFill>
                <a:latin typeface="Inter Bold" pitchFamily="34" charset="0"/>
                <a:ea typeface="Inter Bold" pitchFamily="34" charset="-122"/>
                <a:cs typeface="Inter Bold" pitchFamily="34" charset="-120"/>
              </a:rPr>
              <a:t>Design Thinking Process</a:t>
            </a:r>
            <a:endParaRPr lang="en-US" sz="2750" dirty="0"/>
          </a:p>
        </p:txBody>
      </p:sp>
      <p:sp>
        <p:nvSpPr>
          <p:cNvPr id="3" name="Text 1"/>
          <p:cNvSpPr/>
          <p:nvPr/>
        </p:nvSpPr>
        <p:spPr>
          <a:xfrm>
            <a:off x="616387" y="1276945"/>
            <a:ext cx="13397627"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We followed a five-stage iterative process to ensure the final product was deeply rooted in user needs and thoroughly validated.</a:t>
            </a:r>
            <a:endParaRPr lang="en-US" sz="1350" dirty="0"/>
          </a:p>
        </p:txBody>
      </p:sp>
      <p:sp>
        <p:nvSpPr>
          <p:cNvPr id="4" name="Shape 2"/>
          <p:cNvSpPr/>
          <p:nvPr/>
        </p:nvSpPr>
        <p:spPr>
          <a:xfrm>
            <a:off x="616387" y="1756767"/>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5" name="Image 0" descr="preencoded.png"/>
          <p:cNvPicPr>
            <a:picLocks noChangeAspect="1"/>
          </p:cNvPicPr>
          <p:nvPr/>
        </p:nvPicPr>
        <p:blipFill>
          <a:blip r:embed="rId3"/>
          <a:stretch>
            <a:fillRect/>
          </a:stretch>
        </p:blipFill>
        <p:spPr>
          <a:xfrm>
            <a:off x="836533" y="2120027"/>
            <a:ext cx="264200" cy="330160"/>
          </a:xfrm>
          <a:prstGeom prst="rect">
            <a:avLst/>
          </a:prstGeom>
        </p:spPr>
      </p:pic>
      <p:sp>
        <p:nvSpPr>
          <p:cNvPr id="6" name="Text 3"/>
          <p:cNvSpPr/>
          <p:nvPr/>
        </p:nvSpPr>
        <p:spPr>
          <a:xfrm>
            <a:off x="1496973" y="1932861"/>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Empathise</a:t>
            </a:r>
            <a:endParaRPr lang="en-US" sz="1700" dirty="0"/>
          </a:p>
        </p:txBody>
      </p:sp>
      <p:sp>
        <p:nvSpPr>
          <p:cNvPr id="7" name="Text 4"/>
          <p:cNvSpPr/>
          <p:nvPr/>
        </p:nvSpPr>
        <p:spPr>
          <a:xfrm>
            <a:off x="1496973" y="2313623"/>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Understanding the user, their needs, and financial pain points through research and interviews.</a:t>
            </a:r>
            <a:endParaRPr lang="en-US" sz="1350" dirty="0"/>
          </a:p>
        </p:txBody>
      </p:sp>
      <p:sp>
        <p:nvSpPr>
          <p:cNvPr id="8" name="Shape 5"/>
          <p:cNvSpPr/>
          <p:nvPr/>
        </p:nvSpPr>
        <p:spPr>
          <a:xfrm>
            <a:off x="616387" y="2989659"/>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9" name="Image 1" descr="preencoded.png"/>
          <p:cNvPicPr>
            <a:picLocks noChangeAspect="1"/>
          </p:cNvPicPr>
          <p:nvPr/>
        </p:nvPicPr>
        <p:blipFill>
          <a:blip r:embed="rId4"/>
          <a:stretch>
            <a:fillRect/>
          </a:stretch>
        </p:blipFill>
        <p:spPr>
          <a:xfrm>
            <a:off x="836533" y="3352919"/>
            <a:ext cx="264200" cy="330160"/>
          </a:xfrm>
          <a:prstGeom prst="rect">
            <a:avLst/>
          </a:prstGeom>
        </p:spPr>
      </p:pic>
      <p:sp>
        <p:nvSpPr>
          <p:cNvPr id="10" name="Text 6"/>
          <p:cNvSpPr/>
          <p:nvPr/>
        </p:nvSpPr>
        <p:spPr>
          <a:xfrm>
            <a:off x="1496973" y="3165753"/>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Define</a:t>
            </a:r>
            <a:endParaRPr lang="en-US" sz="1700" dirty="0"/>
          </a:p>
        </p:txBody>
      </p:sp>
      <p:sp>
        <p:nvSpPr>
          <p:cNvPr id="11" name="Text 7"/>
          <p:cNvSpPr/>
          <p:nvPr/>
        </p:nvSpPr>
        <p:spPr>
          <a:xfrm>
            <a:off x="1496973" y="3546515"/>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Clearly articulating the problem statement and key user needs based on gathered insights.</a:t>
            </a:r>
            <a:endParaRPr lang="en-US" sz="1350" dirty="0"/>
          </a:p>
        </p:txBody>
      </p:sp>
      <p:sp>
        <p:nvSpPr>
          <p:cNvPr id="12" name="Shape 8"/>
          <p:cNvSpPr/>
          <p:nvPr/>
        </p:nvSpPr>
        <p:spPr>
          <a:xfrm>
            <a:off x="616387" y="4222552"/>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13" name="Image 2" descr="preencoded.png"/>
          <p:cNvPicPr>
            <a:picLocks noChangeAspect="1"/>
          </p:cNvPicPr>
          <p:nvPr/>
        </p:nvPicPr>
        <p:blipFill>
          <a:blip r:embed="rId5"/>
          <a:stretch>
            <a:fillRect/>
          </a:stretch>
        </p:blipFill>
        <p:spPr>
          <a:xfrm>
            <a:off x="836533" y="4585811"/>
            <a:ext cx="264200" cy="330160"/>
          </a:xfrm>
          <a:prstGeom prst="rect">
            <a:avLst/>
          </a:prstGeom>
        </p:spPr>
      </p:pic>
      <p:sp>
        <p:nvSpPr>
          <p:cNvPr id="14" name="Text 9"/>
          <p:cNvSpPr/>
          <p:nvPr/>
        </p:nvSpPr>
        <p:spPr>
          <a:xfrm>
            <a:off x="1496973" y="4398645"/>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Ideate</a:t>
            </a:r>
            <a:endParaRPr lang="en-US" sz="1700" dirty="0"/>
          </a:p>
        </p:txBody>
      </p:sp>
      <p:sp>
        <p:nvSpPr>
          <p:cNvPr id="15" name="Text 10"/>
          <p:cNvSpPr/>
          <p:nvPr/>
        </p:nvSpPr>
        <p:spPr>
          <a:xfrm>
            <a:off x="1496973" y="4779407"/>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Brainstorming diverse solutions and features to address the defined problems effectively.</a:t>
            </a:r>
            <a:endParaRPr lang="en-US" sz="1350" dirty="0"/>
          </a:p>
        </p:txBody>
      </p:sp>
      <p:sp>
        <p:nvSpPr>
          <p:cNvPr id="16" name="Shape 11"/>
          <p:cNvSpPr/>
          <p:nvPr/>
        </p:nvSpPr>
        <p:spPr>
          <a:xfrm>
            <a:off x="616387" y="5455444"/>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17" name="Image 3" descr="preencoded.png"/>
          <p:cNvPicPr>
            <a:picLocks noChangeAspect="1"/>
          </p:cNvPicPr>
          <p:nvPr/>
        </p:nvPicPr>
        <p:blipFill>
          <a:blip r:embed="rId6"/>
          <a:stretch>
            <a:fillRect/>
          </a:stretch>
        </p:blipFill>
        <p:spPr>
          <a:xfrm>
            <a:off x="836533" y="5818703"/>
            <a:ext cx="264200" cy="330160"/>
          </a:xfrm>
          <a:prstGeom prst="rect">
            <a:avLst/>
          </a:prstGeom>
        </p:spPr>
      </p:pic>
      <p:sp>
        <p:nvSpPr>
          <p:cNvPr id="18" name="Text 12"/>
          <p:cNvSpPr/>
          <p:nvPr/>
        </p:nvSpPr>
        <p:spPr>
          <a:xfrm>
            <a:off x="1496973" y="5631537"/>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Design</a:t>
            </a:r>
            <a:endParaRPr lang="en-US" sz="1700" dirty="0"/>
          </a:p>
        </p:txBody>
      </p:sp>
      <p:sp>
        <p:nvSpPr>
          <p:cNvPr id="19" name="Text 13"/>
          <p:cNvSpPr/>
          <p:nvPr/>
        </p:nvSpPr>
        <p:spPr>
          <a:xfrm>
            <a:off x="1496973" y="6012299"/>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Creating low to high-fidelity mockups for core features and user flows.</a:t>
            </a:r>
            <a:endParaRPr lang="en-US" sz="1350" dirty="0"/>
          </a:p>
        </p:txBody>
      </p:sp>
      <p:sp>
        <p:nvSpPr>
          <p:cNvPr id="20" name="Shape 14"/>
          <p:cNvSpPr/>
          <p:nvPr/>
        </p:nvSpPr>
        <p:spPr>
          <a:xfrm>
            <a:off x="616387" y="6688336"/>
            <a:ext cx="704493" cy="1056799"/>
          </a:xfrm>
          <a:prstGeom prst="roundRect">
            <a:avLst>
              <a:gd name="adj" fmla="val 360021"/>
            </a:avLst>
          </a:prstGeom>
          <a:solidFill>
            <a:srgbClr val="FAFAFA"/>
          </a:solidFill>
          <a:ln/>
          <a:effectLst>
            <a:outerShdw blurRad="264160" algn="bl" rotWithShape="0">
              <a:srgbClr val="333333">
                <a:alpha val="10000"/>
              </a:srgbClr>
            </a:outerShdw>
          </a:effectLst>
        </p:spPr>
      </p:sp>
      <p:pic>
        <p:nvPicPr>
          <p:cNvPr id="21" name="Image 4" descr="preencoded.png"/>
          <p:cNvPicPr>
            <a:picLocks noChangeAspect="1"/>
          </p:cNvPicPr>
          <p:nvPr/>
        </p:nvPicPr>
        <p:blipFill>
          <a:blip r:embed="rId7"/>
          <a:stretch>
            <a:fillRect/>
          </a:stretch>
        </p:blipFill>
        <p:spPr>
          <a:xfrm>
            <a:off x="836533" y="7051596"/>
            <a:ext cx="264200" cy="330160"/>
          </a:xfrm>
          <a:prstGeom prst="rect">
            <a:avLst/>
          </a:prstGeom>
        </p:spPr>
      </p:pic>
      <p:sp>
        <p:nvSpPr>
          <p:cNvPr id="22" name="Text 15"/>
          <p:cNvSpPr/>
          <p:nvPr/>
        </p:nvSpPr>
        <p:spPr>
          <a:xfrm>
            <a:off x="1496973" y="6864429"/>
            <a:ext cx="2201585" cy="275153"/>
          </a:xfrm>
          <a:prstGeom prst="rect">
            <a:avLst/>
          </a:prstGeom>
          <a:noFill/>
          <a:ln/>
        </p:spPr>
        <p:txBody>
          <a:bodyPr wrap="none" lIns="0" tIns="0" rIns="0" bIns="0" rtlCol="0" anchor="t"/>
          <a:lstStyle/>
          <a:p>
            <a:pPr marL="0" indent="0" algn="l">
              <a:lnSpc>
                <a:spcPts val="2150"/>
              </a:lnSpc>
              <a:buNone/>
            </a:pPr>
            <a:r>
              <a:rPr lang="en-US" sz="1700" b="1" dirty="0">
                <a:solidFill>
                  <a:srgbClr val="2A2742"/>
                </a:solidFill>
                <a:latin typeface="Inter Bold" pitchFamily="34" charset="0"/>
                <a:ea typeface="Inter Bold" pitchFamily="34" charset="-122"/>
                <a:cs typeface="Inter Bold" pitchFamily="34" charset="-120"/>
              </a:rPr>
              <a:t>Test</a:t>
            </a:r>
            <a:endParaRPr lang="en-US" sz="1700" dirty="0"/>
          </a:p>
        </p:txBody>
      </p:sp>
      <p:sp>
        <p:nvSpPr>
          <p:cNvPr id="23" name="Text 16"/>
          <p:cNvSpPr/>
          <p:nvPr/>
        </p:nvSpPr>
        <p:spPr>
          <a:xfrm>
            <a:off x="1496973" y="7245191"/>
            <a:ext cx="12517041" cy="281702"/>
          </a:xfrm>
          <a:prstGeom prst="rect">
            <a:avLst/>
          </a:prstGeom>
          <a:noFill/>
          <a:ln/>
        </p:spPr>
        <p:txBody>
          <a:bodyPr wrap="none" lIns="0" tIns="0" rIns="0" bIns="0" rtlCol="0" anchor="t"/>
          <a:lstStyle/>
          <a:p>
            <a:pPr marL="0" indent="0" algn="l">
              <a:lnSpc>
                <a:spcPts val="2200"/>
              </a:lnSpc>
              <a:buNone/>
            </a:pPr>
            <a:r>
              <a:rPr lang="en-US" sz="1350" dirty="0">
                <a:solidFill>
                  <a:srgbClr val="2A2742"/>
                </a:solidFill>
                <a:latin typeface="Inter" pitchFamily="34" charset="0"/>
                <a:ea typeface="Inter" pitchFamily="34" charset="-122"/>
                <a:cs typeface="Inter" pitchFamily="34" charset="-120"/>
              </a:rPr>
              <a:t>Gathering user feedback on prototypes and iterating on the design until optimal usability is achieved.</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3787" y="654442"/>
            <a:ext cx="2763679" cy="345400"/>
          </a:xfrm>
          <a:prstGeom prst="rect">
            <a:avLst/>
          </a:prstGeom>
          <a:noFill/>
          <a:ln/>
        </p:spPr>
        <p:txBody>
          <a:bodyPr wrap="none" lIns="0" tIns="0" rIns="0" bIns="0" rtlCol="0" anchor="t"/>
          <a:lstStyle/>
          <a:p>
            <a:pPr marL="0" indent="0" algn="l">
              <a:lnSpc>
                <a:spcPts val="2700"/>
              </a:lnSpc>
              <a:buNone/>
            </a:pPr>
            <a:r>
              <a:rPr lang="en-US" sz="2150" b="1" dirty="0">
                <a:solidFill>
                  <a:srgbClr val="231971"/>
                </a:solidFill>
                <a:latin typeface="Inter Bold" pitchFamily="34" charset="0"/>
                <a:ea typeface="Inter Bold" pitchFamily="34" charset="-122"/>
                <a:cs typeface="Inter Bold" pitchFamily="34" charset="-120"/>
              </a:rPr>
              <a:t>EMPATHISE</a:t>
            </a:r>
            <a:endParaRPr lang="en-US" sz="2150" dirty="0"/>
          </a:p>
        </p:txBody>
      </p:sp>
      <p:sp>
        <p:nvSpPr>
          <p:cNvPr id="3" name="Text 1"/>
          <p:cNvSpPr/>
          <p:nvPr/>
        </p:nvSpPr>
        <p:spPr>
          <a:xfrm>
            <a:off x="773787" y="1043583"/>
            <a:ext cx="4421862" cy="552688"/>
          </a:xfrm>
          <a:prstGeom prst="rect">
            <a:avLst/>
          </a:prstGeom>
          <a:noFill/>
          <a:ln/>
        </p:spPr>
        <p:txBody>
          <a:bodyPr wrap="none" lIns="0" tIns="0" rIns="0" bIns="0" rtlCol="0" anchor="t"/>
          <a:lstStyle/>
          <a:p>
            <a:pPr marL="0" indent="0" algn="l">
              <a:lnSpc>
                <a:spcPts val="4350"/>
              </a:lnSpc>
              <a:buNone/>
            </a:pPr>
            <a:r>
              <a:rPr lang="en-US" sz="3450" b="1" dirty="0">
                <a:solidFill>
                  <a:srgbClr val="231971"/>
                </a:solidFill>
                <a:latin typeface="Inter Bold" pitchFamily="34" charset="0"/>
                <a:ea typeface="Inter Bold" pitchFamily="34" charset="-122"/>
                <a:cs typeface="Inter Bold" pitchFamily="34" charset="-120"/>
              </a:rPr>
              <a:t>User Research</a:t>
            </a:r>
            <a:endParaRPr lang="en-US" sz="3450" dirty="0"/>
          </a:p>
        </p:txBody>
      </p:sp>
      <p:sp>
        <p:nvSpPr>
          <p:cNvPr id="4" name="Text 2"/>
          <p:cNvSpPr/>
          <p:nvPr/>
        </p:nvSpPr>
        <p:spPr>
          <a:xfrm>
            <a:off x="773787" y="1684615"/>
            <a:ext cx="3350776" cy="414457"/>
          </a:xfrm>
          <a:prstGeom prst="rect">
            <a:avLst/>
          </a:prstGeom>
          <a:noFill/>
          <a:ln/>
        </p:spPr>
        <p:txBody>
          <a:bodyPr wrap="none" lIns="0" tIns="0" rIns="0" bIns="0" rtlCol="0" anchor="t"/>
          <a:lstStyle/>
          <a:p>
            <a:pPr marL="0" indent="0" algn="l">
              <a:lnSpc>
                <a:spcPts val="3250"/>
              </a:lnSpc>
              <a:buNone/>
            </a:pPr>
            <a:r>
              <a:rPr lang="en-US" sz="2600" b="1" dirty="0">
                <a:solidFill>
                  <a:srgbClr val="231971"/>
                </a:solidFill>
                <a:latin typeface="Inter Bold" pitchFamily="34" charset="0"/>
                <a:ea typeface="Inter Bold" pitchFamily="34" charset="-122"/>
                <a:cs typeface="Inter Bold" pitchFamily="34" charset="-120"/>
              </a:rPr>
              <a:t>Qualitative Research</a:t>
            </a:r>
            <a:endParaRPr lang="en-US" sz="2600" dirty="0"/>
          </a:p>
        </p:txBody>
      </p:sp>
      <p:sp>
        <p:nvSpPr>
          <p:cNvPr id="5" name="Text 3"/>
          <p:cNvSpPr/>
          <p:nvPr/>
        </p:nvSpPr>
        <p:spPr>
          <a:xfrm>
            <a:off x="773787" y="2430661"/>
            <a:ext cx="13082826" cy="707469"/>
          </a:xfrm>
          <a:prstGeom prst="rect">
            <a:avLst/>
          </a:prstGeom>
          <a:noFill/>
          <a:ln/>
        </p:spPr>
        <p:txBody>
          <a:bodyPr wrap="square" lIns="0" tIns="0" rIns="0" bIns="0" rtlCol="0" anchor="t"/>
          <a:lstStyle/>
          <a:p>
            <a:pPr marL="0" indent="0" algn="l">
              <a:lnSpc>
                <a:spcPts val="2750"/>
              </a:lnSpc>
              <a:buNone/>
            </a:pPr>
            <a:r>
              <a:rPr lang="en-US" sz="1700" dirty="0">
                <a:solidFill>
                  <a:srgbClr val="2A2742"/>
                </a:solidFill>
                <a:latin typeface="Inter" pitchFamily="34" charset="0"/>
                <a:ea typeface="Inter" pitchFamily="34" charset="-122"/>
                <a:cs typeface="Inter" pitchFamily="34" charset="-120"/>
              </a:rPr>
              <a:t>In-depth interviews revealed critical frustrations with current methods of financial tracking and management. Here are some of the questions asked during these interviews:</a:t>
            </a:r>
            <a:endParaRPr lang="en-US" sz="1700" dirty="0"/>
          </a:p>
        </p:txBody>
      </p:sp>
      <p:sp>
        <p:nvSpPr>
          <p:cNvPr id="6" name="Text 4"/>
          <p:cNvSpPr/>
          <p:nvPr/>
        </p:nvSpPr>
        <p:spPr>
          <a:xfrm>
            <a:off x="773787" y="3386852"/>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a:pPr>
            <a:r>
              <a:rPr lang="en-US" sz="1700" dirty="0">
                <a:solidFill>
                  <a:srgbClr val="2A2742"/>
                </a:solidFill>
                <a:latin typeface="Inter" pitchFamily="34" charset="0"/>
                <a:ea typeface="Inter" pitchFamily="34" charset="-122"/>
                <a:cs typeface="Inter" pitchFamily="34" charset="-120"/>
              </a:rPr>
              <a:t>How do you currently track your income and expenses?</a:t>
            </a:r>
            <a:endParaRPr lang="en-US" sz="1700" dirty="0"/>
          </a:p>
        </p:txBody>
      </p:sp>
      <p:sp>
        <p:nvSpPr>
          <p:cNvPr id="7" name="Text 5"/>
          <p:cNvSpPr/>
          <p:nvPr/>
        </p:nvSpPr>
        <p:spPr>
          <a:xfrm>
            <a:off x="773787" y="3817858"/>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2"/>
            </a:pPr>
            <a:r>
              <a:rPr lang="en-US" sz="1700" dirty="0">
                <a:solidFill>
                  <a:srgbClr val="2A2742"/>
                </a:solidFill>
                <a:latin typeface="Inter" pitchFamily="34" charset="0"/>
                <a:ea typeface="Inter" pitchFamily="34" charset="-122"/>
                <a:cs typeface="Inter" pitchFamily="34" charset="-120"/>
              </a:rPr>
              <a:t>What methods have you tried in the past to manage your finances, and what was your experience with them?</a:t>
            </a:r>
            <a:endParaRPr lang="en-US" sz="1700" dirty="0"/>
          </a:p>
        </p:txBody>
      </p:sp>
      <p:sp>
        <p:nvSpPr>
          <p:cNvPr id="8" name="Text 6"/>
          <p:cNvSpPr/>
          <p:nvPr/>
        </p:nvSpPr>
        <p:spPr>
          <a:xfrm>
            <a:off x="773787" y="4248864"/>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3"/>
            </a:pPr>
            <a:r>
              <a:rPr lang="en-US" sz="1700" dirty="0">
                <a:solidFill>
                  <a:srgbClr val="2A2742"/>
                </a:solidFill>
                <a:latin typeface="Inter" pitchFamily="34" charset="0"/>
                <a:ea typeface="Inter" pitchFamily="34" charset="-122"/>
                <a:cs typeface="Inter" pitchFamily="34" charset="-120"/>
              </a:rPr>
              <a:t>What are the biggest challenges you face when trying to keep track of your spending?</a:t>
            </a:r>
            <a:endParaRPr lang="en-US" sz="1700" dirty="0"/>
          </a:p>
        </p:txBody>
      </p:sp>
      <p:sp>
        <p:nvSpPr>
          <p:cNvPr id="9" name="Text 7"/>
          <p:cNvSpPr/>
          <p:nvPr/>
        </p:nvSpPr>
        <p:spPr>
          <a:xfrm>
            <a:off x="773787" y="4679871"/>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4"/>
            </a:pPr>
            <a:r>
              <a:rPr lang="en-US" sz="1700" dirty="0">
                <a:solidFill>
                  <a:srgbClr val="2A2742"/>
                </a:solidFill>
                <a:latin typeface="Inter" pitchFamily="34" charset="0"/>
                <a:ea typeface="Inter" pitchFamily="34" charset="-122"/>
                <a:cs typeface="Inter" pitchFamily="34" charset="-120"/>
              </a:rPr>
              <a:t>How often do you review your financial activity?</a:t>
            </a:r>
            <a:endParaRPr lang="en-US" sz="1700" dirty="0"/>
          </a:p>
        </p:txBody>
      </p:sp>
      <p:sp>
        <p:nvSpPr>
          <p:cNvPr id="10" name="Text 8"/>
          <p:cNvSpPr/>
          <p:nvPr/>
        </p:nvSpPr>
        <p:spPr>
          <a:xfrm>
            <a:off x="773787" y="5110877"/>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5"/>
            </a:pPr>
            <a:r>
              <a:rPr lang="en-US" sz="1700" dirty="0">
                <a:solidFill>
                  <a:srgbClr val="2A2742"/>
                </a:solidFill>
                <a:latin typeface="Inter" pitchFamily="34" charset="0"/>
                <a:ea typeface="Inter" pitchFamily="34" charset="-122"/>
                <a:cs typeface="Inter" pitchFamily="34" charset="-120"/>
              </a:rPr>
              <a:t>What information would you like to see to better understand where your money goes?</a:t>
            </a:r>
            <a:endParaRPr lang="en-US" sz="1700" dirty="0"/>
          </a:p>
        </p:txBody>
      </p:sp>
      <p:sp>
        <p:nvSpPr>
          <p:cNvPr id="11" name="Text 9"/>
          <p:cNvSpPr/>
          <p:nvPr/>
        </p:nvSpPr>
        <p:spPr>
          <a:xfrm>
            <a:off x="773787" y="5541883"/>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6"/>
            </a:pPr>
            <a:r>
              <a:rPr lang="en-US" sz="1700" dirty="0">
                <a:solidFill>
                  <a:srgbClr val="2A2742"/>
                </a:solidFill>
                <a:latin typeface="Inter" pitchFamily="34" charset="0"/>
                <a:ea typeface="Inter" pitchFamily="34" charset="-122"/>
                <a:cs typeface="Inter" pitchFamily="34" charset="-120"/>
              </a:rPr>
              <a:t>Do you set financial goals? If so, how do you track your progress towards them?</a:t>
            </a:r>
            <a:endParaRPr lang="en-US" sz="1700" dirty="0"/>
          </a:p>
        </p:txBody>
      </p:sp>
      <p:sp>
        <p:nvSpPr>
          <p:cNvPr id="12" name="Text 10"/>
          <p:cNvSpPr/>
          <p:nvPr/>
        </p:nvSpPr>
        <p:spPr>
          <a:xfrm>
            <a:off x="773787" y="5972889"/>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7"/>
            </a:pPr>
            <a:r>
              <a:rPr lang="en-US" sz="1700" dirty="0">
                <a:solidFill>
                  <a:srgbClr val="2A2742"/>
                </a:solidFill>
                <a:latin typeface="Inter" pitchFamily="34" charset="0"/>
                <a:ea typeface="Inter" pitchFamily="34" charset="-122"/>
                <a:cs typeface="Inter" pitchFamily="34" charset="-120"/>
              </a:rPr>
              <a:t>What frustrates you most about existing budgeting or financial tracking apps?</a:t>
            </a:r>
            <a:endParaRPr lang="en-US" sz="1700" dirty="0"/>
          </a:p>
        </p:txBody>
      </p:sp>
      <p:sp>
        <p:nvSpPr>
          <p:cNvPr id="13" name="Text 11"/>
          <p:cNvSpPr/>
          <p:nvPr/>
        </p:nvSpPr>
        <p:spPr>
          <a:xfrm>
            <a:off x="773787" y="6403896"/>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8"/>
            </a:pPr>
            <a:r>
              <a:rPr lang="en-US" sz="1700" dirty="0">
                <a:solidFill>
                  <a:srgbClr val="2A2742"/>
                </a:solidFill>
                <a:latin typeface="Inter" pitchFamily="34" charset="0"/>
                <a:ea typeface="Inter" pitchFamily="34" charset="-122"/>
                <a:cs typeface="Inter" pitchFamily="34" charset="-120"/>
              </a:rPr>
              <a:t>What features would make financial management feel less like a chore?</a:t>
            </a:r>
            <a:endParaRPr lang="en-US" sz="1700" dirty="0"/>
          </a:p>
        </p:txBody>
      </p:sp>
      <p:sp>
        <p:nvSpPr>
          <p:cNvPr id="14" name="Text 12"/>
          <p:cNvSpPr/>
          <p:nvPr/>
        </p:nvSpPr>
        <p:spPr>
          <a:xfrm>
            <a:off x="773787" y="6834902"/>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9"/>
            </a:pPr>
            <a:r>
              <a:rPr lang="en-US" sz="1700" dirty="0">
                <a:solidFill>
                  <a:srgbClr val="2A2742"/>
                </a:solidFill>
                <a:latin typeface="Inter" pitchFamily="34" charset="0"/>
                <a:ea typeface="Inter" pitchFamily="34" charset="-122"/>
                <a:cs typeface="Inter" pitchFamily="34" charset="-120"/>
              </a:rPr>
              <a:t>How do you feel when you discover unexpected expenses or overspending?</a:t>
            </a:r>
            <a:endParaRPr lang="en-US" sz="1700" dirty="0"/>
          </a:p>
        </p:txBody>
      </p:sp>
      <p:sp>
        <p:nvSpPr>
          <p:cNvPr id="15" name="Text 13"/>
          <p:cNvSpPr/>
          <p:nvPr/>
        </p:nvSpPr>
        <p:spPr>
          <a:xfrm>
            <a:off x="773787" y="7265908"/>
            <a:ext cx="13082826" cy="353735"/>
          </a:xfrm>
          <a:prstGeom prst="rect">
            <a:avLst/>
          </a:prstGeom>
          <a:noFill/>
          <a:ln/>
        </p:spPr>
        <p:txBody>
          <a:bodyPr wrap="none" lIns="0" tIns="0" rIns="0" bIns="0" rtlCol="0" anchor="t"/>
          <a:lstStyle/>
          <a:p>
            <a:pPr marL="342900" indent="-342900" algn="l">
              <a:lnSpc>
                <a:spcPts val="2750"/>
              </a:lnSpc>
              <a:buSzPct val="100000"/>
              <a:buFont typeface="+mj-lt"/>
              <a:buAutoNum type="arabicPeriod" startAt="10"/>
            </a:pPr>
            <a:r>
              <a:rPr lang="en-US" sz="1700" dirty="0">
                <a:solidFill>
                  <a:srgbClr val="2A2742"/>
                </a:solidFill>
                <a:latin typeface="Inter" pitchFamily="34" charset="0"/>
                <a:ea typeface="Inter" pitchFamily="34" charset="-122"/>
                <a:cs typeface="Inter" pitchFamily="34" charset="-120"/>
              </a:rPr>
              <a:t>What would a "perfect" financial tracking tool look like for you?</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9427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31971"/>
                </a:solidFill>
                <a:latin typeface="Inter Bold" pitchFamily="34" charset="0"/>
                <a:ea typeface="Inter Bold" pitchFamily="34" charset="-122"/>
                <a:cs typeface="Inter Bold" pitchFamily="34" charset="-120"/>
              </a:rPr>
              <a:t>EMPATHISE STAGE</a:t>
            </a:r>
            <a:endParaRPr lang="en-US" sz="2200" dirty="0"/>
          </a:p>
        </p:txBody>
      </p:sp>
      <p:sp>
        <p:nvSpPr>
          <p:cNvPr id="3" name="Text 1"/>
          <p:cNvSpPr/>
          <p:nvPr/>
        </p:nvSpPr>
        <p:spPr>
          <a:xfrm>
            <a:off x="793790" y="1339334"/>
            <a:ext cx="8429863"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Inter Bold" pitchFamily="34" charset="0"/>
                <a:ea typeface="Inter Bold" pitchFamily="34" charset="-122"/>
                <a:cs typeface="Inter Bold" pitchFamily="34" charset="-120"/>
              </a:rPr>
              <a:t>Competitor Analysis: Identifying Gaps</a:t>
            </a:r>
            <a:endParaRPr lang="en-US" sz="3550" dirty="0"/>
          </a:p>
        </p:txBody>
      </p:sp>
      <p:sp>
        <p:nvSpPr>
          <p:cNvPr id="4" name="Text 2"/>
          <p:cNvSpPr/>
          <p:nvPr/>
        </p:nvSpPr>
        <p:spPr>
          <a:xfrm>
            <a:off x="793790" y="224647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We analysed leading expense tracking apps to pinpoint feature shortcomings and areas where SpendSmart could offer a differentiated experience.</a:t>
            </a:r>
            <a:endParaRPr lang="en-US" sz="1750" dirty="0"/>
          </a:p>
        </p:txBody>
      </p:sp>
      <p:grpSp>
        <p:nvGrpSpPr>
          <p:cNvPr id="32" name="Group 31">
            <a:extLst>
              <a:ext uri="{FF2B5EF4-FFF2-40B4-BE49-F238E27FC236}">
                <a16:creationId xmlns:a16="http://schemas.microsoft.com/office/drawing/2014/main" id="{359A30F1-67AA-A1D6-4628-42B41EF4B0E6}"/>
              </a:ext>
            </a:extLst>
          </p:cNvPr>
          <p:cNvGrpSpPr/>
          <p:nvPr/>
        </p:nvGrpSpPr>
        <p:grpSpPr>
          <a:xfrm>
            <a:off x="737749" y="3885367"/>
            <a:ext cx="13154902" cy="2616518"/>
            <a:chOff x="784972" y="3227427"/>
            <a:chExt cx="13154902" cy="2616518"/>
          </a:xfrm>
        </p:grpSpPr>
        <p:sp>
          <p:nvSpPr>
            <p:cNvPr id="5" name="Shape 3"/>
            <p:cNvSpPr/>
            <p:nvPr/>
          </p:nvSpPr>
          <p:spPr>
            <a:xfrm>
              <a:off x="793790" y="3227427"/>
              <a:ext cx="13042821" cy="2616518"/>
            </a:xfrm>
            <a:prstGeom prst="roundRect">
              <a:avLst>
                <a:gd name="adj" fmla="val 7802"/>
              </a:avLst>
            </a:prstGeom>
            <a:noFill/>
            <a:ln w="7620">
              <a:solidFill>
                <a:srgbClr val="000000">
                  <a:alpha val="8000"/>
                </a:srgbClr>
              </a:solidFill>
              <a:prstDash val="solid"/>
            </a:ln>
          </p:spPr>
        </p:sp>
        <p:sp>
          <p:nvSpPr>
            <p:cNvPr id="6" name="Shape 4"/>
            <p:cNvSpPr/>
            <p:nvPr/>
          </p:nvSpPr>
          <p:spPr>
            <a:xfrm>
              <a:off x="912293" y="3235047"/>
              <a:ext cx="13027581" cy="650319"/>
            </a:xfrm>
            <a:prstGeom prst="rect">
              <a:avLst/>
            </a:prstGeom>
            <a:solidFill>
              <a:srgbClr val="FFFFFF">
                <a:alpha val="4000"/>
              </a:srgbClr>
            </a:solidFill>
            <a:ln/>
          </p:spPr>
        </p:sp>
        <p:sp>
          <p:nvSpPr>
            <p:cNvPr id="7" name="Text 5"/>
            <p:cNvSpPr/>
            <p:nvPr/>
          </p:nvSpPr>
          <p:spPr>
            <a:xfrm>
              <a:off x="1139464" y="3378756"/>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Automatic Sync/SMS Reading</a:t>
              </a:r>
              <a:endParaRPr lang="en-US" sz="1750" dirty="0"/>
            </a:p>
          </p:txBody>
        </p:sp>
        <p:sp>
          <p:nvSpPr>
            <p:cNvPr id="8" name="Text 6"/>
            <p:cNvSpPr/>
            <p:nvPr/>
          </p:nvSpPr>
          <p:spPr>
            <a:xfrm>
              <a:off x="5051501"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Yes</a:t>
              </a:r>
              <a:endParaRPr lang="en-US" sz="1750" dirty="0"/>
            </a:p>
          </p:txBody>
        </p:sp>
        <p:sp>
          <p:nvSpPr>
            <p:cNvPr id="9" name="Text 7"/>
            <p:cNvSpPr/>
            <p:nvPr/>
          </p:nvSpPr>
          <p:spPr>
            <a:xfrm>
              <a:off x="7021992"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Limited</a:t>
              </a:r>
              <a:endParaRPr lang="en-US" sz="1750" dirty="0"/>
            </a:p>
          </p:txBody>
        </p:sp>
        <p:sp>
          <p:nvSpPr>
            <p:cNvPr id="10" name="Text 8"/>
            <p:cNvSpPr/>
            <p:nvPr/>
          </p:nvSpPr>
          <p:spPr>
            <a:xfrm>
              <a:off x="8848725" y="3378756"/>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Yes</a:t>
              </a:r>
              <a:endParaRPr lang="en-US" sz="1750" dirty="0"/>
            </a:p>
          </p:txBody>
        </p:sp>
        <p:sp>
          <p:nvSpPr>
            <p:cNvPr id="11" name="Text 9"/>
            <p:cNvSpPr/>
            <p:nvPr/>
          </p:nvSpPr>
          <p:spPr>
            <a:xfrm>
              <a:off x="10802779" y="3378756"/>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Seamless &amp; Secure</a:t>
              </a:r>
              <a:endParaRPr lang="en-US" sz="1750" dirty="0"/>
            </a:p>
          </p:txBody>
        </p:sp>
        <p:sp>
          <p:nvSpPr>
            <p:cNvPr id="12" name="Shape 10"/>
            <p:cNvSpPr/>
            <p:nvPr/>
          </p:nvSpPr>
          <p:spPr>
            <a:xfrm>
              <a:off x="809030" y="3899655"/>
              <a:ext cx="13027581" cy="650319"/>
            </a:xfrm>
            <a:prstGeom prst="rect">
              <a:avLst/>
            </a:prstGeom>
            <a:solidFill>
              <a:srgbClr val="000000">
                <a:alpha val="4000"/>
              </a:srgbClr>
            </a:solidFill>
            <a:ln/>
          </p:spPr>
        </p:sp>
        <p:sp>
          <p:nvSpPr>
            <p:cNvPr id="13" name="Text 11"/>
            <p:cNvSpPr/>
            <p:nvPr/>
          </p:nvSpPr>
          <p:spPr>
            <a:xfrm>
              <a:off x="1155902" y="4029075"/>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Visual Analytics &amp; Reporting</a:t>
              </a:r>
              <a:endParaRPr lang="en-US" sz="1750" dirty="0"/>
            </a:p>
          </p:txBody>
        </p:sp>
        <p:sp>
          <p:nvSpPr>
            <p:cNvPr id="14" name="Text 12"/>
            <p:cNvSpPr/>
            <p:nvPr/>
          </p:nvSpPr>
          <p:spPr>
            <a:xfrm>
              <a:off x="5051501"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Moderate</a:t>
              </a:r>
              <a:endParaRPr lang="en-US" sz="1750" dirty="0"/>
            </a:p>
          </p:txBody>
        </p:sp>
        <p:sp>
          <p:nvSpPr>
            <p:cNvPr id="15" name="Text 13"/>
            <p:cNvSpPr/>
            <p:nvPr/>
          </p:nvSpPr>
          <p:spPr>
            <a:xfrm>
              <a:off x="7021992"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Basic</a:t>
              </a:r>
              <a:endParaRPr lang="en-US" sz="1750" dirty="0"/>
            </a:p>
          </p:txBody>
        </p:sp>
        <p:sp>
          <p:nvSpPr>
            <p:cNvPr id="16" name="Text 14"/>
            <p:cNvSpPr/>
            <p:nvPr/>
          </p:nvSpPr>
          <p:spPr>
            <a:xfrm>
              <a:off x="8848725" y="402907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Moderate</a:t>
              </a:r>
              <a:endParaRPr lang="en-US" sz="1750" dirty="0"/>
            </a:p>
          </p:txBody>
        </p:sp>
        <p:sp>
          <p:nvSpPr>
            <p:cNvPr id="17" name="Text 15"/>
            <p:cNvSpPr/>
            <p:nvPr/>
          </p:nvSpPr>
          <p:spPr>
            <a:xfrm>
              <a:off x="10802779" y="4029075"/>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Advanced &amp; Actionable</a:t>
              </a:r>
              <a:endParaRPr lang="en-US" sz="1750" dirty="0"/>
            </a:p>
          </p:txBody>
        </p:sp>
        <p:sp>
          <p:nvSpPr>
            <p:cNvPr id="18" name="Shape 16"/>
            <p:cNvSpPr/>
            <p:nvPr/>
          </p:nvSpPr>
          <p:spPr>
            <a:xfrm>
              <a:off x="784972" y="4535686"/>
              <a:ext cx="13027581" cy="650319"/>
            </a:xfrm>
            <a:prstGeom prst="rect">
              <a:avLst/>
            </a:prstGeom>
            <a:solidFill>
              <a:srgbClr val="FFFFFF">
                <a:alpha val="4000"/>
              </a:srgbClr>
            </a:solidFill>
            <a:ln/>
          </p:spPr>
        </p:sp>
        <p:sp>
          <p:nvSpPr>
            <p:cNvPr id="19" name="Text 17"/>
            <p:cNvSpPr/>
            <p:nvPr/>
          </p:nvSpPr>
          <p:spPr>
            <a:xfrm>
              <a:off x="1155902" y="467939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UX Simplicity</a:t>
              </a:r>
              <a:endParaRPr lang="en-US" sz="1750" dirty="0"/>
            </a:p>
          </p:txBody>
        </p:sp>
        <p:sp>
          <p:nvSpPr>
            <p:cNvPr id="20" name="Text 18"/>
            <p:cNvSpPr/>
            <p:nvPr/>
          </p:nvSpPr>
          <p:spPr>
            <a:xfrm>
              <a:off x="5051501" y="467939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Cluttered</a:t>
              </a:r>
              <a:endParaRPr lang="en-US" sz="1750" dirty="0"/>
            </a:p>
          </p:txBody>
        </p:sp>
        <p:sp>
          <p:nvSpPr>
            <p:cNvPr id="21" name="Text 19"/>
            <p:cNvSpPr/>
            <p:nvPr/>
          </p:nvSpPr>
          <p:spPr>
            <a:xfrm>
              <a:off x="7021992" y="467939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Functional</a:t>
              </a:r>
              <a:endParaRPr lang="en-US" sz="1750" dirty="0"/>
            </a:p>
          </p:txBody>
        </p:sp>
        <p:sp>
          <p:nvSpPr>
            <p:cNvPr id="22" name="Text 20"/>
            <p:cNvSpPr/>
            <p:nvPr/>
          </p:nvSpPr>
          <p:spPr>
            <a:xfrm>
              <a:off x="8848725" y="4669325"/>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Good</a:t>
              </a:r>
              <a:endParaRPr lang="en-US" sz="1750" dirty="0"/>
            </a:p>
          </p:txBody>
        </p:sp>
        <p:sp>
          <p:nvSpPr>
            <p:cNvPr id="23" name="Text 21"/>
            <p:cNvSpPr/>
            <p:nvPr/>
          </p:nvSpPr>
          <p:spPr>
            <a:xfrm>
              <a:off x="10802779" y="4679394"/>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Minimalist &amp; Intuitive</a:t>
              </a:r>
              <a:endParaRPr lang="en-US" sz="1750" dirty="0"/>
            </a:p>
          </p:txBody>
        </p:sp>
        <p:sp>
          <p:nvSpPr>
            <p:cNvPr id="24" name="Shape 22"/>
            <p:cNvSpPr/>
            <p:nvPr/>
          </p:nvSpPr>
          <p:spPr>
            <a:xfrm>
              <a:off x="809029" y="5137291"/>
              <a:ext cx="13027581" cy="650319"/>
            </a:xfrm>
            <a:prstGeom prst="rect">
              <a:avLst/>
            </a:prstGeom>
            <a:solidFill>
              <a:srgbClr val="000000">
                <a:alpha val="4000"/>
              </a:srgbClr>
            </a:solidFill>
            <a:ln/>
          </p:spPr>
          <p:txBody>
            <a:bodyPr/>
            <a:lstStyle/>
            <a:p>
              <a:endParaRPr lang="en-IN" dirty="0"/>
            </a:p>
          </p:txBody>
        </p:sp>
        <p:sp>
          <p:nvSpPr>
            <p:cNvPr id="25" name="Text 23"/>
            <p:cNvSpPr/>
            <p:nvPr/>
          </p:nvSpPr>
          <p:spPr>
            <a:xfrm>
              <a:off x="1155902" y="532971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Goal-Based Savings Guidance</a:t>
              </a:r>
              <a:endParaRPr lang="en-US" sz="1750" dirty="0"/>
            </a:p>
          </p:txBody>
        </p:sp>
        <p:sp>
          <p:nvSpPr>
            <p:cNvPr id="26" name="Text 24"/>
            <p:cNvSpPr/>
            <p:nvPr/>
          </p:nvSpPr>
          <p:spPr>
            <a:xfrm>
              <a:off x="5067939"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No</a:t>
              </a:r>
              <a:endParaRPr lang="en-US" sz="1750" dirty="0"/>
            </a:p>
          </p:txBody>
        </p:sp>
        <p:sp>
          <p:nvSpPr>
            <p:cNvPr id="27" name="Text 25"/>
            <p:cNvSpPr/>
            <p:nvPr/>
          </p:nvSpPr>
          <p:spPr>
            <a:xfrm>
              <a:off x="7021992"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No</a:t>
              </a:r>
              <a:endParaRPr lang="en-US" sz="1750" dirty="0"/>
            </a:p>
          </p:txBody>
        </p:sp>
        <p:sp>
          <p:nvSpPr>
            <p:cNvPr id="28" name="Text 26"/>
            <p:cNvSpPr/>
            <p:nvPr/>
          </p:nvSpPr>
          <p:spPr>
            <a:xfrm>
              <a:off x="8912385" y="5329714"/>
              <a:ext cx="1492806"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Basic</a:t>
              </a:r>
              <a:endParaRPr lang="en-US" sz="1750" dirty="0"/>
            </a:p>
          </p:txBody>
        </p:sp>
        <p:sp>
          <p:nvSpPr>
            <p:cNvPr id="29" name="Text 27"/>
            <p:cNvSpPr/>
            <p:nvPr/>
          </p:nvSpPr>
          <p:spPr>
            <a:xfrm>
              <a:off x="10802779" y="5329714"/>
              <a:ext cx="2799397" cy="362903"/>
            </a:xfrm>
            <a:prstGeom prst="rect">
              <a:avLst/>
            </a:prstGeom>
            <a:noFill/>
            <a:ln/>
          </p:spPr>
          <p:txBody>
            <a:bodyPr wrap="none" lIns="0" tIns="0" rIns="0" bIns="0" rtlCol="0" anchor="t"/>
            <a:lstStyle/>
            <a:p>
              <a:pPr marL="0" indent="0" algn="l">
                <a:lnSpc>
                  <a:spcPts val="2850"/>
                </a:lnSpc>
                <a:buNone/>
              </a:pPr>
              <a:r>
                <a:rPr lang="en-US" sz="1750" dirty="0">
                  <a:solidFill>
                    <a:srgbClr val="1A2D7A"/>
                  </a:solidFill>
                  <a:latin typeface="Inter" pitchFamily="34" charset="0"/>
                  <a:ea typeface="Inter" pitchFamily="34" charset="-122"/>
                  <a:cs typeface="Inter" pitchFamily="34" charset="-120"/>
                </a:rPr>
                <a:t>Integrated Goal Setting</a:t>
              </a:r>
              <a:endParaRPr lang="en-US" sz="1750" dirty="0"/>
            </a:p>
          </p:txBody>
        </p:sp>
      </p:grpSp>
      <p:sp>
        <p:nvSpPr>
          <p:cNvPr id="30" name="Text 28"/>
          <p:cNvSpPr/>
          <p:nvPr/>
        </p:nvSpPr>
        <p:spPr>
          <a:xfrm>
            <a:off x="1093861" y="6972300"/>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The core missing element was the integration of </a:t>
            </a:r>
            <a:r>
              <a:rPr lang="en-US" sz="1750" b="1" dirty="0">
                <a:solidFill>
                  <a:srgbClr val="2A2742"/>
                </a:solidFill>
                <a:latin typeface="Inter" pitchFamily="34" charset="0"/>
                <a:ea typeface="Inter" pitchFamily="34" charset="-122"/>
                <a:cs typeface="Inter" pitchFamily="34" charset="-120"/>
              </a:rPr>
              <a:t>simple UX with powerful, actionable insights.</a:t>
            </a:r>
            <a:r>
              <a:rPr lang="en-US" sz="1750" dirty="0">
                <a:solidFill>
                  <a:srgbClr val="2A2742"/>
                </a:solidFill>
                <a:latin typeface="Inter" pitchFamily="34" charset="0"/>
                <a:ea typeface="Inter" pitchFamily="34" charset="-122"/>
                <a:cs typeface="Inter" pitchFamily="34" charset="-120"/>
              </a:rPr>
              <a:t> Most apps either prioritised complexity or overly basic functionality.</a:t>
            </a:r>
            <a:endParaRPr lang="en-US" sz="1750" dirty="0"/>
          </a:p>
        </p:txBody>
      </p:sp>
      <p:sp>
        <p:nvSpPr>
          <p:cNvPr id="31" name="Shape 29"/>
          <p:cNvSpPr/>
          <p:nvPr/>
        </p:nvSpPr>
        <p:spPr>
          <a:xfrm>
            <a:off x="754492" y="6717148"/>
            <a:ext cx="30480" cy="1236107"/>
          </a:xfrm>
          <a:prstGeom prst="rect">
            <a:avLst/>
          </a:prstGeom>
          <a:solidFill>
            <a:srgbClr val="5E4CE6"/>
          </a:solidFill>
          <a:ln/>
        </p:spPr>
      </p:sp>
      <p:sp>
        <p:nvSpPr>
          <p:cNvPr id="38" name="Shape 22">
            <a:extLst>
              <a:ext uri="{FF2B5EF4-FFF2-40B4-BE49-F238E27FC236}">
                <a16:creationId xmlns:a16="http://schemas.microsoft.com/office/drawing/2014/main" id="{A1950B78-3153-9836-0184-C3D34BB9A118}"/>
              </a:ext>
            </a:extLst>
          </p:cNvPr>
          <p:cNvSpPr/>
          <p:nvPr/>
        </p:nvSpPr>
        <p:spPr>
          <a:xfrm>
            <a:off x="809030" y="3178713"/>
            <a:ext cx="13027581" cy="650319"/>
          </a:xfrm>
          <a:prstGeom prst="rect">
            <a:avLst/>
          </a:prstGeom>
          <a:solidFill>
            <a:srgbClr val="000000">
              <a:alpha val="4000"/>
            </a:srgbClr>
          </a:solidFill>
          <a:ln/>
        </p:spPr>
        <p:txBody>
          <a:bodyPr/>
          <a:lstStyle/>
          <a:p>
            <a:endParaRPr lang="en-IN" dirty="0"/>
          </a:p>
        </p:txBody>
      </p:sp>
      <p:sp>
        <p:nvSpPr>
          <p:cNvPr id="40" name="Text 17">
            <a:extLst>
              <a:ext uri="{FF2B5EF4-FFF2-40B4-BE49-F238E27FC236}">
                <a16:creationId xmlns:a16="http://schemas.microsoft.com/office/drawing/2014/main" id="{9CDB719A-F589-3C20-55E1-B65DE008E691}"/>
              </a:ext>
            </a:extLst>
          </p:cNvPr>
          <p:cNvSpPr/>
          <p:nvPr/>
        </p:nvSpPr>
        <p:spPr>
          <a:xfrm>
            <a:off x="1125241" y="3372990"/>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Features</a:t>
            </a:r>
            <a:endParaRPr lang="en-US" sz="1750" b="1" dirty="0">
              <a:solidFill>
                <a:srgbClr val="4B0082"/>
              </a:solidFill>
            </a:endParaRPr>
          </a:p>
        </p:txBody>
      </p:sp>
      <p:sp>
        <p:nvSpPr>
          <p:cNvPr id="41" name="Text 6">
            <a:extLst>
              <a:ext uri="{FF2B5EF4-FFF2-40B4-BE49-F238E27FC236}">
                <a16:creationId xmlns:a16="http://schemas.microsoft.com/office/drawing/2014/main" id="{4F778F0C-DA77-2141-049D-58A63CC6596F}"/>
              </a:ext>
            </a:extLst>
          </p:cNvPr>
          <p:cNvSpPr/>
          <p:nvPr/>
        </p:nvSpPr>
        <p:spPr>
          <a:xfrm>
            <a:off x="5004278" y="3367166"/>
            <a:ext cx="1492806"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Walnut</a:t>
            </a:r>
            <a:endParaRPr lang="en-US" sz="1750" b="1" dirty="0">
              <a:solidFill>
                <a:srgbClr val="4B0082"/>
              </a:solidFill>
            </a:endParaRPr>
          </a:p>
        </p:txBody>
      </p:sp>
      <p:sp>
        <p:nvSpPr>
          <p:cNvPr id="42" name="Text 7">
            <a:extLst>
              <a:ext uri="{FF2B5EF4-FFF2-40B4-BE49-F238E27FC236}">
                <a16:creationId xmlns:a16="http://schemas.microsoft.com/office/drawing/2014/main" id="{8F8B10E5-F779-E1F0-D79A-21C3E0D23E72}"/>
              </a:ext>
            </a:extLst>
          </p:cNvPr>
          <p:cNvSpPr/>
          <p:nvPr/>
        </p:nvSpPr>
        <p:spPr>
          <a:xfrm>
            <a:off x="6880447" y="3332174"/>
            <a:ext cx="1492806"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Money Manager</a:t>
            </a:r>
            <a:endParaRPr lang="en-US" sz="1750" b="1" dirty="0">
              <a:solidFill>
                <a:srgbClr val="4B0082"/>
              </a:solidFill>
            </a:endParaRPr>
          </a:p>
        </p:txBody>
      </p:sp>
      <p:sp>
        <p:nvSpPr>
          <p:cNvPr id="43" name="Text 26">
            <a:extLst>
              <a:ext uri="{FF2B5EF4-FFF2-40B4-BE49-F238E27FC236}">
                <a16:creationId xmlns:a16="http://schemas.microsoft.com/office/drawing/2014/main" id="{DADE04C1-C387-A19D-22EB-816CB9466B58}"/>
              </a:ext>
            </a:extLst>
          </p:cNvPr>
          <p:cNvSpPr/>
          <p:nvPr/>
        </p:nvSpPr>
        <p:spPr>
          <a:xfrm>
            <a:off x="8801502" y="3359761"/>
            <a:ext cx="1492806" cy="362903"/>
          </a:xfrm>
          <a:prstGeom prst="rect">
            <a:avLst/>
          </a:prstGeom>
          <a:noFill/>
          <a:ln/>
        </p:spPr>
        <p:txBody>
          <a:bodyPr wrap="none" lIns="0" tIns="0" rIns="0" bIns="0" rtlCol="0" anchor="t"/>
          <a:lstStyle/>
          <a:p>
            <a:pPr marL="0" indent="0" algn="l">
              <a:lnSpc>
                <a:spcPts val="2850"/>
              </a:lnSpc>
              <a:buNone/>
            </a:pPr>
            <a:r>
              <a:rPr lang="en-US" sz="1750" b="1" dirty="0" err="1">
                <a:solidFill>
                  <a:srgbClr val="4B0082"/>
                </a:solidFill>
                <a:latin typeface="Inter" pitchFamily="34" charset="0"/>
                <a:ea typeface="Inter" pitchFamily="34" charset="-122"/>
              </a:rPr>
              <a:t>Spendee</a:t>
            </a:r>
            <a:endParaRPr lang="en-US" sz="1750" b="1" dirty="0">
              <a:solidFill>
                <a:srgbClr val="4B0082"/>
              </a:solidFill>
            </a:endParaRPr>
          </a:p>
        </p:txBody>
      </p:sp>
      <p:sp>
        <p:nvSpPr>
          <p:cNvPr id="44" name="Text 9">
            <a:extLst>
              <a:ext uri="{FF2B5EF4-FFF2-40B4-BE49-F238E27FC236}">
                <a16:creationId xmlns:a16="http://schemas.microsoft.com/office/drawing/2014/main" id="{5FBC346A-5E96-D94A-AC51-3BA55EC3D6DD}"/>
              </a:ext>
            </a:extLst>
          </p:cNvPr>
          <p:cNvSpPr/>
          <p:nvPr/>
        </p:nvSpPr>
        <p:spPr>
          <a:xfrm>
            <a:off x="10789725" y="3322420"/>
            <a:ext cx="2799397" cy="362903"/>
          </a:xfrm>
          <a:prstGeom prst="rect">
            <a:avLst/>
          </a:prstGeom>
          <a:noFill/>
          <a:ln/>
        </p:spPr>
        <p:txBody>
          <a:bodyPr wrap="none" lIns="0" tIns="0" rIns="0" bIns="0" rtlCol="0" anchor="t"/>
          <a:lstStyle/>
          <a:p>
            <a:pPr marL="0" indent="0" algn="l">
              <a:lnSpc>
                <a:spcPts val="2850"/>
              </a:lnSpc>
              <a:buNone/>
            </a:pPr>
            <a:r>
              <a:rPr lang="en-US" sz="1750" b="1" dirty="0">
                <a:solidFill>
                  <a:srgbClr val="4B0082"/>
                </a:solidFill>
                <a:latin typeface="Inter" pitchFamily="34" charset="0"/>
                <a:ea typeface="Inter" pitchFamily="34" charset="-122"/>
              </a:rPr>
              <a:t>Spend Smart</a:t>
            </a:r>
            <a:endParaRPr lang="en-US" sz="1750" b="1" dirty="0">
              <a:solidFill>
                <a:srgbClr val="4B008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3652" y="507325"/>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EMPATHISE STAGE</a:t>
            </a:r>
            <a:endParaRPr lang="en-US" sz="1800" dirty="0"/>
          </a:p>
        </p:txBody>
      </p:sp>
      <p:sp>
        <p:nvSpPr>
          <p:cNvPr id="3" name="Text 1"/>
          <p:cNvSpPr/>
          <p:nvPr/>
        </p:nvSpPr>
        <p:spPr>
          <a:xfrm>
            <a:off x="643652" y="868085"/>
            <a:ext cx="6500693" cy="459700"/>
          </a:xfrm>
          <a:prstGeom prst="rect">
            <a:avLst/>
          </a:prstGeom>
          <a:noFill/>
          <a:ln/>
        </p:spPr>
        <p:txBody>
          <a:bodyPr wrap="none" lIns="0" tIns="0" rIns="0" bIns="0" rtlCol="0" anchor="t"/>
          <a:lstStyle/>
          <a:p>
            <a:pPr marL="0" indent="0" algn="l">
              <a:lnSpc>
                <a:spcPts val="3600"/>
              </a:lnSpc>
              <a:buNone/>
            </a:pPr>
            <a:r>
              <a:rPr lang="en-US" sz="2850" b="1" dirty="0">
                <a:solidFill>
                  <a:srgbClr val="231971"/>
                </a:solidFill>
                <a:latin typeface="Inter Bold" pitchFamily="34" charset="0"/>
                <a:ea typeface="Inter Bold" pitchFamily="34" charset="-122"/>
                <a:cs typeface="Inter Bold" pitchFamily="34" charset="-120"/>
              </a:rPr>
              <a:t>SWOT Analysis for Product Strategy</a:t>
            </a:r>
            <a:endParaRPr lang="en-US" sz="2850" dirty="0"/>
          </a:p>
        </p:txBody>
      </p:sp>
      <p:sp>
        <p:nvSpPr>
          <p:cNvPr id="4" name="Text 2"/>
          <p:cNvSpPr/>
          <p:nvPr/>
        </p:nvSpPr>
        <p:spPr>
          <a:xfrm>
            <a:off x="643652" y="1603653"/>
            <a:ext cx="13343096" cy="294323"/>
          </a:xfrm>
          <a:prstGeom prst="rect">
            <a:avLst/>
          </a:prstGeom>
          <a:noFill/>
          <a:ln/>
        </p:spPr>
        <p:txBody>
          <a:bodyPr wrap="none" lIns="0" tIns="0" rIns="0" bIns="0" rtlCol="0" anchor="t"/>
          <a:lstStyle/>
          <a:p>
            <a:pPr marL="0" indent="0" algn="l">
              <a:lnSpc>
                <a:spcPts val="2300"/>
              </a:lnSpc>
              <a:buNone/>
            </a:pPr>
            <a:r>
              <a:rPr lang="en-US" sz="1400" dirty="0">
                <a:solidFill>
                  <a:srgbClr val="2A2742"/>
                </a:solidFill>
                <a:latin typeface="Inter" pitchFamily="34" charset="0"/>
                <a:ea typeface="Inter" pitchFamily="34" charset="-122"/>
                <a:cs typeface="Inter" pitchFamily="34" charset="-120"/>
              </a:rPr>
              <a:t>Assessing internal and external factors helped define our strategic positioning in a competitive market.</a:t>
            </a:r>
            <a:endParaRPr lang="en-US" sz="1400" dirty="0"/>
          </a:p>
        </p:txBody>
      </p:sp>
      <p:sp>
        <p:nvSpPr>
          <p:cNvPr id="5" name="Text 3"/>
          <p:cNvSpPr/>
          <p:nvPr/>
        </p:nvSpPr>
        <p:spPr>
          <a:xfrm>
            <a:off x="643652" y="228861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S</a:t>
            </a:r>
            <a:endParaRPr lang="en-US" sz="7200" dirty="0"/>
          </a:p>
        </p:txBody>
      </p:sp>
      <p:sp>
        <p:nvSpPr>
          <p:cNvPr id="6" name="Text 4"/>
          <p:cNvSpPr/>
          <p:nvPr/>
        </p:nvSpPr>
        <p:spPr>
          <a:xfrm>
            <a:off x="643652" y="362176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Strengths</a:t>
            </a:r>
            <a:endParaRPr lang="en-US" sz="1800" dirty="0"/>
          </a:p>
        </p:txBody>
      </p:sp>
      <p:sp>
        <p:nvSpPr>
          <p:cNvPr id="7" name="Text 5"/>
          <p:cNvSpPr/>
          <p:nvPr/>
        </p:nvSpPr>
        <p:spPr>
          <a:xfrm>
            <a:off x="643652" y="4092893"/>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Intuitive interface and fast expense entry</a:t>
            </a:r>
            <a:endParaRPr lang="en-US" sz="1400" dirty="0"/>
          </a:p>
        </p:txBody>
      </p:sp>
      <p:sp>
        <p:nvSpPr>
          <p:cNvPr id="8" name="Text 6"/>
          <p:cNvSpPr/>
          <p:nvPr/>
        </p:nvSpPr>
        <p:spPr>
          <a:xfrm>
            <a:off x="643652" y="4451509"/>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Strong focus on data privacy</a:t>
            </a:r>
            <a:endParaRPr lang="en-US" sz="1400" dirty="0"/>
          </a:p>
        </p:txBody>
      </p:sp>
      <p:sp>
        <p:nvSpPr>
          <p:cNvPr id="9" name="Text 7"/>
          <p:cNvSpPr/>
          <p:nvPr/>
        </p:nvSpPr>
        <p:spPr>
          <a:xfrm>
            <a:off x="7547134" y="228861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W</a:t>
            </a:r>
            <a:endParaRPr lang="en-US" sz="7200" dirty="0"/>
          </a:p>
        </p:txBody>
      </p:sp>
      <p:sp>
        <p:nvSpPr>
          <p:cNvPr id="10" name="Text 8"/>
          <p:cNvSpPr/>
          <p:nvPr/>
        </p:nvSpPr>
        <p:spPr>
          <a:xfrm>
            <a:off x="7547134" y="362176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Weaknesses</a:t>
            </a:r>
            <a:endParaRPr lang="en-US" sz="1800" dirty="0"/>
          </a:p>
        </p:txBody>
      </p:sp>
      <p:sp>
        <p:nvSpPr>
          <p:cNvPr id="11" name="Text 9"/>
          <p:cNvSpPr/>
          <p:nvPr/>
        </p:nvSpPr>
        <p:spPr>
          <a:xfrm>
            <a:off x="7547134" y="4092893"/>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Initial low brand recognition</a:t>
            </a:r>
            <a:endParaRPr lang="en-US" sz="1400" dirty="0"/>
          </a:p>
        </p:txBody>
      </p:sp>
      <p:sp>
        <p:nvSpPr>
          <p:cNvPr id="12" name="Text 10"/>
          <p:cNvSpPr/>
          <p:nvPr/>
        </p:nvSpPr>
        <p:spPr>
          <a:xfrm>
            <a:off x="7547134" y="4451509"/>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Reliance on third-party bank integration APIs</a:t>
            </a:r>
            <a:endParaRPr lang="en-US" sz="1400" dirty="0"/>
          </a:p>
        </p:txBody>
      </p:sp>
      <p:sp>
        <p:nvSpPr>
          <p:cNvPr id="13" name="Text 11"/>
          <p:cNvSpPr/>
          <p:nvPr/>
        </p:nvSpPr>
        <p:spPr>
          <a:xfrm>
            <a:off x="643652" y="520076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O</a:t>
            </a:r>
            <a:endParaRPr lang="en-US" sz="7200" dirty="0"/>
          </a:p>
        </p:txBody>
      </p:sp>
      <p:sp>
        <p:nvSpPr>
          <p:cNvPr id="14" name="Text 12"/>
          <p:cNvSpPr/>
          <p:nvPr/>
        </p:nvSpPr>
        <p:spPr>
          <a:xfrm>
            <a:off x="643652" y="653391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Opportunities</a:t>
            </a:r>
            <a:endParaRPr lang="en-US" sz="1800" dirty="0"/>
          </a:p>
        </p:txBody>
      </p:sp>
      <p:sp>
        <p:nvSpPr>
          <p:cNvPr id="15" name="Text 13"/>
          <p:cNvSpPr/>
          <p:nvPr/>
        </p:nvSpPr>
        <p:spPr>
          <a:xfrm>
            <a:off x="643652" y="7005042"/>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Expand into investment tracking features</a:t>
            </a:r>
            <a:endParaRPr lang="en-US" sz="1400" dirty="0"/>
          </a:p>
        </p:txBody>
      </p:sp>
      <p:sp>
        <p:nvSpPr>
          <p:cNvPr id="16" name="Text 14"/>
          <p:cNvSpPr/>
          <p:nvPr/>
        </p:nvSpPr>
        <p:spPr>
          <a:xfrm>
            <a:off x="643652" y="7363658"/>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Target B2B expense management market</a:t>
            </a:r>
            <a:endParaRPr lang="en-US" sz="1400" dirty="0"/>
          </a:p>
        </p:txBody>
      </p:sp>
      <p:sp>
        <p:nvSpPr>
          <p:cNvPr id="17" name="Text 15"/>
          <p:cNvSpPr/>
          <p:nvPr/>
        </p:nvSpPr>
        <p:spPr>
          <a:xfrm>
            <a:off x="7547134" y="5200769"/>
            <a:ext cx="6447234" cy="1149310"/>
          </a:xfrm>
          <a:prstGeom prst="rect">
            <a:avLst/>
          </a:prstGeom>
          <a:noFill/>
          <a:ln/>
        </p:spPr>
        <p:txBody>
          <a:bodyPr wrap="none" lIns="0" tIns="0" rIns="0" bIns="0" rtlCol="0" anchor="t"/>
          <a:lstStyle/>
          <a:p>
            <a:pPr marL="0" indent="0" algn="l">
              <a:lnSpc>
                <a:spcPts val="9050"/>
              </a:lnSpc>
              <a:buNone/>
            </a:pPr>
            <a:r>
              <a:rPr lang="en-US" sz="7200" b="1" dirty="0">
                <a:solidFill>
                  <a:srgbClr val="231971"/>
                </a:solidFill>
                <a:latin typeface="Inter Bold" pitchFamily="34" charset="0"/>
                <a:ea typeface="Inter Bold" pitchFamily="34" charset="-122"/>
                <a:cs typeface="Inter Bold" pitchFamily="34" charset="-120"/>
              </a:rPr>
              <a:t>T</a:t>
            </a:r>
            <a:endParaRPr lang="en-US" sz="7200" dirty="0"/>
          </a:p>
        </p:txBody>
      </p:sp>
      <p:sp>
        <p:nvSpPr>
          <p:cNvPr id="18" name="Text 16"/>
          <p:cNvSpPr/>
          <p:nvPr/>
        </p:nvSpPr>
        <p:spPr>
          <a:xfrm>
            <a:off x="7547134" y="6533912"/>
            <a:ext cx="2298859" cy="287298"/>
          </a:xfrm>
          <a:prstGeom prst="rect">
            <a:avLst/>
          </a:prstGeom>
          <a:noFill/>
          <a:ln/>
        </p:spPr>
        <p:txBody>
          <a:bodyPr wrap="none" lIns="0" tIns="0" rIns="0" bIns="0" rtlCol="0" anchor="t"/>
          <a:lstStyle/>
          <a:p>
            <a:pPr marL="0" indent="0" algn="l">
              <a:lnSpc>
                <a:spcPts val="2250"/>
              </a:lnSpc>
              <a:buNone/>
            </a:pPr>
            <a:r>
              <a:rPr lang="en-US" sz="1800" b="1" dirty="0">
                <a:solidFill>
                  <a:srgbClr val="231971"/>
                </a:solidFill>
                <a:latin typeface="Inter Bold" pitchFamily="34" charset="0"/>
                <a:ea typeface="Inter Bold" pitchFamily="34" charset="-122"/>
                <a:cs typeface="Inter Bold" pitchFamily="34" charset="-120"/>
              </a:rPr>
              <a:t>Threats</a:t>
            </a:r>
            <a:endParaRPr lang="en-US" sz="1800" dirty="0"/>
          </a:p>
        </p:txBody>
      </p:sp>
      <p:sp>
        <p:nvSpPr>
          <p:cNvPr id="19" name="Text 17"/>
          <p:cNvSpPr/>
          <p:nvPr/>
        </p:nvSpPr>
        <p:spPr>
          <a:xfrm>
            <a:off x="7547134" y="7005042"/>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Rapid evolution of FinTech competitors</a:t>
            </a:r>
            <a:endParaRPr lang="en-US" sz="1400" dirty="0"/>
          </a:p>
        </p:txBody>
      </p:sp>
      <p:sp>
        <p:nvSpPr>
          <p:cNvPr id="20" name="Text 18"/>
          <p:cNvSpPr/>
          <p:nvPr/>
        </p:nvSpPr>
        <p:spPr>
          <a:xfrm>
            <a:off x="7547134" y="7363658"/>
            <a:ext cx="6447234" cy="294323"/>
          </a:xfrm>
          <a:prstGeom prst="rect">
            <a:avLst/>
          </a:prstGeom>
          <a:noFill/>
          <a:ln/>
        </p:spPr>
        <p:txBody>
          <a:bodyPr wrap="none" lIns="0" tIns="0" rIns="0" bIns="0" rtlCol="0" anchor="t"/>
          <a:lstStyle/>
          <a:p>
            <a:pPr marL="342900" indent="-342900" algn="l">
              <a:lnSpc>
                <a:spcPts val="2300"/>
              </a:lnSpc>
              <a:buSzPct val="100000"/>
              <a:buChar char="•"/>
            </a:pPr>
            <a:r>
              <a:rPr lang="en-US" sz="1400" dirty="0">
                <a:solidFill>
                  <a:srgbClr val="2A2742"/>
                </a:solidFill>
                <a:latin typeface="Inter" pitchFamily="34" charset="0"/>
                <a:ea typeface="Inter" pitchFamily="34" charset="-122"/>
                <a:cs typeface="Inter" pitchFamily="34" charset="-120"/>
              </a:rPr>
              <a:t>Changing financial regulations and compliance issues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2331" y="433983"/>
            <a:ext cx="2367439" cy="295870"/>
          </a:xfrm>
          <a:prstGeom prst="rect">
            <a:avLst/>
          </a:prstGeom>
          <a:noFill/>
          <a:ln/>
        </p:spPr>
        <p:txBody>
          <a:bodyPr wrap="none" lIns="0" tIns="0" rIns="0" bIns="0" rtlCol="0" anchor="t"/>
          <a:lstStyle/>
          <a:p>
            <a:pPr marL="0" indent="0" algn="l">
              <a:lnSpc>
                <a:spcPts val="2300"/>
              </a:lnSpc>
              <a:buNone/>
            </a:pPr>
            <a:r>
              <a:rPr lang="en-US" sz="1850" b="1" dirty="0">
                <a:solidFill>
                  <a:srgbClr val="231971"/>
                </a:solidFill>
                <a:latin typeface="Inter Bold" pitchFamily="34" charset="0"/>
                <a:ea typeface="Inter Bold" pitchFamily="34" charset="-122"/>
                <a:cs typeface="Inter Bold" pitchFamily="34" charset="-120"/>
              </a:rPr>
              <a:t>DEFINE</a:t>
            </a:r>
            <a:endParaRPr lang="en-US" sz="1850" dirty="0"/>
          </a:p>
        </p:txBody>
      </p:sp>
      <p:sp>
        <p:nvSpPr>
          <p:cNvPr id="3" name="Text 1"/>
          <p:cNvSpPr/>
          <p:nvPr/>
        </p:nvSpPr>
        <p:spPr>
          <a:xfrm>
            <a:off x="552331" y="792956"/>
            <a:ext cx="7963019" cy="394454"/>
          </a:xfrm>
          <a:prstGeom prst="rect">
            <a:avLst/>
          </a:prstGeom>
          <a:noFill/>
          <a:ln/>
        </p:spPr>
        <p:txBody>
          <a:bodyPr wrap="none" lIns="0" tIns="0" rIns="0" bIns="0" rtlCol="0" anchor="t"/>
          <a:lstStyle/>
          <a:p>
            <a:pPr marL="0" indent="0" algn="l">
              <a:lnSpc>
                <a:spcPts val="3100"/>
              </a:lnSpc>
              <a:buNone/>
            </a:pPr>
            <a:r>
              <a:rPr lang="en-US" sz="2450" b="1" dirty="0">
                <a:solidFill>
                  <a:srgbClr val="231971"/>
                </a:solidFill>
                <a:latin typeface="Inter Bold" pitchFamily="34" charset="0"/>
                <a:ea typeface="Inter Bold" pitchFamily="34" charset="-122"/>
                <a:cs typeface="Inter Bold" pitchFamily="34" charset="-120"/>
              </a:rPr>
              <a:t>User Persona: Meet Wanda, The Prudent Professional</a:t>
            </a:r>
            <a:endParaRPr lang="en-US" sz="2450" dirty="0"/>
          </a:p>
        </p:txBody>
      </p:sp>
      <p:sp>
        <p:nvSpPr>
          <p:cNvPr id="5" name="Text 2"/>
          <p:cNvSpPr/>
          <p:nvPr/>
        </p:nvSpPr>
        <p:spPr>
          <a:xfrm>
            <a:off x="552331" y="5567243"/>
            <a:ext cx="2367439" cy="295870"/>
          </a:xfrm>
          <a:prstGeom prst="rect">
            <a:avLst/>
          </a:prstGeom>
          <a:noFill/>
          <a:ln/>
        </p:spPr>
        <p:txBody>
          <a:bodyPr wrap="none" lIns="0" tIns="0" rIns="0" bIns="0" rtlCol="0" anchor="t"/>
          <a:lstStyle/>
          <a:p>
            <a:pPr marL="0" indent="0" algn="l">
              <a:lnSpc>
                <a:spcPts val="2300"/>
              </a:lnSpc>
              <a:buNone/>
            </a:pPr>
            <a:r>
              <a:rPr lang="en-US" sz="1850" b="1" dirty="0">
                <a:solidFill>
                  <a:srgbClr val="231971"/>
                </a:solidFill>
                <a:latin typeface="Inter Bold" pitchFamily="34" charset="0"/>
                <a:ea typeface="Inter Bold" pitchFamily="34" charset="-122"/>
                <a:cs typeface="Inter Bold" pitchFamily="34" charset="-120"/>
              </a:rPr>
              <a:t>Wanda , 28</a:t>
            </a:r>
            <a:endParaRPr lang="en-US" sz="1850" dirty="0"/>
          </a:p>
        </p:txBody>
      </p:sp>
      <p:sp>
        <p:nvSpPr>
          <p:cNvPr id="6" name="Text 3"/>
          <p:cNvSpPr/>
          <p:nvPr/>
        </p:nvSpPr>
        <p:spPr>
          <a:xfrm>
            <a:off x="552331" y="6020872"/>
            <a:ext cx="3788093" cy="252532"/>
          </a:xfrm>
          <a:prstGeom prst="rect">
            <a:avLst/>
          </a:prstGeom>
          <a:noFill/>
          <a:ln/>
        </p:spPr>
        <p:txBody>
          <a:bodyPr wrap="non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Job:</a:t>
            </a:r>
            <a:r>
              <a:rPr lang="en-US" sz="1200" dirty="0">
                <a:solidFill>
                  <a:srgbClr val="2A2742"/>
                </a:solidFill>
                <a:latin typeface="Inter" pitchFamily="34" charset="0"/>
                <a:ea typeface="Inter" pitchFamily="34" charset="-122"/>
                <a:cs typeface="Inter" pitchFamily="34" charset="-120"/>
              </a:rPr>
              <a:t> Marketing Analyst (Avengers team)</a:t>
            </a:r>
            <a:endParaRPr lang="en-US" sz="1200" dirty="0"/>
          </a:p>
        </p:txBody>
      </p:sp>
      <p:sp>
        <p:nvSpPr>
          <p:cNvPr id="7" name="Text 4"/>
          <p:cNvSpPr/>
          <p:nvPr/>
        </p:nvSpPr>
        <p:spPr>
          <a:xfrm>
            <a:off x="552331" y="6415445"/>
            <a:ext cx="3788093" cy="252532"/>
          </a:xfrm>
          <a:prstGeom prst="rect">
            <a:avLst/>
          </a:prstGeom>
          <a:noFill/>
          <a:ln/>
        </p:spPr>
        <p:txBody>
          <a:bodyPr wrap="non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Location:</a:t>
            </a:r>
            <a:r>
              <a:rPr lang="en-US" sz="1200" dirty="0">
                <a:solidFill>
                  <a:srgbClr val="2A2742"/>
                </a:solidFill>
                <a:latin typeface="Inter" pitchFamily="34" charset="0"/>
                <a:ea typeface="Inter" pitchFamily="34" charset="-122"/>
                <a:cs typeface="Inter" pitchFamily="34" charset="-120"/>
              </a:rPr>
              <a:t> New York</a:t>
            </a:r>
            <a:endParaRPr lang="en-US" sz="1200" dirty="0"/>
          </a:p>
        </p:txBody>
      </p:sp>
      <p:sp>
        <p:nvSpPr>
          <p:cNvPr id="8" name="Text 5"/>
          <p:cNvSpPr/>
          <p:nvPr/>
        </p:nvSpPr>
        <p:spPr>
          <a:xfrm>
            <a:off x="552331" y="6810018"/>
            <a:ext cx="3788093" cy="1262658"/>
          </a:xfrm>
          <a:prstGeom prst="rect">
            <a:avLst/>
          </a:prstGeom>
          <a:noFill/>
          <a:ln/>
        </p:spPr>
        <p:txBody>
          <a:bodyPr wrap="square" lIns="0" tIns="0" rIns="0" bIns="0" rtlCol="0" anchor="t"/>
          <a:lstStyle/>
          <a:p>
            <a:pPr marL="0" indent="0" algn="l">
              <a:lnSpc>
                <a:spcPts val="1950"/>
              </a:lnSpc>
              <a:buNone/>
            </a:pPr>
            <a:r>
              <a:rPr lang="en-US" sz="1200" b="1" dirty="0">
                <a:solidFill>
                  <a:srgbClr val="2A2742"/>
                </a:solidFill>
                <a:latin typeface="Inter" pitchFamily="34" charset="0"/>
                <a:ea typeface="Inter" pitchFamily="34" charset="-122"/>
                <a:cs typeface="Inter" pitchFamily="34" charset="-120"/>
              </a:rPr>
              <a:t>Bio:</a:t>
            </a:r>
            <a:r>
              <a:rPr lang="en-US" sz="1200" dirty="0">
                <a:solidFill>
                  <a:srgbClr val="2A2742"/>
                </a:solidFill>
                <a:latin typeface="Inter" pitchFamily="34" charset="0"/>
                <a:ea typeface="Inter" pitchFamily="34" charset="-122"/>
                <a:cs typeface="Inter" pitchFamily="34" charset="-120"/>
              </a:rPr>
              <a:t> Wanda is ambitious and enjoys city life, but she wants to be financially responsible. She often loses track of small daily expenses like coffee and cab fares, making her end-of-month saving goal unreachable.</a:t>
            </a:r>
            <a:endParaRPr lang="en-US" sz="1200" dirty="0"/>
          </a:p>
        </p:txBody>
      </p:sp>
      <p:sp>
        <p:nvSpPr>
          <p:cNvPr id="9" name="Shape 6"/>
          <p:cNvSpPr/>
          <p:nvPr/>
        </p:nvSpPr>
        <p:spPr>
          <a:xfrm>
            <a:off x="4733092" y="1601629"/>
            <a:ext cx="9352478" cy="1633418"/>
          </a:xfrm>
          <a:prstGeom prst="roundRect">
            <a:avLst>
              <a:gd name="adj" fmla="val 8697"/>
            </a:avLst>
          </a:prstGeom>
          <a:solidFill>
            <a:srgbClr val="FAFAFA">
              <a:alpha val="95000"/>
            </a:srgbClr>
          </a:solidFill>
          <a:ln w="22860">
            <a:solidFill>
              <a:srgbClr val="D4CECE"/>
            </a:solidFill>
            <a:prstDash val="solid"/>
          </a:ln>
          <a:effectLst>
            <a:outerShdw blurRad="236220" algn="bl" rotWithShape="0">
              <a:srgbClr val="333333">
                <a:alpha val="10000"/>
              </a:srgbClr>
            </a:outerShdw>
          </a:effectLst>
        </p:spPr>
      </p:sp>
      <p:sp>
        <p:nvSpPr>
          <p:cNvPr id="10" name="Shape 7"/>
          <p:cNvSpPr/>
          <p:nvPr/>
        </p:nvSpPr>
        <p:spPr>
          <a:xfrm>
            <a:off x="4755952" y="1624489"/>
            <a:ext cx="631269" cy="1587698"/>
          </a:xfrm>
          <a:prstGeom prst="roundRect">
            <a:avLst>
              <a:gd name="adj" fmla="val 18157"/>
            </a:avLst>
          </a:prstGeom>
          <a:solidFill>
            <a:srgbClr val="FAFAFA"/>
          </a:solidFill>
          <a:ln/>
          <a:effectLst>
            <a:outerShdw blurRad="236220" algn="bl" rotWithShape="0">
              <a:srgbClr val="333333">
                <a:alpha val="10000"/>
              </a:srgbClr>
            </a:outerShdw>
          </a:effectLst>
        </p:spPr>
      </p:sp>
      <p:pic>
        <p:nvPicPr>
          <p:cNvPr id="11" name="Image 1" descr="preencoded.png"/>
          <p:cNvPicPr>
            <a:picLocks noChangeAspect="1"/>
          </p:cNvPicPr>
          <p:nvPr/>
        </p:nvPicPr>
        <p:blipFill>
          <a:blip r:embed="rId3"/>
          <a:stretch>
            <a:fillRect/>
          </a:stretch>
        </p:blipFill>
        <p:spPr>
          <a:xfrm>
            <a:off x="4953238" y="2270403"/>
            <a:ext cx="236696" cy="295870"/>
          </a:xfrm>
          <a:prstGeom prst="rect">
            <a:avLst/>
          </a:prstGeom>
        </p:spPr>
      </p:pic>
      <p:sp>
        <p:nvSpPr>
          <p:cNvPr id="12" name="Text 8"/>
          <p:cNvSpPr/>
          <p:nvPr/>
        </p:nvSpPr>
        <p:spPr>
          <a:xfrm>
            <a:off x="5544979" y="1782247"/>
            <a:ext cx="1972866" cy="246578"/>
          </a:xfrm>
          <a:prstGeom prst="rect">
            <a:avLst/>
          </a:prstGeom>
          <a:noFill/>
          <a:ln/>
        </p:spPr>
        <p:txBody>
          <a:bodyPr wrap="none" lIns="0" tIns="0" rIns="0" bIns="0" rtlCol="0" anchor="t"/>
          <a:lstStyle/>
          <a:p>
            <a:pPr marL="0" indent="0" algn="l">
              <a:lnSpc>
                <a:spcPts val="1900"/>
              </a:lnSpc>
              <a:buNone/>
            </a:pPr>
            <a:r>
              <a:rPr lang="en-US" sz="1550" b="1" dirty="0">
                <a:solidFill>
                  <a:srgbClr val="2A2742"/>
                </a:solidFill>
                <a:latin typeface="Inter Bold" pitchFamily="34" charset="0"/>
                <a:ea typeface="Inter Bold" pitchFamily="34" charset="-122"/>
                <a:cs typeface="Inter Bold" pitchFamily="34" charset="-120"/>
              </a:rPr>
              <a:t>Goals</a:t>
            </a:r>
            <a:endParaRPr lang="en-US" sz="1550" dirty="0"/>
          </a:p>
        </p:txBody>
      </p:sp>
      <p:sp>
        <p:nvSpPr>
          <p:cNvPr id="13" name="Text 9"/>
          <p:cNvSpPr/>
          <p:nvPr/>
        </p:nvSpPr>
        <p:spPr>
          <a:xfrm>
            <a:off x="5544979" y="2186583"/>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Save ₹20,000 per month consistently.</a:t>
            </a:r>
            <a:endParaRPr lang="en-US" sz="1200" dirty="0"/>
          </a:p>
        </p:txBody>
      </p:sp>
      <p:sp>
        <p:nvSpPr>
          <p:cNvPr id="14" name="Text 10"/>
          <p:cNvSpPr/>
          <p:nvPr/>
        </p:nvSpPr>
        <p:spPr>
          <a:xfrm>
            <a:off x="5544979" y="2494240"/>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Track all expenses automatically without manual input.</a:t>
            </a:r>
            <a:endParaRPr lang="en-US" sz="1200" dirty="0"/>
          </a:p>
        </p:txBody>
      </p:sp>
      <p:sp>
        <p:nvSpPr>
          <p:cNvPr id="15" name="Text 11"/>
          <p:cNvSpPr/>
          <p:nvPr/>
        </p:nvSpPr>
        <p:spPr>
          <a:xfrm>
            <a:off x="5544979" y="2801898"/>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Understand where her money is truly going.</a:t>
            </a:r>
            <a:endParaRPr lang="en-US" sz="1200" dirty="0"/>
          </a:p>
        </p:txBody>
      </p:sp>
      <p:sp>
        <p:nvSpPr>
          <p:cNvPr id="16" name="Shape 12"/>
          <p:cNvSpPr/>
          <p:nvPr/>
        </p:nvSpPr>
        <p:spPr>
          <a:xfrm>
            <a:off x="4733092" y="3392805"/>
            <a:ext cx="9352478" cy="1633418"/>
          </a:xfrm>
          <a:prstGeom prst="roundRect">
            <a:avLst>
              <a:gd name="adj" fmla="val 8697"/>
            </a:avLst>
          </a:prstGeom>
          <a:solidFill>
            <a:srgbClr val="FAFAFA">
              <a:alpha val="95000"/>
            </a:srgbClr>
          </a:solidFill>
          <a:ln w="22860">
            <a:solidFill>
              <a:srgbClr val="D4CECE"/>
            </a:solidFill>
            <a:prstDash val="solid"/>
          </a:ln>
          <a:effectLst>
            <a:outerShdw blurRad="236220" algn="bl" rotWithShape="0">
              <a:srgbClr val="333333">
                <a:alpha val="10000"/>
              </a:srgbClr>
            </a:outerShdw>
          </a:effectLst>
        </p:spPr>
      </p:sp>
      <p:sp>
        <p:nvSpPr>
          <p:cNvPr id="17" name="Shape 13"/>
          <p:cNvSpPr/>
          <p:nvPr/>
        </p:nvSpPr>
        <p:spPr>
          <a:xfrm>
            <a:off x="4755952" y="3415665"/>
            <a:ext cx="631269" cy="1587698"/>
          </a:xfrm>
          <a:prstGeom prst="roundRect">
            <a:avLst>
              <a:gd name="adj" fmla="val 18157"/>
            </a:avLst>
          </a:prstGeom>
          <a:solidFill>
            <a:srgbClr val="FAFAFA"/>
          </a:solidFill>
          <a:ln/>
          <a:effectLst>
            <a:outerShdw blurRad="236220" algn="bl" rotWithShape="0">
              <a:srgbClr val="333333">
                <a:alpha val="10000"/>
              </a:srgbClr>
            </a:outerShdw>
          </a:effectLst>
        </p:spPr>
      </p:sp>
      <p:pic>
        <p:nvPicPr>
          <p:cNvPr id="18" name="Image 2" descr="preencoded.png"/>
          <p:cNvPicPr>
            <a:picLocks noChangeAspect="1"/>
          </p:cNvPicPr>
          <p:nvPr/>
        </p:nvPicPr>
        <p:blipFill>
          <a:blip r:embed="rId4"/>
          <a:stretch>
            <a:fillRect/>
          </a:stretch>
        </p:blipFill>
        <p:spPr>
          <a:xfrm>
            <a:off x="4953238" y="4061579"/>
            <a:ext cx="236696" cy="295870"/>
          </a:xfrm>
          <a:prstGeom prst="rect">
            <a:avLst/>
          </a:prstGeom>
        </p:spPr>
      </p:pic>
      <p:sp>
        <p:nvSpPr>
          <p:cNvPr id="19" name="Text 14"/>
          <p:cNvSpPr/>
          <p:nvPr/>
        </p:nvSpPr>
        <p:spPr>
          <a:xfrm>
            <a:off x="5544979" y="3573423"/>
            <a:ext cx="1972866" cy="246578"/>
          </a:xfrm>
          <a:prstGeom prst="rect">
            <a:avLst/>
          </a:prstGeom>
          <a:noFill/>
          <a:ln/>
        </p:spPr>
        <p:txBody>
          <a:bodyPr wrap="none" lIns="0" tIns="0" rIns="0" bIns="0" rtlCol="0" anchor="t"/>
          <a:lstStyle/>
          <a:p>
            <a:pPr marL="0" indent="0" algn="l">
              <a:lnSpc>
                <a:spcPts val="1900"/>
              </a:lnSpc>
              <a:buNone/>
            </a:pPr>
            <a:r>
              <a:rPr lang="en-US" sz="1550" b="1" dirty="0">
                <a:solidFill>
                  <a:srgbClr val="2A2742"/>
                </a:solidFill>
                <a:latin typeface="Inter Bold" pitchFamily="34" charset="0"/>
                <a:ea typeface="Inter Bold" pitchFamily="34" charset="-122"/>
                <a:cs typeface="Inter Bold" pitchFamily="34" charset="-120"/>
              </a:rPr>
              <a:t>Frustrations</a:t>
            </a:r>
            <a:endParaRPr lang="en-US" sz="1550" dirty="0"/>
          </a:p>
        </p:txBody>
      </p:sp>
      <p:sp>
        <p:nvSpPr>
          <p:cNvPr id="20" name="Text 15"/>
          <p:cNvSpPr/>
          <p:nvPr/>
        </p:nvSpPr>
        <p:spPr>
          <a:xfrm>
            <a:off x="5544979" y="3977759"/>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Manual logging is too tedious and forgettable.</a:t>
            </a:r>
            <a:endParaRPr lang="en-US" sz="1200" dirty="0"/>
          </a:p>
        </p:txBody>
      </p:sp>
      <p:sp>
        <p:nvSpPr>
          <p:cNvPr id="21" name="Text 16"/>
          <p:cNvSpPr/>
          <p:nvPr/>
        </p:nvSpPr>
        <p:spPr>
          <a:xfrm>
            <a:off x="5544979" y="4285417"/>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Monthly spending reports are often too late to take corrective action.</a:t>
            </a:r>
            <a:endParaRPr lang="en-US" sz="1200" dirty="0"/>
          </a:p>
        </p:txBody>
      </p:sp>
      <p:sp>
        <p:nvSpPr>
          <p:cNvPr id="22" name="Text 17"/>
          <p:cNvSpPr/>
          <p:nvPr/>
        </p:nvSpPr>
        <p:spPr>
          <a:xfrm>
            <a:off x="5544979" y="4593074"/>
            <a:ext cx="8517731" cy="252532"/>
          </a:xfrm>
          <a:prstGeom prst="rect">
            <a:avLst/>
          </a:prstGeom>
          <a:noFill/>
          <a:ln/>
        </p:spPr>
        <p:txBody>
          <a:bodyPr wrap="none" lIns="0" tIns="0" rIns="0" bIns="0" rtlCol="0" anchor="t"/>
          <a:lstStyle/>
          <a:p>
            <a:pPr marL="342900" indent="-342900" algn="l">
              <a:lnSpc>
                <a:spcPts val="1950"/>
              </a:lnSpc>
              <a:buSzPct val="100000"/>
              <a:buChar char="•"/>
            </a:pPr>
            <a:r>
              <a:rPr lang="en-US" sz="1200" dirty="0">
                <a:solidFill>
                  <a:srgbClr val="2A2742"/>
                </a:solidFill>
                <a:latin typeface="Inter" pitchFamily="34" charset="0"/>
                <a:ea typeface="Inter" pitchFamily="34" charset="-122"/>
                <a:cs typeface="Inter" pitchFamily="34" charset="-120"/>
              </a:rPr>
              <a:t>Complex budgeting terms feel intimidating.</a:t>
            </a:r>
            <a:endParaRPr lang="en-US" sz="1200" dirty="0"/>
          </a:p>
        </p:txBody>
      </p:sp>
      <p:sp>
        <p:nvSpPr>
          <p:cNvPr id="23" name="Text 18"/>
          <p:cNvSpPr/>
          <p:nvPr/>
        </p:nvSpPr>
        <p:spPr>
          <a:xfrm>
            <a:off x="4969788" y="5203746"/>
            <a:ext cx="9115782" cy="252532"/>
          </a:xfrm>
          <a:prstGeom prst="rect">
            <a:avLst/>
          </a:prstGeom>
          <a:noFill/>
          <a:ln/>
        </p:spPr>
        <p:txBody>
          <a:bodyPr wrap="none" lIns="0" tIns="0" rIns="0" bIns="0" rtlCol="0" anchor="t"/>
          <a:lstStyle/>
          <a:p>
            <a:pPr marL="0" indent="0" algn="l">
              <a:lnSpc>
                <a:spcPts val="1950"/>
              </a:lnSpc>
              <a:buNone/>
            </a:pPr>
            <a:r>
              <a:rPr lang="en-US" sz="1200" dirty="0">
                <a:solidFill>
                  <a:srgbClr val="2A2742"/>
                </a:solidFill>
                <a:latin typeface="Inter" pitchFamily="34" charset="0"/>
                <a:ea typeface="Inter" pitchFamily="34" charset="-122"/>
                <a:cs typeface="Inter" pitchFamily="34" charset="-120"/>
              </a:rPr>
              <a:t>“I just want a simple way to see if I can afford that weekend trip without stressing about my budget.”</a:t>
            </a:r>
            <a:endParaRPr lang="en-US" sz="1200" dirty="0"/>
          </a:p>
        </p:txBody>
      </p:sp>
      <p:sp>
        <p:nvSpPr>
          <p:cNvPr id="24" name="Shape 19"/>
          <p:cNvSpPr/>
          <p:nvPr/>
        </p:nvSpPr>
        <p:spPr>
          <a:xfrm>
            <a:off x="4733092" y="5203746"/>
            <a:ext cx="22860" cy="252532"/>
          </a:xfrm>
          <a:prstGeom prst="rect">
            <a:avLst/>
          </a:prstGeom>
          <a:solidFill>
            <a:srgbClr val="5E4CE6"/>
          </a:solidFill>
          <a:ln/>
        </p:spPr>
      </p:sp>
      <p:pic>
        <p:nvPicPr>
          <p:cNvPr id="26" name="Picture 25">
            <a:extLst>
              <a:ext uri="{FF2B5EF4-FFF2-40B4-BE49-F238E27FC236}">
                <a16:creationId xmlns:a16="http://schemas.microsoft.com/office/drawing/2014/main" id="{CBF337FB-4F85-1755-4EE7-6060328982F8}"/>
              </a:ext>
            </a:extLst>
          </p:cNvPr>
          <p:cNvPicPr>
            <a:picLocks noChangeAspect="1"/>
          </p:cNvPicPr>
          <p:nvPr/>
        </p:nvPicPr>
        <p:blipFill>
          <a:blip r:embed="rId5"/>
          <a:stretch>
            <a:fillRect/>
          </a:stretch>
        </p:blipFill>
        <p:spPr>
          <a:xfrm>
            <a:off x="552331" y="1601629"/>
            <a:ext cx="3795594" cy="36021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1405" y="599242"/>
            <a:ext cx="4351139" cy="543878"/>
          </a:xfrm>
          <a:prstGeom prst="rect">
            <a:avLst/>
          </a:prstGeom>
          <a:noFill/>
          <a:ln/>
        </p:spPr>
        <p:txBody>
          <a:bodyPr wrap="none" lIns="0" tIns="0" rIns="0" bIns="0" rtlCol="0" anchor="t"/>
          <a:lstStyle/>
          <a:p>
            <a:pPr marL="0" indent="0" algn="l">
              <a:lnSpc>
                <a:spcPts val="4250"/>
              </a:lnSpc>
              <a:buNone/>
            </a:pPr>
            <a:r>
              <a:rPr lang="en-US" sz="3400" b="1" dirty="0">
                <a:solidFill>
                  <a:srgbClr val="231971"/>
                </a:solidFill>
                <a:latin typeface="Inter Bold" pitchFamily="34" charset="0"/>
                <a:ea typeface="Inter Bold" pitchFamily="34" charset="-122"/>
                <a:cs typeface="Inter Bold" pitchFamily="34" charset="-120"/>
              </a:rPr>
              <a:t>Empathy Mapping</a:t>
            </a:r>
            <a:endParaRPr lang="en-US" sz="3400" dirty="0"/>
          </a:p>
        </p:txBody>
      </p:sp>
      <p:sp>
        <p:nvSpPr>
          <p:cNvPr id="3" name="Text 1"/>
          <p:cNvSpPr/>
          <p:nvPr/>
        </p:nvSpPr>
        <p:spPr>
          <a:xfrm>
            <a:off x="761405" y="1578173"/>
            <a:ext cx="13107591" cy="348020"/>
          </a:xfrm>
          <a:prstGeom prst="rect">
            <a:avLst/>
          </a:prstGeom>
          <a:noFill/>
          <a:ln/>
        </p:spPr>
        <p:txBody>
          <a:bodyPr wrap="none" lIns="0" tIns="0" rIns="0" bIns="0" rtlCol="0" anchor="t"/>
          <a:lstStyle/>
          <a:p>
            <a:pPr marL="0" indent="0" algn="ctr">
              <a:lnSpc>
                <a:spcPts val="2700"/>
              </a:lnSpc>
              <a:buNone/>
            </a:pPr>
            <a:endParaRPr lang="en-US" sz="1700" dirty="0"/>
          </a:p>
        </p:txBody>
      </p:sp>
      <p:sp>
        <p:nvSpPr>
          <p:cNvPr id="4" name="Text 2"/>
          <p:cNvSpPr/>
          <p:nvPr/>
        </p:nvSpPr>
        <p:spPr>
          <a:xfrm>
            <a:off x="761405" y="2388394"/>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Says</a:t>
            </a:r>
            <a:endParaRPr lang="en-US" sz="2100" dirty="0"/>
          </a:p>
        </p:txBody>
      </p:sp>
      <p:sp>
        <p:nvSpPr>
          <p:cNvPr id="5" name="Text 3"/>
          <p:cNvSpPr/>
          <p:nvPr/>
        </p:nvSpPr>
        <p:spPr>
          <a:xfrm>
            <a:off x="761405" y="2945844"/>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I wish I could clearly see where my money goes each month.</a:t>
            </a:r>
            <a:endParaRPr lang="en-US" sz="1700" dirty="0"/>
          </a:p>
        </p:txBody>
      </p:sp>
      <p:sp>
        <p:nvSpPr>
          <p:cNvPr id="6" name="Text 4"/>
          <p:cNvSpPr/>
          <p:nvPr/>
        </p:nvSpPr>
        <p:spPr>
          <a:xfrm>
            <a:off x="761405" y="371796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Budgeting feels hard when expenses are unplanned.</a:t>
            </a:r>
            <a:endParaRPr lang="en-US" sz="1700" dirty="0"/>
          </a:p>
        </p:txBody>
      </p:sp>
      <p:sp>
        <p:nvSpPr>
          <p:cNvPr id="7" name="Text 5"/>
          <p:cNvSpPr/>
          <p:nvPr/>
        </p:nvSpPr>
        <p:spPr>
          <a:xfrm>
            <a:off x="761405" y="414206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I want reminders for bills and savings goals.</a:t>
            </a:r>
            <a:endParaRPr lang="en-US" sz="1700" dirty="0"/>
          </a:p>
        </p:txBody>
      </p:sp>
      <p:sp>
        <p:nvSpPr>
          <p:cNvPr id="8" name="Text 6"/>
          <p:cNvSpPr/>
          <p:nvPr/>
        </p:nvSpPr>
        <p:spPr>
          <a:xfrm>
            <a:off x="7588210" y="2388394"/>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Does</a:t>
            </a:r>
            <a:endParaRPr lang="en-US" sz="2100" dirty="0"/>
          </a:p>
        </p:txBody>
      </p:sp>
      <p:sp>
        <p:nvSpPr>
          <p:cNvPr id="9" name="Text 7"/>
          <p:cNvSpPr/>
          <p:nvPr/>
        </p:nvSpPr>
        <p:spPr>
          <a:xfrm>
            <a:off x="7588210" y="2945844"/>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Tracks spending manually in notes or Excel.</a:t>
            </a:r>
            <a:endParaRPr lang="en-US" sz="1700" dirty="0"/>
          </a:p>
        </p:txBody>
      </p:sp>
      <p:sp>
        <p:nvSpPr>
          <p:cNvPr id="10" name="Text 8"/>
          <p:cNvSpPr/>
          <p:nvPr/>
        </p:nvSpPr>
        <p:spPr>
          <a:xfrm>
            <a:off x="7588210" y="3369945"/>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Checks bank balance frequently.</a:t>
            </a:r>
            <a:endParaRPr lang="en-US" sz="1700" dirty="0"/>
          </a:p>
        </p:txBody>
      </p:sp>
      <p:sp>
        <p:nvSpPr>
          <p:cNvPr id="11" name="Text 9"/>
          <p:cNvSpPr/>
          <p:nvPr/>
        </p:nvSpPr>
        <p:spPr>
          <a:xfrm>
            <a:off x="7588210" y="379404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Searches online for expense management tips.</a:t>
            </a:r>
            <a:endParaRPr lang="en-US" sz="1700" dirty="0"/>
          </a:p>
        </p:txBody>
      </p:sp>
      <p:sp>
        <p:nvSpPr>
          <p:cNvPr id="12" name="Text 10"/>
          <p:cNvSpPr/>
          <p:nvPr/>
        </p:nvSpPr>
        <p:spPr>
          <a:xfrm>
            <a:off x="7588210" y="4218146"/>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Uses UPI and e-wallets regularly.</a:t>
            </a:r>
            <a:endParaRPr lang="en-US" sz="1700" dirty="0"/>
          </a:p>
        </p:txBody>
      </p:sp>
      <p:sp>
        <p:nvSpPr>
          <p:cNvPr id="13" name="Text 11"/>
          <p:cNvSpPr/>
          <p:nvPr/>
        </p:nvSpPr>
        <p:spPr>
          <a:xfrm>
            <a:off x="761405" y="5104448"/>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Thinks</a:t>
            </a:r>
            <a:endParaRPr lang="en-US" sz="2100" dirty="0"/>
          </a:p>
        </p:txBody>
      </p:sp>
      <p:sp>
        <p:nvSpPr>
          <p:cNvPr id="14" name="Text 12"/>
          <p:cNvSpPr/>
          <p:nvPr/>
        </p:nvSpPr>
        <p:spPr>
          <a:xfrm>
            <a:off x="761405" y="5661898"/>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Wonders how much she could save if she reduced small daily expenses.</a:t>
            </a:r>
            <a:endParaRPr lang="en-US" sz="1700" dirty="0"/>
          </a:p>
        </p:txBody>
      </p:sp>
      <p:sp>
        <p:nvSpPr>
          <p:cNvPr id="15" name="Text 13"/>
          <p:cNvSpPr/>
          <p:nvPr/>
        </p:nvSpPr>
        <p:spPr>
          <a:xfrm>
            <a:off x="761405" y="6434018"/>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Thinks financial tracking apps are too complex.</a:t>
            </a:r>
            <a:endParaRPr lang="en-US" sz="1700" dirty="0"/>
          </a:p>
        </p:txBody>
      </p:sp>
      <p:sp>
        <p:nvSpPr>
          <p:cNvPr id="16" name="Text 14"/>
          <p:cNvSpPr/>
          <p:nvPr/>
        </p:nvSpPr>
        <p:spPr>
          <a:xfrm>
            <a:off x="761405" y="6858119"/>
            <a:ext cx="6288405" cy="69603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Considers setting up an emergency fund but doesn't know where to start.</a:t>
            </a:r>
            <a:endParaRPr lang="en-US" sz="1700" dirty="0"/>
          </a:p>
        </p:txBody>
      </p:sp>
      <p:sp>
        <p:nvSpPr>
          <p:cNvPr id="17" name="Text 15"/>
          <p:cNvSpPr/>
          <p:nvPr/>
        </p:nvSpPr>
        <p:spPr>
          <a:xfrm>
            <a:off x="7588210" y="5104448"/>
            <a:ext cx="2719507" cy="339923"/>
          </a:xfrm>
          <a:prstGeom prst="rect">
            <a:avLst/>
          </a:prstGeom>
          <a:noFill/>
          <a:ln/>
        </p:spPr>
        <p:txBody>
          <a:bodyPr wrap="none" lIns="0" tIns="0" rIns="0" bIns="0" rtlCol="0" anchor="t"/>
          <a:lstStyle/>
          <a:p>
            <a:pPr marL="0" indent="0" algn="l">
              <a:lnSpc>
                <a:spcPts val="2650"/>
              </a:lnSpc>
              <a:buNone/>
            </a:pPr>
            <a:r>
              <a:rPr lang="en-US" sz="2100" b="1" dirty="0">
                <a:solidFill>
                  <a:srgbClr val="231971"/>
                </a:solidFill>
                <a:latin typeface="Inter Bold" pitchFamily="34" charset="0"/>
                <a:ea typeface="Inter Bold" pitchFamily="34" charset="-122"/>
                <a:cs typeface="Inter Bold" pitchFamily="34" charset="-120"/>
              </a:rPr>
              <a:t>Feels</a:t>
            </a:r>
            <a:endParaRPr lang="en-US" sz="2100" dirty="0"/>
          </a:p>
        </p:txBody>
      </p:sp>
      <p:sp>
        <p:nvSpPr>
          <p:cNvPr id="18" name="Text 16"/>
          <p:cNvSpPr/>
          <p:nvPr/>
        </p:nvSpPr>
        <p:spPr>
          <a:xfrm>
            <a:off x="7588210" y="5661898"/>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anxious when unplanned bills appear.</a:t>
            </a:r>
            <a:endParaRPr lang="en-US" sz="1700" dirty="0"/>
          </a:p>
        </p:txBody>
      </p:sp>
      <p:sp>
        <p:nvSpPr>
          <p:cNvPr id="19" name="Text 17"/>
          <p:cNvSpPr/>
          <p:nvPr/>
        </p:nvSpPr>
        <p:spPr>
          <a:xfrm>
            <a:off x="7588210" y="6085999"/>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motivated when she sees savings grow.</a:t>
            </a:r>
            <a:endParaRPr lang="en-US" sz="1700" dirty="0"/>
          </a:p>
        </p:txBody>
      </p:sp>
      <p:sp>
        <p:nvSpPr>
          <p:cNvPr id="20" name="Text 18"/>
          <p:cNvSpPr/>
          <p:nvPr/>
        </p:nvSpPr>
        <p:spPr>
          <a:xfrm>
            <a:off x="7588210" y="6510099"/>
            <a:ext cx="6288405" cy="348020"/>
          </a:xfrm>
          <a:prstGeom prst="rect">
            <a:avLst/>
          </a:prstGeom>
          <a:noFill/>
          <a:ln/>
        </p:spPr>
        <p:txBody>
          <a:bodyPr wrap="none" lIns="0" tIns="0" rIns="0" bIns="0" rtlCol="0" anchor="t"/>
          <a:lstStyle/>
          <a:p>
            <a:pPr marL="342900" indent="-342900" algn="l">
              <a:lnSpc>
                <a:spcPts val="2700"/>
              </a:lnSpc>
              <a:buSzPct val="100000"/>
              <a:buChar char="•"/>
            </a:pPr>
            <a:r>
              <a:rPr lang="en-US" sz="1700" dirty="0">
                <a:solidFill>
                  <a:srgbClr val="2A2742"/>
                </a:solidFill>
                <a:latin typeface="Inter" pitchFamily="34" charset="0"/>
                <a:ea typeface="Inter" pitchFamily="34" charset="-122"/>
                <a:cs typeface="Inter" pitchFamily="34" charset="-120"/>
              </a:rPr>
              <a:t>Feels guilty after impulse purchases.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7628AD4-13CF-B6AB-83DC-F56BDB1731B5}"/>
              </a:ext>
            </a:extLst>
          </p:cNvPr>
          <p:cNvGrpSpPr/>
          <p:nvPr/>
        </p:nvGrpSpPr>
        <p:grpSpPr>
          <a:xfrm>
            <a:off x="874992" y="1841776"/>
            <a:ext cx="13222592" cy="5333549"/>
            <a:chOff x="874992" y="1841776"/>
            <a:chExt cx="13222592" cy="5333549"/>
          </a:xfrm>
        </p:grpSpPr>
        <p:sp>
          <p:nvSpPr>
            <p:cNvPr id="14" name="Rectangle: Rounded Corners 13">
              <a:extLst>
                <a:ext uri="{FF2B5EF4-FFF2-40B4-BE49-F238E27FC236}">
                  <a16:creationId xmlns:a16="http://schemas.microsoft.com/office/drawing/2014/main" id="{DEFCA7A9-DD16-E1F1-9F5F-7F0A680C5F5E}"/>
                </a:ext>
              </a:extLst>
            </p:cNvPr>
            <p:cNvSpPr/>
            <p:nvPr/>
          </p:nvSpPr>
          <p:spPr>
            <a:xfrm>
              <a:off x="906465" y="4388385"/>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5000"/>
                      <a:lumOff val="5000"/>
                    </a:schemeClr>
                  </a:solidFill>
                </a:rPr>
                <a:t>Profile</a:t>
              </a:r>
            </a:p>
          </p:txBody>
        </p:sp>
        <p:sp>
          <p:nvSpPr>
            <p:cNvPr id="16" name="Rectangle: Rounded Corners 15">
              <a:extLst>
                <a:ext uri="{FF2B5EF4-FFF2-40B4-BE49-F238E27FC236}">
                  <a16:creationId xmlns:a16="http://schemas.microsoft.com/office/drawing/2014/main" id="{A0476086-49F8-24F9-1522-C4011E9A88DC}"/>
                </a:ext>
              </a:extLst>
            </p:cNvPr>
            <p:cNvSpPr/>
            <p:nvPr/>
          </p:nvSpPr>
          <p:spPr>
            <a:xfrm>
              <a:off x="9777015" y="4388385"/>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5000"/>
                      <a:lumOff val="5000"/>
                    </a:schemeClr>
                  </a:solidFill>
                </a:rPr>
                <a:t>Savings</a:t>
              </a:r>
            </a:p>
          </p:txBody>
        </p:sp>
        <p:sp>
          <p:nvSpPr>
            <p:cNvPr id="17" name="Rectangle: Rounded Corners 16">
              <a:extLst>
                <a:ext uri="{FF2B5EF4-FFF2-40B4-BE49-F238E27FC236}">
                  <a16:creationId xmlns:a16="http://schemas.microsoft.com/office/drawing/2014/main" id="{3B0F8AA9-8C53-7738-CB2C-27E633A17872}"/>
                </a:ext>
              </a:extLst>
            </p:cNvPr>
            <p:cNvSpPr/>
            <p:nvPr/>
          </p:nvSpPr>
          <p:spPr>
            <a:xfrm>
              <a:off x="3824365" y="4388385"/>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5000"/>
                      <a:lumOff val="5000"/>
                    </a:schemeClr>
                  </a:solidFill>
                </a:rPr>
                <a:t>Budget</a:t>
              </a:r>
            </a:p>
          </p:txBody>
        </p:sp>
        <p:sp>
          <p:nvSpPr>
            <p:cNvPr id="18" name="Rectangle: Rounded Corners 17">
              <a:extLst>
                <a:ext uri="{FF2B5EF4-FFF2-40B4-BE49-F238E27FC236}">
                  <a16:creationId xmlns:a16="http://schemas.microsoft.com/office/drawing/2014/main" id="{68E2F172-F89C-0933-6C8F-F50B2BA41ACC}"/>
                </a:ext>
              </a:extLst>
            </p:cNvPr>
            <p:cNvSpPr/>
            <p:nvPr/>
          </p:nvSpPr>
          <p:spPr>
            <a:xfrm>
              <a:off x="6829179" y="4388384"/>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5000"/>
                      <a:lumOff val="5000"/>
                    </a:schemeClr>
                  </a:solidFill>
                </a:rPr>
                <a:t>Expenses</a:t>
              </a:r>
            </a:p>
          </p:txBody>
        </p:sp>
        <p:sp>
          <p:nvSpPr>
            <p:cNvPr id="19" name="Rectangle: Rounded Corners 18">
              <a:extLst>
                <a:ext uri="{FF2B5EF4-FFF2-40B4-BE49-F238E27FC236}">
                  <a16:creationId xmlns:a16="http://schemas.microsoft.com/office/drawing/2014/main" id="{63DDCF08-E0A2-5969-25D0-6991922C9F61}"/>
                </a:ext>
              </a:extLst>
            </p:cNvPr>
            <p:cNvSpPr/>
            <p:nvPr/>
          </p:nvSpPr>
          <p:spPr>
            <a:xfrm>
              <a:off x="4756708" y="3232719"/>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Sign up</a:t>
              </a:r>
            </a:p>
          </p:txBody>
        </p:sp>
        <p:sp>
          <p:nvSpPr>
            <p:cNvPr id="20" name="Rectangle: Rounded Corners 19">
              <a:extLst>
                <a:ext uri="{FF2B5EF4-FFF2-40B4-BE49-F238E27FC236}">
                  <a16:creationId xmlns:a16="http://schemas.microsoft.com/office/drawing/2014/main" id="{5B431B42-5AC8-07E1-FC7E-50667B89C6C9}"/>
                </a:ext>
              </a:extLst>
            </p:cNvPr>
            <p:cNvSpPr/>
            <p:nvPr/>
          </p:nvSpPr>
          <p:spPr>
            <a:xfrm>
              <a:off x="12412672" y="4388385"/>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95000"/>
                      <a:lumOff val="5000"/>
                    </a:schemeClr>
                  </a:solidFill>
                </a:rPr>
                <a:t>Insights</a:t>
              </a:r>
            </a:p>
          </p:txBody>
        </p:sp>
        <p:sp>
          <p:nvSpPr>
            <p:cNvPr id="21" name="Rectangle: Rounded Corners 20">
              <a:extLst>
                <a:ext uri="{FF2B5EF4-FFF2-40B4-BE49-F238E27FC236}">
                  <a16:creationId xmlns:a16="http://schemas.microsoft.com/office/drawing/2014/main" id="{F8A5F2E6-15EE-13CF-64BB-48F973273EB3}"/>
                </a:ext>
              </a:extLst>
            </p:cNvPr>
            <p:cNvSpPr/>
            <p:nvPr/>
          </p:nvSpPr>
          <p:spPr>
            <a:xfrm>
              <a:off x="8857668" y="3232720"/>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Login</a:t>
              </a:r>
            </a:p>
          </p:txBody>
        </p:sp>
        <p:sp>
          <p:nvSpPr>
            <p:cNvPr id="22" name="Rectangle: Rounded Corners 21">
              <a:extLst>
                <a:ext uri="{FF2B5EF4-FFF2-40B4-BE49-F238E27FC236}">
                  <a16:creationId xmlns:a16="http://schemas.microsoft.com/office/drawing/2014/main" id="{8D0DF3D4-2428-53FB-E079-B9F26C6957B9}"/>
                </a:ext>
              </a:extLst>
            </p:cNvPr>
            <p:cNvSpPr/>
            <p:nvPr/>
          </p:nvSpPr>
          <p:spPr>
            <a:xfrm>
              <a:off x="6829179" y="2664590"/>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On boarding</a:t>
              </a:r>
            </a:p>
          </p:txBody>
        </p:sp>
        <p:sp>
          <p:nvSpPr>
            <p:cNvPr id="23" name="Oval 22">
              <a:extLst>
                <a:ext uri="{FF2B5EF4-FFF2-40B4-BE49-F238E27FC236}">
                  <a16:creationId xmlns:a16="http://schemas.microsoft.com/office/drawing/2014/main" id="{D44DD5C7-0CA2-0BFA-F8C0-E300BB818638}"/>
                </a:ext>
              </a:extLst>
            </p:cNvPr>
            <p:cNvSpPr/>
            <p:nvPr/>
          </p:nvSpPr>
          <p:spPr>
            <a:xfrm>
              <a:off x="6749539" y="1841776"/>
              <a:ext cx="1759352" cy="50928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Splash screen</a:t>
              </a:r>
            </a:p>
          </p:txBody>
        </p:sp>
        <p:sp>
          <p:nvSpPr>
            <p:cNvPr id="24" name="Rectangle: Rounded Corners 23">
              <a:extLst>
                <a:ext uri="{FF2B5EF4-FFF2-40B4-BE49-F238E27FC236}">
                  <a16:creationId xmlns:a16="http://schemas.microsoft.com/office/drawing/2014/main" id="{CF0E2B3B-23CA-6B5F-3732-CAAEB9CD256A}"/>
                </a:ext>
              </a:extLst>
            </p:cNvPr>
            <p:cNvSpPr/>
            <p:nvPr/>
          </p:nvSpPr>
          <p:spPr>
            <a:xfrm>
              <a:off x="874992" y="5428019"/>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Edit profile</a:t>
              </a:r>
            </a:p>
          </p:txBody>
        </p:sp>
        <p:sp>
          <p:nvSpPr>
            <p:cNvPr id="25" name="Rectangle: Rounded Corners 24">
              <a:extLst>
                <a:ext uri="{FF2B5EF4-FFF2-40B4-BE49-F238E27FC236}">
                  <a16:creationId xmlns:a16="http://schemas.microsoft.com/office/drawing/2014/main" id="{4D8A3847-8AA6-83D7-9216-DE6726779BDB}"/>
                </a:ext>
              </a:extLst>
            </p:cNvPr>
            <p:cNvSpPr/>
            <p:nvPr/>
          </p:nvSpPr>
          <p:spPr>
            <a:xfrm>
              <a:off x="3824365" y="6811930"/>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 limits</a:t>
              </a:r>
            </a:p>
          </p:txBody>
        </p:sp>
        <p:sp>
          <p:nvSpPr>
            <p:cNvPr id="26" name="Rectangle: Rounded Corners 25">
              <a:extLst>
                <a:ext uri="{FF2B5EF4-FFF2-40B4-BE49-F238E27FC236}">
                  <a16:creationId xmlns:a16="http://schemas.microsoft.com/office/drawing/2014/main" id="{B06AE6EF-8965-1B2B-0FE8-BB7B462C95D2}"/>
                </a:ext>
              </a:extLst>
            </p:cNvPr>
            <p:cNvSpPr/>
            <p:nvPr/>
          </p:nvSpPr>
          <p:spPr>
            <a:xfrm>
              <a:off x="3824365" y="6135687"/>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Income source </a:t>
              </a:r>
            </a:p>
          </p:txBody>
        </p:sp>
        <p:sp>
          <p:nvSpPr>
            <p:cNvPr id="27" name="Rectangle: Rounded Corners 26">
              <a:extLst>
                <a:ext uri="{FF2B5EF4-FFF2-40B4-BE49-F238E27FC236}">
                  <a16:creationId xmlns:a16="http://schemas.microsoft.com/office/drawing/2014/main" id="{E44D6905-7835-C710-C68E-08FCC4226E81}"/>
                </a:ext>
              </a:extLst>
            </p:cNvPr>
            <p:cNvSpPr/>
            <p:nvPr/>
          </p:nvSpPr>
          <p:spPr>
            <a:xfrm>
              <a:off x="3822828" y="5438582"/>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Create budget</a:t>
              </a:r>
            </a:p>
          </p:txBody>
        </p:sp>
        <p:sp>
          <p:nvSpPr>
            <p:cNvPr id="28" name="Rectangle: Rounded Corners 27">
              <a:extLst>
                <a:ext uri="{FF2B5EF4-FFF2-40B4-BE49-F238E27FC236}">
                  <a16:creationId xmlns:a16="http://schemas.microsoft.com/office/drawing/2014/main" id="{7F4C3E94-B4B4-6803-F984-4CC91DADF767}"/>
                </a:ext>
              </a:extLst>
            </p:cNvPr>
            <p:cNvSpPr/>
            <p:nvPr/>
          </p:nvSpPr>
          <p:spPr>
            <a:xfrm>
              <a:off x="6829179" y="6796479"/>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AI tracker</a:t>
              </a:r>
            </a:p>
          </p:txBody>
        </p:sp>
        <p:sp>
          <p:nvSpPr>
            <p:cNvPr id="29" name="Rectangle: Rounded Corners 28">
              <a:extLst>
                <a:ext uri="{FF2B5EF4-FFF2-40B4-BE49-F238E27FC236}">
                  <a16:creationId xmlns:a16="http://schemas.microsoft.com/office/drawing/2014/main" id="{FE71E818-47FE-7170-A45C-A4718748DAEF}"/>
                </a:ext>
              </a:extLst>
            </p:cNvPr>
            <p:cNvSpPr/>
            <p:nvPr/>
          </p:nvSpPr>
          <p:spPr>
            <a:xfrm>
              <a:off x="6829179" y="6135688"/>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30" name="Rectangle: Rounded Corners 29">
              <a:extLst>
                <a:ext uri="{FF2B5EF4-FFF2-40B4-BE49-F238E27FC236}">
                  <a16:creationId xmlns:a16="http://schemas.microsoft.com/office/drawing/2014/main" id="{C9238541-5AD7-CB10-70E2-9E29C1EAEACB}"/>
                </a:ext>
              </a:extLst>
            </p:cNvPr>
            <p:cNvSpPr/>
            <p:nvPr/>
          </p:nvSpPr>
          <p:spPr>
            <a:xfrm>
              <a:off x="6829179" y="5441568"/>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Daily expense</a:t>
              </a:r>
            </a:p>
          </p:txBody>
        </p:sp>
        <p:sp>
          <p:nvSpPr>
            <p:cNvPr id="31" name="Rectangle: Rounded Corners 30">
              <a:extLst>
                <a:ext uri="{FF2B5EF4-FFF2-40B4-BE49-F238E27FC236}">
                  <a16:creationId xmlns:a16="http://schemas.microsoft.com/office/drawing/2014/main" id="{30C19C04-30A3-5F89-7690-46E029365F89}"/>
                </a:ext>
              </a:extLst>
            </p:cNvPr>
            <p:cNvSpPr/>
            <p:nvPr/>
          </p:nvSpPr>
          <p:spPr>
            <a:xfrm>
              <a:off x="9777015" y="6843360"/>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Track progress</a:t>
              </a:r>
            </a:p>
          </p:txBody>
        </p:sp>
        <p:sp>
          <p:nvSpPr>
            <p:cNvPr id="32" name="Rectangle: Rounded Corners 31">
              <a:extLst>
                <a:ext uri="{FF2B5EF4-FFF2-40B4-BE49-F238E27FC236}">
                  <a16:creationId xmlns:a16="http://schemas.microsoft.com/office/drawing/2014/main" id="{B68915C7-DFA3-2F22-1BF7-E8F0F939363A}"/>
                </a:ext>
              </a:extLst>
            </p:cNvPr>
            <p:cNvSpPr/>
            <p:nvPr/>
          </p:nvSpPr>
          <p:spPr>
            <a:xfrm>
              <a:off x="9777015" y="6135689"/>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Smart saving</a:t>
              </a:r>
            </a:p>
          </p:txBody>
        </p:sp>
        <p:sp>
          <p:nvSpPr>
            <p:cNvPr id="33" name="Rectangle: Rounded Corners 32">
              <a:extLst>
                <a:ext uri="{FF2B5EF4-FFF2-40B4-BE49-F238E27FC236}">
                  <a16:creationId xmlns:a16="http://schemas.microsoft.com/office/drawing/2014/main" id="{78452DA9-F4BF-4C76-3C2E-A5F4D89A9AD4}"/>
                </a:ext>
              </a:extLst>
            </p:cNvPr>
            <p:cNvSpPr/>
            <p:nvPr/>
          </p:nvSpPr>
          <p:spPr>
            <a:xfrm>
              <a:off x="9777015" y="5431922"/>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Savings goal</a:t>
              </a:r>
            </a:p>
          </p:txBody>
        </p:sp>
        <p:sp>
          <p:nvSpPr>
            <p:cNvPr id="35" name="Rectangle: Rounded Corners 34">
              <a:extLst>
                <a:ext uri="{FF2B5EF4-FFF2-40B4-BE49-F238E27FC236}">
                  <a16:creationId xmlns:a16="http://schemas.microsoft.com/office/drawing/2014/main" id="{CC836C64-2271-FABC-326D-61E10E523A90}"/>
                </a:ext>
              </a:extLst>
            </p:cNvPr>
            <p:cNvSpPr/>
            <p:nvPr/>
          </p:nvSpPr>
          <p:spPr>
            <a:xfrm>
              <a:off x="12412672" y="6843360"/>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AI </a:t>
              </a:r>
              <a:r>
                <a:rPr lang="en-IN" dirty="0" err="1">
                  <a:solidFill>
                    <a:schemeClr val="tx1"/>
                  </a:solidFill>
                </a:rPr>
                <a:t>ChatBox</a:t>
              </a:r>
              <a:endParaRPr lang="en-IN" dirty="0">
                <a:solidFill>
                  <a:schemeClr val="tx1"/>
                </a:solidFill>
              </a:endParaRPr>
            </a:p>
          </p:txBody>
        </p:sp>
        <p:sp>
          <p:nvSpPr>
            <p:cNvPr id="36" name="Rectangle: Rounded Corners 35">
              <a:extLst>
                <a:ext uri="{FF2B5EF4-FFF2-40B4-BE49-F238E27FC236}">
                  <a16:creationId xmlns:a16="http://schemas.microsoft.com/office/drawing/2014/main" id="{B5FFB829-D352-EB04-CAC0-EAA86902CD99}"/>
                </a:ext>
              </a:extLst>
            </p:cNvPr>
            <p:cNvSpPr/>
            <p:nvPr/>
          </p:nvSpPr>
          <p:spPr>
            <a:xfrm>
              <a:off x="12412672" y="6135690"/>
              <a:ext cx="1684912" cy="31364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solidFill>
                    <a:schemeClr val="tx1"/>
                  </a:solidFill>
                </a:rPr>
                <a:t>MonthlyReport</a:t>
              </a:r>
              <a:endParaRPr lang="en-IN" dirty="0">
                <a:solidFill>
                  <a:schemeClr val="tx1"/>
                </a:solidFill>
              </a:endParaRPr>
            </a:p>
          </p:txBody>
        </p:sp>
        <p:sp>
          <p:nvSpPr>
            <p:cNvPr id="37" name="Rectangle: Rounded Corners 36">
              <a:extLst>
                <a:ext uri="{FF2B5EF4-FFF2-40B4-BE49-F238E27FC236}">
                  <a16:creationId xmlns:a16="http://schemas.microsoft.com/office/drawing/2014/main" id="{ADA83E72-BBBC-490C-7E57-7ECCC7025FE2}"/>
                </a:ext>
              </a:extLst>
            </p:cNvPr>
            <p:cNvSpPr/>
            <p:nvPr/>
          </p:nvSpPr>
          <p:spPr>
            <a:xfrm>
              <a:off x="12412672" y="5418861"/>
              <a:ext cx="168491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chart</a:t>
              </a:r>
            </a:p>
          </p:txBody>
        </p:sp>
        <p:sp>
          <p:nvSpPr>
            <p:cNvPr id="38" name="Rectangle: Rounded Corners 37">
              <a:extLst>
                <a:ext uri="{FF2B5EF4-FFF2-40B4-BE49-F238E27FC236}">
                  <a16:creationId xmlns:a16="http://schemas.microsoft.com/office/drawing/2014/main" id="{CC59C7DE-2A44-FC9C-E08E-18E1EAD24FAA}"/>
                </a:ext>
              </a:extLst>
            </p:cNvPr>
            <p:cNvSpPr/>
            <p:nvPr/>
          </p:nvSpPr>
          <p:spPr>
            <a:xfrm>
              <a:off x="876529" y="6775066"/>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App theme</a:t>
              </a:r>
            </a:p>
          </p:txBody>
        </p:sp>
        <p:sp>
          <p:nvSpPr>
            <p:cNvPr id="39" name="Rectangle: Rounded Corners 38">
              <a:extLst>
                <a:ext uri="{FF2B5EF4-FFF2-40B4-BE49-F238E27FC236}">
                  <a16:creationId xmlns:a16="http://schemas.microsoft.com/office/drawing/2014/main" id="{8EFC9699-CB70-640E-3AA4-7B8E1F4B4FB8}"/>
                </a:ext>
              </a:extLst>
            </p:cNvPr>
            <p:cNvSpPr/>
            <p:nvPr/>
          </p:nvSpPr>
          <p:spPr>
            <a:xfrm>
              <a:off x="874992" y="6136795"/>
              <a:ext cx="1600072" cy="33196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Account link</a:t>
              </a:r>
            </a:p>
          </p:txBody>
        </p:sp>
      </p:grpSp>
      <p:cxnSp>
        <p:nvCxnSpPr>
          <p:cNvPr id="41" name="Straight Arrow Connector 40">
            <a:extLst>
              <a:ext uri="{FF2B5EF4-FFF2-40B4-BE49-F238E27FC236}">
                <a16:creationId xmlns:a16="http://schemas.microsoft.com/office/drawing/2014/main" id="{CDDE0989-2A69-0788-01FB-C9C09F19E7C7}"/>
              </a:ext>
            </a:extLst>
          </p:cNvPr>
          <p:cNvCxnSpPr>
            <a:stCxn id="23" idx="4"/>
            <a:endCxn id="22" idx="0"/>
          </p:cNvCxnSpPr>
          <p:nvPr/>
        </p:nvCxnSpPr>
        <p:spPr>
          <a:xfrm>
            <a:off x="7629215" y="2351062"/>
            <a:ext cx="0" cy="31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F262101C-391C-E064-0B03-5573D97AB077}"/>
              </a:ext>
            </a:extLst>
          </p:cNvPr>
          <p:cNvCxnSpPr>
            <a:stCxn id="22" idx="2"/>
            <a:endCxn id="19" idx="0"/>
          </p:cNvCxnSpPr>
          <p:nvPr/>
        </p:nvCxnSpPr>
        <p:spPr>
          <a:xfrm rot="5400000">
            <a:off x="6474898" y="2078402"/>
            <a:ext cx="236164" cy="207247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Curved 46">
            <a:extLst>
              <a:ext uri="{FF2B5EF4-FFF2-40B4-BE49-F238E27FC236}">
                <a16:creationId xmlns:a16="http://schemas.microsoft.com/office/drawing/2014/main" id="{CD3ED367-FD49-89EF-FEFA-AA81AE05ECB3}"/>
              </a:ext>
            </a:extLst>
          </p:cNvPr>
          <p:cNvCxnSpPr>
            <a:stCxn id="22" idx="2"/>
            <a:endCxn id="21" idx="0"/>
          </p:cNvCxnSpPr>
          <p:nvPr/>
        </p:nvCxnSpPr>
        <p:spPr>
          <a:xfrm rot="16200000" flipH="1">
            <a:off x="8525377" y="2100392"/>
            <a:ext cx="236165" cy="202848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1423D7B-A4AC-6A7C-5E59-F13DB94248B2}"/>
              </a:ext>
            </a:extLst>
          </p:cNvPr>
          <p:cNvCxnSpPr>
            <a:cxnSpLocks/>
          </p:cNvCxnSpPr>
          <p:nvPr/>
        </p:nvCxnSpPr>
        <p:spPr>
          <a:xfrm>
            <a:off x="1706501" y="3958541"/>
            <a:ext cx="114076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E8D99-CB08-E1BF-BF82-FA0B69E4FAFB}"/>
              </a:ext>
            </a:extLst>
          </p:cNvPr>
          <p:cNvCxnSpPr>
            <a:cxnSpLocks/>
          </p:cNvCxnSpPr>
          <p:nvPr/>
        </p:nvCxnSpPr>
        <p:spPr>
          <a:xfrm>
            <a:off x="4622864" y="3958541"/>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E468DE4-5263-9DF4-8553-3CA2220CBD0F}"/>
              </a:ext>
            </a:extLst>
          </p:cNvPr>
          <p:cNvCxnSpPr>
            <a:cxnSpLocks/>
          </p:cNvCxnSpPr>
          <p:nvPr/>
        </p:nvCxnSpPr>
        <p:spPr>
          <a:xfrm>
            <a:off x="13114116" y="3958541"/>
            <a:ext cx="0" cy="429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AF4C42E-65A7-29A3-CAE7-9BE417E4228F}"/>
              </a:ext>
            </a:extLst>
          </p:cNvPr>
          <p:cNvCxnSpPr>
            <a:cxnSpLocks/>
          </p:cNvCxnSpPr>
          <p:nvPr/>
        </p:nvCxnSpPr>
        <p:spPr>
          <a:xfrm>
            <a:off x="1706501" y="3958540"/>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3D6AAA2-FD9C-BC08-1784-192DA111FB92}"/>
              </a:ext>
            </a:extLst>
          </p:cNvPr>
          <p:cNvCxnSpPr>
            <a:cxnSpLocks/>
          </p:cNvCxnSpPr>
          <p:nvPr/>
        </p:nvCxnSpPr>
        <p:spPr>
          <a:xfrm>
            <a:off x="7629216" y="3958541"/>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683CE55-FF1C-E374-41AC-8C4E7DAA80AD}"/>
              </a:ext>
            </a:extLst>
          </p:cNvPr>
          <p:cNvCxnSpPr>
            <a:cxnSpLocks/>
          </p:cNvCxnSpPr>
          <p:nvPr/>
        </p:nvCxnSpPr>
        <p:spPr>
          <a:xfrm>
            <a:off x="10577051" y="3958540"/>
            <a:ext cx="0" cy="42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9AB71E8-0F43-903C-CF70-A3F54D39EF5A}"/>
              </a:ext>
            </a:extLst>
          </p:cNvPr>
          <p:cNvCxnSpPr>
            <a:stCxn id="19" idx="2"/>
          </p:cNvCxnSpPr>
          <p:nvPr/>
        </p:nvCxnSpPr>
        <p:spPr>
          <a:xfrm>
            <a:off x="5556744" y="3564684"/>
            <a:ext cx="0" cy="393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FD41C93-9F81-6776-BD5F-20C8CE2748E7}"/>
              </a:ext>
            </a:extLst>
          </p:cNvPr>
          <p:cNvCxnSpPr/>
          <p:nvPr/>
        </p:nvCxnSpPr>
        <p:spPr>
          <a:xfrm>
            <a:off x="9679726" y="3564685"/>
            <a:ext cx="0" cy="393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AACA39A-A21A-7693-9798-CBFABAD30557}"/>
              </a:ext>
            </a:extLst>
          </p:cNvPr>
          <p:cNvCxnSpPr>
            <a:cxnSpLocks/>
            <a:stCxn id="14" idx="2"/>
          </p:cNvCxnSpPr>
          <p:nvPr/>
        </p:nvCxnSpPr>
        <p:spPr>
          <a:xfrm>
            <a:off x="1706501" y="4720350"/>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A932F8D-9F9B-1137-7B96-526830454651}"/>
              </a:ext>
            </a:extLst>
          </p:cNvPr>
          <p:cNvCxnSpPr>
            <a:cxnSpLocks/>
          </p:cNvCxnSpPr>
          <p:nvPr/>
        </p:nvCxnSpPr>
        <p:spPr>
          <a:xfrm>
            <a:off x="10577051" y="4706801"/>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FB898C03-92C2-E62D-9EEA-4A3DAC7D66B6}"/>
              </a:ext>
            </a:extLst>
          </p:cNvPr>
          <p:cNvCxnSpPr>
            <a:cxnSpLocks/>
          </p:cNvCxnSpPr>
          <p:nvPr/>
        </p:nvCxnSpPr>
        <p:spPr>
          <a:xfrm>
            <a:off x="13114116" y="4697643"/>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D43EEA8-66F5-D920-A95F-F25D847B20B8}"/>
              </a:ext>
            </a:extLst>
          </p:cNvPr>
          <p:cNvCxnSpPr>
            <a:cxnSpLocks/>
          </p:cNvCxnSpPr>
          <p:nvPr/>
        </p:nvCxnSpPr>
        <p:spPr>
          <a:xfrm>
            <a:off x="7629216" y="4710704"/>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A87CCC9-7D3F-0216-95AF-201D08CF360E}"/>
              </a:ext>
            </a:extLst>
          </p:cNvPr>
          <p:cNvCxnSpPr>
            <a:cxnSpLocks/>
          </p:cNvCxnSpPr>
          <p:nvPr/>
        </p:nvCxnSpPr>
        <p:spPr>
          <a:xfrm>
            <a:off x="4622864" y="4710704"/>
            <a:ext cx="0" cy="721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 0">
            <a:extLst>
              <a:ext uri="{FF2B5EF4-FFF2-40B4-BE49-F238E27FC236}">
                <a16:creationId xmlns:a16="http://schemas.microsoft.com/office/drawing/2014/main" id="{91CD6BEA-DD3E-10F5-6408-B893569228FB}"/>
              </a:ext>
            </a:extLst>
          </p:cNvPr>
          <p:cNvSpPr/>
          <p:nvPr/>
        </p:nvSpPr>
        <p:spPr>
          <a:xfrm>
            <a:off x="638532" y="359151"/>
            <a:ext cx="2280523" cy="284917"/>
          </a:xfrm>
          <a:prstGeom prst="rect">
            <a:avLst/>
          </a:prstGeom>
          <a:noFill/>
          <a:ln/>
        </p:spPr>
        <p:txBody>
          <a:bodyPr wrap="none" lIns="0" tIns="0" rIns="0" bIns="0" rtlCol="0" anchor="t"/>
          <a:lstStyle/>
          <a:p>
            <a:pPr marL="0" indent="0" algn="l">
              <a:lnSpc>
                <a:spcPts val="2200"/>
              </a:lnSpc>
              <a:buNone/>
            </a:pPr>
            <a:r>
              <a:rPr lang="en-US" sz="1750" b="1" dirty="0">
                <a:solidFill>
                  <a:srgbClr val="231971"/>
                </a:solidFill>
                <a:latin typeface="Inter Bold" pitchFamily="34" charset="0"/>
                <a:ea typeface="Inter Bold" pitchFamily="34" charset="-122"/>
                <a:cs typeface="Inter Bold" pitchFamily="34" charset="-120"/>
              </a:rPr>
              <a:t>IDEATE</a:t>
            </a:r>
            <a:endParaRPr lang="en-US" sz="1750" dirty="0"/>
          </a:p>
        </p:txBody>
      </p:sp>
      <p:sp>
        <p:nvSpPr>
          <p:cNvPr id="6" name="Text 1">
            <a:extLst>
              <a:ext uri="{FF2B5EF4-FFF2-40B4-BE49-F238E27FC236}">
                <a16:creationId xmlns:a16="http://schemas.microsoft.com/office/drawing/2014/main" id="{9214EBA0-DBA6-04B3-9D37-E512BDBF5E13}"/>
              </a:ext>
            </a:extLst>
          </p:cNvPr>
          <p:cNvSpPr/>
          <p:nvPr/>
        </p:nvSpPr>
        <p:spPr>
          <a:xfrm>
            <a:off x="638532" y="703156"/>
            <a:ext cx="3648789" cy="456128"/>
          </a:xfrm>
          <a:prstGeom prst="rect">
            <a:avLst/>
          </a:prstGeom>
          <a:noFill/>
          <a:ln/>
        </p:spPr>
        <p:txBody>
          <a:bodyPr wrap="none" lIns="0" tIns="0" rIns="0" bIns="0" rtlCol="0" anchor="t"/>
          <a:lstStyle/>
          <a:p>
            <a:pPr marL="0" indent="0" algn="l">
              <a:lnSpc>
                <a:spcPts val="3550"/>
              </a:lnSpc>
              <a:buNone/>
            </a:pPr>
            <a:r>
              <a:rPr lang="en-US" sz="2850" b="1" dirty="0">
                <a:solidFill>
                  <a:srgbClr val="231971"/>
                </a:solidFill>
                <a:latin typeface="Inter Bold" pitchFamily="34" charset="0"/>
                <a:ea typeface="Inter Bold" pitchFamily="34" charset="-122"/>
                <a:cs typeface="Inter Bold" pitchFamily="34" charset="-120"/>
              </a:rPr>
              <a:t>User Flow</a:t>
            </a:r>
            <a:endParaRPr lang="en-US" sz="2850" dirty="0"/>
          </a:p>
        </p:txBody>
      </p:sp>
      <p:sp>
        <p:nvSpPr>
          <p:cNvPr id="7" name="Text 2">
            <a:extLst>
              <a:ext uri="{FF2B5EF4-FFF2-40B4-BE49-F238E27FC236}">
                <a16:creationId xmlns:a16="http://schemas.microsoft.com/office/drawing/2014/main" id="{AB7BAB0E-9685-B45E-BF2A-4D0C08BCF018}"/>
              </a:ext>
            </a:extLst>
          </p:cNvPr>
          <p:cNvSpPr/>
          <p:nvPr/>
        </p:nvSpPr>
        <p:spPr>
          <a:xfrm>
            <a:off x="638532" y="1288287"/>
            <a:ext cx="13353336" cy="291822"/>
          </a:xfrm>
          <a:prstGeom prst="rect">
            <a:avLst/>
          </a:prstGeom>
          <a:noFill/>
          <a:ln/>
        </p:spPr>
        <p:txBody>
          <a:bodyPr wrap="none" lIns="0" tIns="0" rIns="0" bIns="0" rtlCol="0" anchor="t"/>
          <a:lstStyle/>
          <a:p>
            <a:pPr marL="0" indent="0" algn="l">
              <a:lnSpc>
                <a:spcPts val="2250"/>
              </a:lnSpc>
              <a:buNone/>
            </a:pPr>
            <a:r>
              <a:rPr lang="en-US" sz="1400" dirty="0">
                <a:solidFill>
                  <a:srgbClr val="2A2742"/>
                </a:solidFill>
                <a:latin typeface="Inter" pitchFamily="34" charset="0"/>
                <a:ea typeface="Inter" pitchFamily="34" charset="-122"/>
                <a:cs typeface="Inter" pitchFamily="34" charset="-120"/>
              </a:rPr>
              <a:t>Visualizing how users move through key actions in the SpendSmart app — from tracking expenses to viewing insights.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4219" y="23554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31971"/>
                </a:solidFill>
                <a:latin typeface="Inter Bold" pitchFamily="34" charset="0"/>
                <a:ea typeface="Inter Bold" pitchFamily="34" charset="-122"/>
                <a:cs typeface="Inter Bold" pitchFamily="34" charset="-120"/>
              </a:rPr>
              <a:t>IDEATE</a:t>
            </a:r>
            <a:endParaRPr lang="en-US" sz="2200" dirty="0"/>
          </a:p>
        </p:txBody>
      </p:sp>
      <p:sp>
        <p:nvSpPr>
          <p:cNvPr id="3" name="Text 1"/>
          <p:cNvSpPr/>
          <p:nvPr/>
        </p:nvSpPr>
        <p:spPr>
          <a:xfrm>
            <a:off x="604219" y="758663"/>
            <a:ext cx="5455682" cy="566976"/>
          </a:xfrm>
          <a:prstGeom prst="rect">
            <a:avLst/>
          </a:prstGeom>
          <a:noFill/>
          <a:ln/>
        </p:spPr>
        <p:txBody>
          <a:bodyPr wrap="none" lIns="0" tIns="0" rIns="0" bIns="0" rtlCol="0" anchor="t"/>
          <a:lstStyle/>
          <a:p>
            <a:pPr marL="0" indent="0" algn="l">
              <a:lnSpc>
                <a:spcPts val="4450"/>
              </a:lnSpc>
              <a:buNone/>
            </a:pPr>
            <a:r>
              <a:rPr lang="en-US" sz="3550" b="1" dirty="0">
                <a:solidFill>
                  <a:srgbClr val="231971"/>
                </a:solidFill>
                <a:latin typeface="Inter Bold" pitchFamily="34" charset="0"/>
                <a:ea typeface="Inter Bold" pitchFamily="34" charset="-122"/>
                <a:cs typeface="Inter Bold" pitchFamily="34" charset="-120"/>
              </a:rPr>
              <a:t>Information Architecture</a:t>
            </a:r>
            <a:endParaRPr lang="en-US" sz="3550" dirty="0"/>
          </a:p>
        </p:txBody>
      </p:sp>
      <p:sp>
        <p:nvSpPr>
          <p:cNvPr id="4" name="Text 2"/>
          <p:cNvSpPr/>
          <p:nvPr/>
        </p:nvSpPr>
        <p:spPr>
          <a:xfrm>
            <a:off x="604219" y="149442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2A2742"/>
                </a:solidFill>
                <a:latin typeface="Inter" pitchFamily="34" charset="0"/>
                <a:ea typeface="Inter" pitchFamily="34" charset="-122"/>
                <a:cs typeface="Inter" pitchFamily="34" charset="-120"/>
              </a:rPr>
              <a:t>Structuring the SpendSmart app's screens and navigation for a seamless user experience.</a:t>
            </a:r>
            <a:endParaRPr lang="en-US" sz="1750" dirty="0"/>
          </a:p>
        </p:txBody>
      </p:sp>
      <p:sp>
        <p:nvSpPr>
          <p:cNvPr id="9" name="Rectangle: Rounded Corners 8">
            <a:extLst>
              <a:ext uri="{FF2B5EF4-FFF2-40B4-BE49-F238E27FC236}">
                <a16:creationId xmlns:a16="http://schemas.microsoft.com/office/drawing/2014/main" id="{231D7DF7-F9EA-2A83-D8A4-665D431E9F3B}"/>
              </a:ext>
            </a:extLst>
          </p:cNvPr>
          <p:cNvSpPr/>
          <p:nvPr/>
        </p:nvSpPr>
        <p:spPr>
          <a:xfrm>
            <a:off x="6515164" y="2814892"/>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Welcome screen</a:t>
            </a:r>
          </a:p>
        </p:txBody>
      </p:sp>
      <p:sp>
        <p:nvSpPr>
          <p:cNvPr id="10" name="Rectangle: Rounded Corners 9">
            <a:extLst>
              <a:ext uri="{FF2B5EF4-FFF2-40B4-BE49-F238E27FC236}">
                <a16:creationId xmlns:a16="http://schemas.microsoft.com/office/drawing/2014/main" id="{869ADBF1-A65F-8D28-90B6-32C7D3AE00CC}"/>
              </a:ext>
            </a:extLst>
          </p:cNvPr>
          <p:cNvSpPr/>
          <p:nvPr/>
        </p:nvSpPr>
        <p:spPr>
          <a:xfrm>
            <a:off x="11938430"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Google Account</a:t>
            </a:r>
          </a:p>
        </p:txBody>
      </p:sp>
      <p:sp>
        <p:nvSpPr>
          <p:cNvPr id="11" name="Rectangle: Rounded Corners 10">
            <a:extLst>
              <a:ext uri="{FF2B5EF4-FFF2-40B4-BE49-F238E27FC236}">
                <a16:creationId xmlns:a16="http://schemas.microsoft.com/office/drawing/2014/main" id="{DD49DBA4-F365-9E24-9647-537A908ADACD}"/>
              </a:ext>
            </a:extLst>
          </p:cNvPr>
          <p:cNvSpPr/>
          <p:nvPr/>
        </p:nvSpPr>
        <p:spPr>
          <a:xfrm>
            <a:off x="7122241"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Create Account</a:t>
            </a:r>
          </a:p>
        </p:txBody>
      </p:sp>
      <p:sp>
        <p:nvSpPr>
          <p:cNvPr id="12" name="Rectangle: Rounded Corners 11">
            <a:extLst>
              <a:ext uri="{FF2B5EF4-FFF2-40B4-BE49-F238E27FC236}">
                <a16:creationId xmlns:a16="http://schemas.microsoft.com/office/drawing/2014/main" id="{97A3FEE1-09E6-6127-D5C3-408999BB30EB}"/>
              </a:ext>
            </a:extLst>
          </p:cNvPr>
          <p:cNvSpPr/>
          <p:nvPr/>
        </p:nvSpPr>
        <p:spPr>
          <a:xfrm>
            <a:off x="603153" y="5731405"/>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Reset Password</a:t>
            </a:r>
          </a:p>
        </p:txBody>
      </p:sp>
      <p:sp>
        <p:nvSpPr>
          <p:cNvPr id="13" name="Rectangle: Rounded Corners 12">
            <a:extLst>
              <a:ext uri="{FF2B5EF4-FFF2-40B4-BE49-F238E27FC236}">
                <a16:creationId xmlns:a16="http://schemas.microsoft.com/office/drawing/2014/main" id="{22A20704-AAA6-9F0A-AC9A-FA4E3011FF18}"/>
              </a:ext>
            </a:extLst>
          </p:cNvPr>
          <p:cNvSpPr/>
          <p:nvPr/>
        </p:nvSpPr>
        <p:spPr>
          <a:xfrm>
            <a:off x="6515164" y="7321168"/>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Home Screen</a:t>
            </a:r>
          </a:p>
        </p:txBody>
      </p:sp>
      <p:sp>
        <p:nvSpPr>
          <p:cNvPr id="14" name="Rectangle: Rounded Corners 13">
            <a:extLst>
              <a:ext uri="{FF2B5EF4-FFF2-40B4-BE49-F238E27FC236}">
                <a16:creationId xmlns:a16="http://schemas.microsoft.com/office/drawing/2014/main" id="{312D9B35-FAD2-ADD3-0B95-4434CEC18908}"/>
              </a:ext>
            </a:extLst>
          </p:cNvPr>
          <p:cNvSpPr/>
          <p:nvPr/>
        </p:nvSpPr>
        <p:spPr>
          <a:xfrm>
            <a:off x="3528664" y="437127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Login</a:t>
            </a:r>
          </a:p>
        </p:txBody>
      </p:sp>
      <p:sp>
        <p:nvSpPr>
          <p:cNvPr id="15" name="Rectangle: Rounded Corners 14">
            <a:extLst>
              <a:ext uri="{FF2B5EF4-FFF2-40B4-BE49-F238E27FC236}">
                <a16:creationId xmlns:a16="http://schemas.microsoft.com/office/drawing/2014/main" id="{384C53A5-45BE-09A4-D870-DEB5B4727C6F}"/>
              </a:ext>
            </a:extLst>
          </p:cNvPr>
          <p:cNvSpPr/>
          <p:nvPr/>
        </p:nvSpPr>
        <p:spPr>
          <a:xfrm>
            <a:off x="9325047" y="437127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Sign up</a:t>
            </a:r>
          </a:p>
        </p:txBody>
      </p:sp>
      <p:cxnSp>
        <p:nvCxnSpPr>
          <p:cNvPr id="16" name="Connector: Curved 15">
            <a:extLst>
              <a:ext uri="{FF2B5EF4-FFF2-40B4-BE49-F238E27FC236}">
                <a16:creationId xmlns:a16="http://schemas.microsoft.com/office/drawing/2014/main" id="{31CBBEE4-94E2-B78C-7F6C-431F482C31D7}"/>
              </a:ext>
            </a:extLst>
          </p:cNvPr>
          <p:cNvCxnSpPr>
            <a:stCxn id="9" idx="2"/>
            <a:endCxn id="15" idx="0"/>
          </p:cNvCxnSpPr>
          <p:nvPr/>
        </p:nvCxnSpPr>
        <p:spPr>
          <a:xfrm rot="16200000" flipH="1">
            <a:off x="8198426" y="2444621"/>
            <a:ext cx="1043430" cy="28098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C7BEF20-DCED-89DA-73C6-83554CDD181F}"/>
              </a:ext>
            </a:extLst>
          </p:cNvPr>
          <p:cNvSpPr/>
          <p:nvPr/>
        </p:nvSpPr>
        <p:spPr>
          <a:xfrm>
            <a:off x="311092" y="3799841"/>
            <a:ext cx="2212648" cy="1655830"/>
          </a:xfrm>
          <a:prstGeom prst="flowChartDecision">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Forget Password</a:t>
            </a:r>
          </a:p>
        </p:txBody>
      </p:sp>
      <p:cxnSp>
        <p:nvCxnSpPr>
          <p:cNvPr id="18" name="Connector: Curved 17">
            <a:extLst>
              <a:ext uri="{FF2B5EF4-FFF2-40B4-BE49-F238E27FC236}">
                <a16:creationId xmlns:a16="http://schemas.microsoft.com/office/drawing/2014/main" id="{3F4516B0-C1F6-7D01-C080-F7B6E16D75EE}"/>
              </a:ext>
            </a:extLst>
          </p:cNvPr>
          <p:cNvCxnSpPr>
            <a:stCxn id="9" idx="2"/>
            <a:endCxn id="14" idx="0"/>
          </p:cNvCxnSpPr>
          <p:nvPr/>
        </p:nvCxnSpPr>
        <p:spPr>
          <a:xfrm rot="5400000">
            <a:off x="5300235" y="2356313"/>
            <a:ext cx="1043430" cy="298650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C9F27DB-0F49-A563-FE01-D4779F52138C}"/>
              </a:ext>
            </a:extLst>
          </p:cNvPr>
          <p:cNvCxnSpPr>
            <a:stCxn id="14" idx="1"/>
          </p:cNvCxnSpPr>
          <p:nvPr/>
        </p:nvCxnSpPr>
        <p:spPr>
          <a:xfrm flipH="1">
            <a:off x="2511706" y="4627756"/>
            <a:ext cx="10169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A388AB0-6984-3A6C-B84E-F78E9DFB9156}"/>
              </a:ext>
            </a:extLst>
          </p:cNvPr>
          <p:cNvCxnSpPr>
            <a:stCxn id="17" idx="2"/>
          </p:cNvCxnSpPr>
          <p:nvPr/>
        </p:nvCxnSpPr>
        <p:spPr>
          <a:xfrm flipH="1">
            <a:off x="1388962" y="5455671"/>
            <a:ext cx="28454" cy="275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740E1836-3759-96A5-9D16-786EF473F10A}"/>
              </a:ext>
            </a:extLst>
          </p:cNvPr>
          <p:cNvCxnSpPr>
            <a:cxnSpLocks/>
            <a:stCxn id="15" idx="2"/>
            <a:endCxn id="10" idx="0"/>
          </p:cNvCxnSpPr>
          <p:nvPr/>
        </p:nvCxnSpPr>
        <p:spPr>
          <a:xfrm rot="16200000" flipH="1">
            <a:off x="11008189" y="4001127"/>
            <a:ext cx="847171" cy="261338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46E6F00A-05AF-71F5-6B5C-8BD7B66A3BA0}"/>
              </a:ext>
            </a:extLst>
          </p:cNvPr>
          <p:cNvCxnSpPr>
            <a:stCxn id="15" idx="2"/>
            <a:endCxn id="11" idx="0"/>
          </p:cNvCxnSpPr>
          <p:nvPr/>
        </p:nvCxnSpPr>
        <p:spPr>
          <a:xfrm rot="5400000">
            <a:off x="8600095" y="4206416"/>
            <a:ext cx="847171" cy="220280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29A9BC79-A219-AC23-B0BB-E00719F1ECF3}"/>
              </a:ext>
            </a:extLst>
          </p:cNvPr>
          <p:cNvCxnSpPr>
            <a:stCxn id="12" idx="2"/>
            <a:endCxn id="13" idx="0"/>
          </p:cNvCxnSpPr>
          <p:nvPr/>
        </p:nvCxnSpPr>
        <p:spPr>
          <a:xfrm rot="16200000" flipH="1">
            <a:off x="3820791" y="3826758"/>
            <a:ext cx="1076807" cy="591201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nector: Curved 23">
            <a:extLst>
              <a:ext uri="{FF2B5EF4-FFF2-40B4-BE49-F238E27FC236}">
                <a16:creationId xmlns:a16="http://schemas.microsoft.com/office/drawing/2014/main" id="{828EA350-CD3D-5440-0B3C-6E3295A6F9F7}"/>
              </a:ext>
            </a:extLst>
          </p:cNvPr>
          <p:cNvCxnSpPr>
            <a:stCxn id="11" idx="2"/>
            <a:endCxn id="13" idx="0"/>
          </p:cNvCxnSpPr>
          <p:nvPr/>
        </p:nvCxnSpPr>
        <p:spPr>
          <a:xfrm rot="5400000">
            <a:off x="7080336" y="6479226"/>
            <a:ext cx="1076807" cy="60707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Curved 24">
            <a:extLst>
              <a:ext uri="{FF2B5EF4-FFF2-40B4-BE49-F238E27FC236}">
                <a16:creationId xmlns:a16="http://schemas.microsoft.com/office/drawing/2014/main" id="{164A092B-BFC6-CE27-08D2-426DB6E8E8C0}"/>
              </a:ext>
            </a:extLst>
          </p:cNvPr>
          <p:cNvCxnSpPr>
            <a:stCxn id="10" idx="2"/>
            <a:endCxn id="13" idx="0"/>
          </p:cNvCxnSpPr>
          <p:nvPr/>
        </p:nvCxnSpPr>
        <p:spPr>
          <a:xfrm rot="5400000">
            <a:off x="9488430" y="4071131"/>
            <a:ext cx="1076807" cy="542326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4BE0128-11C0-89C7-A6C1-26851D5154CD}"/>
              </a:ext>
            </a:extLst>
          </p:cNvPr>
          <p:cNvCxnSpPr>
            <a:cxnSpLocks/>
            <a:stCxn id="13" idx="2"/>
          </p:cNvCxnSpPr>
          <p:nvPr/>
        </p:nvCxnSpPr>
        <p:spPr>
          <a:xfrm>
            <a:off x="7315200" y="7834124"/>
            <a:ext cx="1" cy="395476"/>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FBD4024-4DD0-74CE-09E7-6AA5E2DA3C83}"/>
              </a:ext>
            </a:extLst>
          </p:cNvPr>
          <p:cNvSpPr/>
          <p:nvPr/>
        </p:nvSpPr>
        <p:spPr>
          <a:xfrm>
            <a:off x="4803460" y="442944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insights</a:t>
            </a:r>
          </a:p>
        </p:txBody>
      </p:sp>
      <p:sp>
        <p:nvSpPr>
          <p:cNvPr id="4" name="Rectangle: Rounded Corners 3">
            <a:extLst>
              <a:ext uri="{FF2B5EF4-FFF2-40B4-BE49-F238E27FC236}">
                <a16:creationId xmlns:a16="http://schemas.microsoft.com/office/drawing/2014/main" id="{6528AD4E-640D-A8A9-FD51-9B8A841FFE3E}"/>
              </a:ext>
            </a:extLst>
          </p:cNvPr>
          <p:cNvSpPr/>
          <p:nvPr/>
        </p:nvSpPr>
        <p:spPr>
          <a:xfrm>
            <a:off x="8373497" y="7075216"/>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Set limits</a:t>
            </a:r>
          </a:p>
        </p:txBody>
      </p:sp>
      <p:sp>
        <p:nvSpPr>
          <p:cNvPr id="5" name="Rectangle: Rounded Corners 4">
            <a:extLst>
              <a:ext uri="{FF2B5EF4-FFF2-40B4-BE49-F238E27FC236}">
                <a16:creationId xmlns:a16="http://schemas.microsoft.com/office/drawing/2014/main" id="{0537D2F2-86C3-7951-5521-A01E653DCC28}"/>
              </a:ext>
            </a:extLst>
          </p:cNvPr>
          <p:cNvSpPr/>
          <p:nvPr/>
        </p:nvSpPr>
        <p:spPr>
          <a:xfrm>
            <a:off x="1233423" y="698078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Enter details</a:t>
            </a:r>
          </a:p>
        </p:txBody>
      </p:sp>
      <p:sp>
        <p:nvSpPr>
          <p:cNvPr id="6" name="Rectangle: Rounded Corners 5">
            <a:extLst>
              <a:ext uri="{FF2B5EF4-FFF2-40B4-BE49-F238E27FC236}">
                <a16:creationId xmlns:a16="http://schemas.microsoft.com/office/drawing/2014/main" id="{74323C55-837B-FA20-E853-086049A4D70A}"/>
              </a:ext>
            </a:extLst>
          </p:cNvPr>
          <p:cNvSpPr/>
          <p:nvPr/>
        </p:nvSpPr>
        <p:spPr>
          <a:xfrm>
            <a:off x="4803460" y="708872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7" name="Rectangle: Rounded Corners 6">
            <a:extLst>
              <a:ext uri="{FF2B5EF4-FFF2-40B4-BE49-F238E27FC236}">
                <a16:creationId xmlns:a16="http://schemas.microsoft.com/office/drawing/2014/main" id="{0D80DFE0-62CD-F0F4-CA8C-8D24A86E6702}"/>
              </a:ext>
            </a:extLst>
          </p:cNvPr>
          <p:cNvSpPr/>
          <p:nvPr/>
        </p:nvSpPr>
        <p:spPr>
          <a:xfrm>
            <a:off x="11796905" y="440342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Spent categories</a:t>
            </a:r>
          </a:p>
        </p:txBody>
      </p:sp>
      <p:sp>
        <p:nvSpPr>
          <p:cNvPr id="8" name="Rectangle: Rounded Corners 7">
            <a:extLst>
              <a:ext uri="{FF2B5EF4-FFF2-40B4-BE49-F238E27FC236}">
                <a16:creationId xmlns:a16="http://schemas.microsoft.com/office/drawing/2014/main" id="{FF98E286-5422-2D8B-C886-2366CE834FC4}"/>
              </a:ext>
            </a:extLst>
          </p:cNvPr>
          <p:cNvSpPr/>
          <p:nvPr/>
        </p:nvSpPr>
        <p:spPr>
          <a:xfrm>
            <a:off x="11796905" y="344309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Money spent</a:t>
            </a:r>
          </a:p>
        </p:txBody>
      </p:sp>
      <p:sp>
        <p:nvSpPr>
          <p:cNvPr id="9" name="Rectangle: Rounded Corners 8">
            <a:extLst>
              <a:ext uri="{FF2B5EF4-FFF2-40B4-BE49-F238E27FC236}">
                <a16:creationId xmlns:a16="http://schemas.microsoft.com/office/drawing/2014/main" id="{FCBF5DBE-806D-D786-DA8F-F52AC37695A6}"/>
              </a:ext>
            </a:extLst>
          </p:cNvPr>
          <p:cNvSpPr/>
          <p:nvPr/>
        </p:nvSpPr>
        <p:spPr>
          <a:xfrm>
            <a:off x="11796905"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Money</a:t>
            </a:r>
          </a:p>
        </p:txBody>
      </p:sp>
      <p:sp>
        <p:nvSpPr>
          <p:cNvPr id="10" name="Rectangle: Rounded Corners 9">
            <a:extLst>
              <a:ext uri="{FF2B5EF4-FFF2-40B4-BE49-F238E27FC236}">
                <a16:creationId xmlns:a16="http://schemas.microsoft.com/office/drawing/2014/main" id="{FC74350D-043D-877C-B6E7-80ABA2DFF1E6}"/>
              </a:ext>
            </a:extLst>
          </p:cNvPr>
          <p:cNvSpPr/>
          <p:nvPr/>
        </p:nvSpPr>
        <p:spPr>
          <a:xfrm>
            <a:off x="11796905" y="128337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Statistics</a:t>
            </a:r>
          </a:p>
        </p:txBody>
      </p:sp>
      <p:sp>
        <p:nvSpPr>
          <p:cNvPr id="11" name="Rectangle: Rounded Corners 10">
            <a:extLst>
              <a:ext uri="{FF2B5EF4-FFF2-40B4-BE49-F238E27FC236}">
                <a16:creationId xmlns:a16="http://schemas.microsoft.com/office/drawing/2014/main" id="{BD0168F0-EC47-3A6F-9BC9-3CCE5F0E54F9}"/>
              </a:ext>
            </a:extLst>
          </p:cNvPr>
          <p:cNvSpPr/>
          <p:nvPr/>
        </p:nvSpPr>
        <p:spPr>
          <a:xfrm>
            <a:off x="8322221" y="444999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Track budget</a:t>
            </a:r>
          </a:p>
        </p:txBody>
      </p:sp>
      <p:sp>
        <p:nvSpPr>
          <p:cNvPr id="12" name="Rectangle: Rounded Corners 11">
            <a:extLst>
              <a:ext uri="{FF2B5EF4-FFF2-40B4-BE49-F238E27FC236}">
                <a16:creationId xmlns:a16="http://schemas.microsoft.com/office/drawing/2014/main" id="{9A052042-2FDC-92C8-E445-6D574CEDFD44}"/>
              </a:ext>
            </a:extLst>
          </p:cNvPr>
          <p:cNvSpPr/>
          <p:nvPr/>
        </p:nvSpPr>
        <p:spPr>
          <a:xfrm>
            <a:off x="8300182" y="343673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Saving goals</a:t>
            </a:r>
          </a:p>
        </p:txBody>
      </p:sp>
      <p:sp>
        <p:nvSpPr>
          <p:cNvPr id="13" name="Rectangle: Rounded Corners 12">
            <a:extLst>
              <a:ext uri="{FF2B5EF4-FFF2-40B4-BE49-F238E27FC236}">
                <a16:creationId xmlns:a16="http://schemas.microsoft.com/office/drawing/2014/main" id="{8F69EA74-2F9D-B10C-AA8D-6C1668D16632}"/>
              </a:ext>
            </a:extLst>
          </p:cNvPr>
          <p:cNvSpPr/>
          <p:nvPr/>
        </p:nvSpPr>
        <p:spPr>
          <a:xfrm>
            <a:off x="8300182"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 history</a:t>
            </a:r>
          </a:p>
        </p:txBody>
      </p:sp>
      <p:sp>
        <p:nvSpPr>
          <p:cNvPr id="14" name="Rectangle: Rounded Corners 13">
            <a:extLst>
              <a:ext uri="{FF2B5EF4-FFF2-40B4-BE49-F238E27FC236}">
                <a16:creationId xmlns:a16="http://schemas.microsoft.com/office/drawing/2014/main" id="{F49DABCE-33B3-ED75-36C7-63DB92AA2FA3}"/>
              </a:ext>
            </a:extLst>
          </p:cNvPr>
          <p:cNvSpPr/>
          <p:nvPr/>
        </p:nvSpPr>
        <p:spPr>
          <a:xfrm>
            <a:off x="8312261" y="128337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Budgets</a:t>
            </a:r>
          </a:p>
        </p:txBody>
      </p:sp>
      <p:sp>
        <p:nvSpPr>
          <p:cNvPr id="15" name="Rectangle: Rounded Corners 14">
            <a:extLst>
              <a:ext uri="{FF2B5EF4-FFF2-40B4-BE49-F238E27FC236}">
                <a16:creationId xmlns:a16="http://schemas.microsoft.com/office/drawing/2014/main" id="{9BE83F6B-CA2D-AC45-85D6-FC03D6A2779F}"/>
              </a:ext>
            </a:extLst>
          </p:cNvPr>
          <p:cNvSpPr/>
          <p:nvPr/>
        </p:nvSpPr>
        <p:spPr>
          <a:xfrm>
            <a:off x="4803460" y="3471151"/>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Categories</a:t>
            </a:r>
          </a:p>
        </p:txBody>
      </p:sp>
      <p:sp>
        <p:nvSpPr>
          <p:cNvPr id="16" name="Rectangle: Rounded Corners 15">
            <a:extLst>
              <a:ext uri="{FF2B5EF4-FFF2-40B4-BE49-F238E27FC236}">
                <a16:creationId xmlns:a16="http://schemas.microsoft.com/office/drawing/2014/main" id="{FBAF5E4A-AB4C-117D-98CB-FE069DD54213}"/>
              </a:ext>
            </a:extLst>
          </p:cNvPr>
          <p:cNvSpPr/>
          <p:nvPr/>
        </p:nvSpPr>
        <p:spPr>
          <a:xfrm>
            <a:off x="4803460" y="235517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history</a:t>
            </a:r>
          </a:p>
        </p:txBody>
      </p:sp>
      <p:sp>
        <p:nvSpPr>
          <p:cNvPr id="17" name="Rectangle: Rounded Corners 16">
            <a:extLst>
              <a:ext uri="{FF2B5EF4-FFF2-40B4-BE49-F238E27FC236}">
                <a16:creationId xmlns:a16="http://schemas.microsoft.com/office/drawing/2014/main" id="{EDD35AF7-D569-3C57-61CE-CF573CB8FEEA}"/>
              </a:ext>
            </a:extLst>
          </p:cNvPr>
          <p:cNvSpPr/>
          <p:nvPr/>
        </p:nvSpPr>
        <p:spPr>
          <a:xfrm>
            <a:off x="4785900" y="1317507"/>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Transactions</a:t>
            </a:r>
          </a:p>
        </p:txBody>
      </p:sp>
      <p:sp>
        <p:nvSpPr>
          <p:cNvPr id="18" name="Rectangle: Rounded Corners 17">
            <a:extLst>
              <a:ext uri="{FF2B5EF4-FFF2-40B4-BE49-F238E27FC236}">
                <a16:creationId xmlns:a16="http://schemas.microsoft.com/office/drawing/2014/main" id="{BEF840BC-D7FF-6A3A-03E6-89B83EF82D41}"/>
              </a:ext>
            </a:extLst>
          </p:cNvPr>
          <p:cNvSpPr/>
          <p:nvPr/>
        </p:nvSpPr>
        <p:spPr>
          <a:xfrm>
            <a:off x="1230683" y="4446418"/>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Spending categories</a:t>
            </a:r>
          </a:p>
        </p:txBody>
      </p:sp>
      <p:sp>
        <p:nvSpPr>
          <p:cNvPr id="19" name="Rectangle: Rounded Corners 18">
            <a:extLst>
              <a:ext uri="{FF2B5EF4-FFF2-40B4-BE49-F238E27FC236}">
                <a16:creationId xmlns:a16="http://schemas.microsoft.com/office/drawing/2014/main" id="{D7E2D6C9-2458-C699-27DE-FA2215FFC3EA}"/>
              </a:ext>
            </a:extLst>
          </p:cNvPr>
          <p:cNvSpPr/>
          <p:nvPr/>
        </p:nvSpPr>
        <p:spPr>
          <a:xfrm>
            <a:off x="1230683" y="3436732"/>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Expenses insights</a:t>
            </a:r>
          </a:p>
        </p:txBody>
      </p:sp>
      <p:sp>
        <p:nvSpPr>
          <p:cNvPr id="20" name="Rectangle: Rounded Corners 19">
            <a:extLst>
              <a:ext uri="{FF2B5EF4-FFF2-40B4-BE49-F238E27FC236}">
                <a16:creationId xmlns:a16="http://schemas.microsoft.com/office/drawing/2014/main" id="{9406BDDE-7864-26FA-DD41-F1F0FDF99B01}"/>
              </a:ext>
            </a:extLst>
          </p:cNvPr>
          <p:cNvSpPr/>
          <p:nvPr/>
        </p:nvSpPr>
        <p:spPr>
          <a:xfrm>
            <a:off x="1230683" y="2427046"/>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Monthly spending</a:t>
            </a:r>
          </a:p>
        </p:txBody>
      </p:sp>
      <p:sp>
        <p:nvSpPr>
          <p:cNvPr id="21" name="Rectangle: Rounded Corners 20">
            <a:extLst>
              <a:ext uri="{FF2B5EF4-FFF2-40B4-BE49-F238E27FC236}">
                <a16:creationId xmlns:a16="http://schemas.microsoft.com/office/drawing/2014/main" id="{15226062-F1F2-31DB-3D81-9EC97CE43A11}"/>
              </a:ext>
            </a:extLst>
          </p:cNvPr>
          <p:cNvSpPr/>
          <p:nvPr/>
        </p:nvSpPr>
        <p:spPr>
          <a:xfrm>
            <a:off x="11858542" y="7014743"/>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Budget alert</a:t>
            </a:r>
          </a:p>
        </p:txBody>
      </p:sp>
      <p:sp>
        <p:nvSpPr>
          <p:cNvPr id="22" name="Rectangle: Rounded Corners 21">
            <a:extLst>
              <a:ext uri="{FF2B5EF4-FFF2-40B4-BE49-F238E27FC236}">
                <a16:creationId xmlns:a16="http://schemas.microsoft.com/office/drawing/2014/main" id="{5BA3A9C7-8172-81EF-96ED-7E843B81A9DC}"/>
              </a:ext>
            </a:extLst>
          </p:cNvPr>
          <p:cNvSpPr/>
          <p:nvPr/>
        </p:nvSpPr>
        <p:spPr>
          <a:xfrm>
            <a:off x="1233423" y="1337064"/>
            <a:ext cx="1600072" cy="512956"/>
          </a:xfrm>
          <a:prstGeom prst="roundRect">
            <a:avLst/>
          </a:prstGeom>
          <a:solidFill>
            <a:srgbClr val="D6C3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Dashboard</a:t>
            </a:r>
          </a:p>
        </p:txBody>
      </p:sp>
      <p:sp>
        <p:nvSpPr>
          <p:cNvPr id="23" name="Rectangle: Rounded Corners 22">
            <a:extLst>
              <a:ext uri="{FF2B5EF4-FFF2-40B4-BE49-F238E27FC236}">
                <a16:creationId xmlns:a16="http://schemas.microsoft.com/office/drawing/2014/main" id="{EF09E730-EE65-444A-F9E1-7D1EE790989F}"/>
              </a:ext>
            </a:extLst>
          </p:cNvPr>
          <p:cNvSpPr/>
          <p:nvPr/>
        </p:nvSpPr>
        <p:spPr>
          <a:xfrm>
            <a:off x="6515164" y="5943600"/>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Create budget</a:t>
            </a:r>
          </a:p>
        </p:txBody>
      </p:sp>
      <p:sp>
        <p:nvSpPr>
          <p:cNvPr id="24" name="Rectangle: Rounded Corners 23">
            <a:extLst>
              <a:ext uri="{FF2B5EF4-FFF2-40B4-BE49-F238E27FC236}">
                <a16:creationId xmlns:a16="http://schemas.microsoft.com/office/drawing/2014/main" id="{E7C3BCDA-9053-37C4-6B65-5D5AA0CF50A8}"/>
              </a:ext>
            </a:extLst>
          </p:cNvPr>
          <p:cNvSpPr/>
          <p:nvPr/>
        </p:nvSpPr>
        <p:spPr>
          <a:xfrm>
            <a:off x="6515164" y="117991"/>
            <a:ext cx="1600072" cy="512956"/>
          </a:xfrm>
          <a:prstGeom prst="roundRect">
            <a:avLst/>
          </a:prstGeom>
          <a:solidFill>
            <a:srgbClr val="7543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Home screen</a:t>
            </a:r>
          </a:p>
        </p:txBody>
      </p:sp>
      <p:cxnSp>
        <p:nvCxnSpPr>
          <p:cNvPr id="25" name="Connector: Curved 24">
            <a:extLst>
              <a:ext uri="{FF2B5EF4-FFF2-40B4-BE49-F238E27FC236}">
                <a16:creationId xmlns:a16="http://schemas.microsoft.com/office/drawing/2014/main" id="{D71AA31B-D644-369C-C523-29792B9F053F}"/>
              </a:ext>
            </a:extLst>
          </p:cNvPr>
          <p:cNvCxnSpPr>
            <a:stCxn id="24" idx="2"/>
            <a:endCxn id="22" idx="0"/>
          </p:cNvCxnSpPr>
          <p:nvPr/>
        </p:nvCxnSpPr>
        <p:spPr>
          <a:xfrm rot="5400000">
            <a:off x="4321272" y="-1656865"/>
            <a:ext cx="706117"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036344DB-5BB5-587D-ADBF-DBFE779AA3CE}"/>
              </a:ext>
            </a:extLst>
          </p:cNvPr>
          <p:cNvCxnSpPr>
            <a:stCxn id="24" idx="2"/>
            <a:endCxn id="17" idx="0"/>
          </p:cNvCxnSpPr>
          <p:nvPr/>
        </p:nvCxnSpPr>
        <p:spPr>
          <a:xfrm rot="5400000">
            <a:off x="6107288" y="109595"/>
            <a:ext cx="686560" cy="172926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FA18A667-7473-F658-41D6-53361CFA8E7B}"/>
              </a:ext>
            </a:extLst>
          </p:cNvPr>
          <p:cNvCxnSpPr>
            <a:stCxn id="24" idx="2"/>
            <a:endCxn id="10" idx="0"/>
          </p:cNvCxnSpPr>
          <p:nvPr/>
        </p:nvCxnSpPr>
        <p:spPr>
          <a:xfrm rot="16200000" flipH="1">
            <a:off x="9629858" y="-1683712"/>
            <a:ext cx="652424"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A21539B2-A9B8-927B-0FF5-EC802643C90F}"/>
              </a:ext>
            </a:extLst>
          </p:cNvPr>
          <p:cNvCxnSpPr>
            <a:stCxn id="24" idx="2"/>
            <a:endCxn id="14" idx="0"/>
          </p:cNvCxnSpPr>
          <p:nvPr/>
        </p:nvCxnSpPr>
        <p:spPr>
          <a:xfrm rot="16200000" flipH="1">
            <a:off x="7887536" y="58610"/>
            <a:ext cx="652424" cy="179709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5335934-05AC-3D66-A00B-5B2B32939874}"/>
              </a:ext>
            </a:extLst>
          </p:cNvPr>
          <p:cNvCxnSpPr>
            <a:stCxn id="24" idx="2"/>
            <a:endCxn id="23" idx="0"/>
          </p:cNvCxnSpPr>
          <p:nvPr/>
        </p:nvCxnSpPr>
        <p:spPr>
          <a:xfrm>
            <a:off x="7315200" y="630947"/>
            <a:ext cx="0" cy="5312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5A154B0D-E880-1C92-1970-81690A2861CF}"/>
              </a:ext>
            </a:extLst>
          </p:cNvPr>
          <p:cNvCxnSpPr>
            <a:stCxn id="22" idx="1"/>
            <a:endCxn id="18" idx="1"/>
          </p:cNvCxnSpPr>
          <p:nvPr/>
        </p:nvCxnSpPr>
        <p:spPr>
          <a:xfrm rot="10800000" flipV="1">
            <a:off x="1230683" y="1593542"/>
            <a:ext cx="2740" cy="3109354"/>
          </a:xfrm>
          <a:prstGeom prst="bentConnector3">
            <a:avLst>
              <a:gd name="adj1" fmla="val 22383358"/>
            </a:avLst>
          </a:prstGeom>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5BE87AA-3402-A010-088D-F4E8B863B3F9}"/>
              </a:ext>
            </a:extLst>
          </p:cNvPr>
          <p:cNvCxnSpPr>
            <a:stCxn id="17" idx="1"/>
            <a:endCxn id="3" idx="1"/>
          </p:cNvCxnSpPr>
          <p:nvPr/>
        </p:nvCxnSpPr>
        <p:spPr>
          <a:xfrm rot="10800000" flipH="1" flipV="1">
            <a:off x="4785900" y="1573984"/>
            <a:ext cx="17560" cy="3111941"/>
          </a:xfrm>
          <a:prstGeom prst="bentConnector3">
            <a:avLst>
              <a:gd name="adj1" fmla="val -3740678"/>
            </a:avLst>
          </a:prstGeom>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D5CB56E5-8E08-4E03-6E4A-4BC884071F27}"/>
              </a:ext>
            </a:extLst>
          </p:cNvPr>
          <p:cNvCxnSpPr>
            <a:stCxn id="14" idx="3"/>
            <a:endCxn id="11" idx="3"/>
          </p:cNvCxnSpPr>
          <p:nvPr/>
        </p:nvCxnSpPr>
        <p:spPr>
          <a:xfrm>
            <a:off x="9912333" y="1539849"/>
            <a:ext cx="9960" cy="3166621"/>
          </a:xfrm>
          <a:prstGeom prst="bentConnector3">
            <a:avLst>
              <a:gd name="adj1" fmla="val 6811225"/>
            </a:avLst>
          </a:prstGeom>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DE7E9CA6-4BA2-BA76-F816-D8B15F8FC4B9}"/>
              </a:ext>
            </a:extLst>
          </p:cNvPr>
          <p:cNvCxnSpPr>
            <a:stCxn id="10" idx="3"/>
            <a:endCxn id="7" idx="3"/>
          </p:cNvCxnSpPr>
          <p:nvPr/>
        </p:nvCxnSpPr>
        <p:spPr>
          <a:xfrm>
            <a:off x="13396977" y="1539849"/>
            <a:ext cx="12700" cy="3120057"/>
          </a:xfrm>
          <a:prstGeom prst="bentConnector3">
            <a:avLst>
              <a:gd name="adj1" fmla="val 5536709"/>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B9BCF1F-3840-FDF6-A1C1-5601829CD1E5}"/>
              </a:ext>
            </a:extLst>
          </p:cNvPr>
          <p:cNvCxnSpPr>
            <a:stCxn id="20" idx="1"/>
          </p:cNvCxnSpPr>
          <p:nvPr/>
        </p:nvCxnSpPr>
        <p:spPr>
          <a:xfrm flipH="1">
            <a:off x="601884" y="2683524"/>
            <a:ext cx="628799" cy="249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579933A-7194-E1E3-B410-509E8A734A08}"/>
              </a:ext>
            </a:extLst>
          </p:cNvPr>
          <p:cNvCxnSpPr>
            <a:stCxn id="19" idx="1"/>
          </p:cNvCxnSpPr>
          <p:nvPr/>
        </p:nvCxnSpPr>
        <p:spPr>
          <a:xfrm flipH="1">
            <a:off x="601884" y="3693210"/>
            <a:ext cx="628799" cy="106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C49FA0-764B-F839-55E7-1391693A2816}"/>
              </a:ext>
            </a:extLst>
          </p:cNvPr>
          <p:cNvCxnSpPr>
            <a:stCxn id="16" idx="1"/>
          </p:cNvCxnSpPr>
          <p:nvPr/>
        </p:nvCxnSpPr>
        <p:spPr>
          <a:xfrm flipH="1">
            <a:off x="4143737" y="2611652"/>
            <a:ext cx="659723" cy="3271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FAED6C0-16CA-8B59-B233-76E4BE728542}"/>
              </a:ext>
            </a:extLst>
          </p:cNvPr>
          <p:cNvCxnSpPr>
            <a:stCxn id="15" idx="1"/>
          </p:cNvCxnSpPr>
          <p:nvPr/>
        </p:nvCxnSpPr>
        <p:spPr>
          <a:xfrm flipH="1" flipV="1">
            <a:off x="4143737" y="3703899"/>
            <a:ext cx="659723" cy="23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85429A5-713A-B723-5550-B674614EB139}"/>
              </a:ext>
            </a:extLst>
          </p:cNvPr>
          <p:cNvCxnSpPr>
            <a:stCxn id="13" idx="3"/>
          </p:cNvCxnSpPr>
          <p:nvPr/>
        </p:nvCxnSpPr>
        <p:spPr>
          <a:xfrm>
            <a:off x="9900254" y="2611652"/>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A64F7B5-2715-7125-456C-2B17BFD0913E}"/>
              </a:ext>
            </a:extLst>
          </p:cNvPr>
          <p:cNvCxnSpPr/>
          <p:nvPr/>
        </p:nvCxnSpPr>
        <p:spPr>
          <a:xfrm>
            <a:off x="9922293" y="3702393"/>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05CC355-876F-13D6-364A-53DB61F5BBB0}"/>
              </a:ext>
            </a:extLst>
          </p:cNvPr>
          <p:cNvCxnSpPr/>
          <p:nvPr/>
        </p:nvCxnSpPr>
        <p:spPr>
          <a:xfrm>
            <a:off x="13396977" y="2563056"/>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58D954-D79B-D858-CFBB-5A21F972E9A5}"/>
              </a:ext>
            </a:extLst>
          </p:cNvPr>
          <p:cNvCxnSpPr/>
          <p:nvPr/>
        </p:nvCxnSpPr>
        <p:spPr>
          <a:xfrm>
            <a:off x="13418957" y="3702182"/>
            <a:ext cx="679007" cy="391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nector: Curved 41">
            <a:extLst>
              <a:ext uri="{FF2B5EF4-FFF2-40B4-BE49-F238E27FC236}">
                <a16:creationId xmlns:a16="http://schemas.microsoft.com/office/drawing/2014/main" id="{6BBAABAD-17F9-AD91-1AFC-0DECBF53E15D}"/>
              </a:ext>
            </a:extLst>
          </p:cNvPr>
          <p:cNvCxnSpPr>
            <a:cxnSpLocks/>
            <a:stCxn id="23" idx="2"/>
            <a:endCxn id="5" idx="0"/>
          </p:cNvCxnSpPr>
          <p:nvPr/>
        </p:nvCxnSpPr>
        <p:spPr>
          <a:xfrm rot="5400000">
            <a:off x="4412216" y="4077800"/>
            <a:ext cx="524228" cy="52817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Curved 42">
            <a:extLst>
              <a:ext uri="{FF2B5EF4-FFF2-40B4-BE49-F238E27FC236}">
                <a16:creationId xmlns:a16="http://schemas.microsoft.com/office/drawing/2014/main" id="{30C71375-EC57-6BD6-6660-A83836DCFBF8}"/>
              </a:ext>
            </a:extLst>
          </p:cNvPr>
          <p:cNvCxnSpPr>
            <a:stCxn id="23" idx="2"/>
            <a:endCxn id="6" idx="0"/>
          </p:cNvCxnSpPr>
          <p:nvPr/>
        </p:nvCxnSpPr>
        <p:spPr>
          <a:xfrm rot="5400000">
            <a:off x="6143265" y="5916787"/>
            <a:ext cx="632166" cy="17117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0C9D7030-A4C3-8DD5-9BE0-3120A2B8E96A}"/>
              </a:ext>
            </a:extLst>
          </p:cNvPr>
          <p:cNvCxnSpPr>
            <a:stCxn id="23" idx="2"/>
            <a:endCxn id="4" idx="0"/>
          </p:cNvCxnSpPr>
          <p:nvPr/>
        </p:nvCxnSpPr>
        <p:spPr>
          <a:xfrm rot="16200000" flipH="1">
            <a:off x="7935036" y="5836719"/>
            <a:ext cx="618660" cy="185833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Curved 44">
            <a:extLst>
              <a:ext uri="{FF2B5EF4-FFF2-40B4-BE49-F238E27FC236}">
                <a16:creationId xmlns:a16="http://schemas.microsoft.com/office/drawing/2014/main" id="{4E911598-7A18-C287-162C-AEA75F79DF00}"/>
              </a:ext>
            </a:extLst>
          </p:cNvPr>
          <p:cNvCxnSpPr>
            <a:stCxn id="23" idx="2"/>
            <a:endCxn id="21" idx="0"/>
          </p:cNvCxnSpPr>
          <p:nvPr/>
        </p:nvCxnSpPr>
        <p:spPr>
          <a:xfrm rot="16200000" flipH="1">
            <a:off x="9707796" y="4063960"/>
            <a:ext cx="558187" cy="5343378"/>
          </a:xfrm>
          <a:prstGeom prst="curvedConnector3">
            <a:avLst>
              <a:gd name="adj1" fmla="val 41705"/>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B0082"/>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B08B6B-DB7F-32D1-CD94-08F2792CE856}"/>
              </a:ext>
            </a:extLst>
          </p:cNvPr>
          <p:cNvSpPr txBox="1"/>
          <p:nvPr/>
        </p:nvSpPr>
        <p:spPr>
          <a:xfrm>
            <a:off x="646771" y="401216"/>
            <a:ext cx="4270917" cy="523220"/>
          </a:xfrm>
          <a:prstGeom prst="rect">
            <a:avLst/>
          </a:prstGeom>
          <a:noFill/>
        </p:spPr>
        <p:txBody>
          <a:bodyPr wrap="square">
            <a:spAutoFit/>
          </a:bodyPr>
          <a:lstStyle/>
          <a:p>
            <a:r>
              <a:rPr lang="en-US" sz="2800" b="1" dirty="0">
                <a:solidFill>
                  <a:srgbClr val="4B0082"/>
                </a:solidFill>
                <a:latin typeface="Inter Bold" pitchFamily="34" charset="0"/>
                <a:ea typeface="Inter Bold" pitchFamily="34" charset="-122"/>
              </a:rPr>
              <a:t>Colors and Typography</a:t>
            </a:r>
            <a:endParaRPr lang="en-IN" sz="2800" dirty="0">
              <a:solidFill>
                <a:srgbClr val="4B0082"/>
              </a:solidFill>
            </a:endParaRPr>
          </a:p>
        </p:txBody>
      </p:sp>
      <p:sp>
        <p:nvSpPr>
          <p:cNvPr id="8" name="Text 2">
            <a:extLst>
              <a:ext uri="{FF2B5EF4-FFF2-40B4-BE49-F238E27FC236}">
                <a16:creationId xmlns:a16="http://schemas.microsoft.com/office/drawing/2014/main" id="{51FC34E7-3FCF-3B2D-A1E7-43A2ED95811B}"/>
              </a:ext>
            </a:extLst>
          </p:cNvPr>
          <p:cNvSpPr/>
          <p:nvPr/>
        </p:nvSpPr>
        <p:spPr>
          <a:xfrm>
            <a:off x="793789" y="936665"/>
            <a:ext cx="13042821" cy="1209999"/>
          </a:xfrm>
          <a:prstGeom prst="rect">
            <a:avLst/>
          </a:prstGeom>
          <a:noFill/>
          <a:ln/>
        </p:spPr>
        <p:txBody>
          <a:bodyPr wrap="square" lIns="0" tIns="0" rIns="0" bIns="0" rtlCol="0" anchor="t"/>
          <a:lstStyle/>
          <a:p>
            <a:pPr>
              <a:lnSpc>
                <a:spcPts val="2850"/>
              </a:lnSpc>
            </a:pPr>
            <a:r>
              <a:rPr lang="en-US" dirty="0"/>
              <a:t>For </a:t>
            </a:r>
            <a:r>
              <a:rPr lang="en-US" b="1" dirty="0" err="1"/>
              <a:t>SpendSmart</a:t>
            </a:r>
            <a:r>
              <a:rPr lang="en-US" dirty="0"/>
              <a:t>, I chose a deep indigo to symbolize intelligence and reliability, complemented by clean white, soft lavender, and subtle greys for a balanced, modern interface. I use the </a:t>
            </a:r>
            <a:r>
              <a:rPr lang="en-US" b="1" dirty="0"/>
              <a:t>Poppins</a:t>
            </a:r>
            <a:r>
              <a:rPr lang="en-US" dirty="0"/>
              <a:t> font family for its clarity and versatility, with bold weights for headings and regular weights for body text. This combination creates a professional, trustworthy, and visually refined experience.</a:t>
            </a:r>
          </a:p>
        </p:txBody>
      </p:sp>
      <p:pic>
        <p:nvPicPr>
          <p:cNvPr id="17" name="Picture 16">
            <a:extLst>
              <a:ext uri="{FF2B5EF4-FFF2-40B4-BE49-F238E27FC236}">
                <a16:creationId xmlns:a16="http://schemas.microsoft.com/office/drawing/2014/main" id="{7DB3169F-6585-9D1D-14D5-50AC0B1CF452}"/>
              </a:ext>
            </a:extLst>
          </p:cNvPr>
          <p:cNvPicPr>
            <a:picLocks noChangeAspect="1"/>
          </p:cNvPicPr>
          <p:nvPr/>
        </p:nvPicPr>
        <p:blipFill>
          <a:blip r:embed="rId2"/>
          <a:stretch>
            <a:fillRect/>
          </a:stretch>
        </p:blipFill>
        <p:spPr>
          <a:xfrm>
            <a:off x="793789" y="2219852"/>
            <a:ext cx="12769811" cy="5476347"/>
          </a:xfrm>
          <a:prstGeom prst="rect">
            <a:avLst/>
          </a:prstGeom>
        </p:spPr>
      </p:pic>
    </p:spTree>
    <p:extLst>
      <p:ext uri="{BB962C8B-B14F-4D97-AF65-F5344CB8AC3E}">
        <p14:creationId xmlns:p14="http://schemas.microsoft.com/office/powerpoint/2010/main" val="1631216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2D298A1-294B-3E59-E5C8-8EB72F913958}"/>
              </a:ext>
            </a:extLst>
          </p:cNvPr>
          <p:cNvPicPr>
            <a:picLocks noChangeAspect="1"/>
          </p:cNvPicPr>
          <p:nvPr/>
        </p:nvPicPr>
        <p:blipFill>
          <a:blip r:embed="rId2"/>
          <a:stretch>
            <a:fillRect/>
          </a:stretch>
        </p:blipFill>
        <p:spPr>
          <a:xfrm>
            <a:off x="8073483" y="2215527"/>
            <a:ext cx="3990555" cy="2234921"/>
          </a:xfrm>
          <a:prstGeom prst="rect">
            <a:avLst/>
          </a:prstGeom>
        </p:spPr>
      </p:pic>
      <p:pic>
        <p:nvPicPr>
          <p:cNvPr id="11" name="Picture 10">
            <a:extLst>
              <a:ext uri="{FF2B5EF4-FFF2-40B4-BE49-F238E27FC236}">
                <a16:creationId xmlns:a16="http://schemas.microsoft.com/office/drawing/2014/main" id="{94BB3EB6-8CB8-58E1-88AC-199051BB78A1}"/>
              </a:ext>
            </a:extLst>
          </p:cNvPr>
          <p:cNvPicPr>
            <a:picLocks noChangeAspect="1"/>
          </p:cNvPicPr>
          <p:nvPr/>
        </p:nvPicPr>
        <p:blipFill>
          <a:blip r:embed="rId3"/>
          <a:stretch>
            <a:fillRect/>
          </a:stretch>
        </p:blipFill>
        <p:spPr>
          <a:xfrm>
            <a:off x="4955748" y="5099052"/>
            <a:ext cx="4317460" cy="2514286"/>
          </a:xfrm>
          <a:prstGeom prst="rect">
            <a:avLst/>
          </a:prstGeom>
        </p:spPr>
      </p:pic>
      <p:sp>
        <p:nvSpPr>
          <p:cNvPr id="13" name="TextBox 12">
            <a:extLst>
              <a:ext uri="{FF2B5EF4-FFF2-40B4-BE49-F238E27FC236}">
                <a16:creationId xmlns:a16="http://schemas.microsoft.com/office/drawing/2014/main" id="{72DD7DD4-AC24-F48A-A15A-1AD71F3CFD97}"/>
              </a:ext>
            </a:extLst>
          </p:cNvPr>
          <p:cNvSpPr txBox="1"/>
          <p:nvPr/>
        </p:nvSpPr>
        <p:spPr>
          <a:xfrm>
            <a:off x="683567" y="1152169"/>
            <a:ext cx="11786839" cy="646331"/>
          </a:xfrm>
          <a:prstGeom prst="rect">
            <a:avLst/>
          </a:prstGeom>
          <a:noFill/>
        </p:spPr>
        <p:txBody>
          <a:bodyPr wrap="square">
            <a:spAutoFit/>
          </a:bodyPr>
          <a:lstStyle/>
          <a:p>
            <a:r>
              <a:rPr lang="en-US" dirty="0" err="1"/>
              <a:t>SpendSmart’s</a:t>
            </a:r>
            <a:r>
              <a:rPr lang="en-US" dirty="0"/>
              <a:t> category icons follow a consistent design language — rounded, minimal, and easy to </a:t>
            </a:r>
            <a:r>
              <a:rPr lang="en-US" dirty="0" err="1"/>
              <a:t>recognise</a:t>
            </a:r>
            <a:r>
              <a:rPr lang="en-US" dirty="0"/>
              <a:t> — ensuring clarity in visual hierarchy and quick user navigation across spending categories.</a:t>
            </a:r>
            <a:endParaRPr lang="en-IN" dirty="0"/>
          </a:p>
        </p:txBody>
      </p:sp>
      <p:sp>
        <p:nvSpPr>
          <p:cNvPr id="17" name="TextBox 16">
            <a:extLst>
              <a:ext uri="{FF2B5EF4-FFF2-40B4-BE49-F238E27FC236}">
                <a16:creationId xmlns:a16="http://schemas.microsoft.com/office/drawing/2014/main" id="{5B0268D2-9CAF-7611-36D6-2AF76DE5925D}"/>
              </a:ext>
            </a:extLst>
          </p:cNvPr>
          <p:cNvSpPr txBox="1"/>
          <p:nvPr/>
        </p:nvSpPr>
        <p:spPr>
          <a:xfrm>
            <a:off x="683567" y="402721"/>
            <a:ext cx="3498139"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Design System</a:t>
            </a:r>
            <a:endParaRPr lang="en-IN" sz="3200" dirty="0">
              <a:solidFill>
                <a:srgbClr val="4B0082"/>
              </a:solidFill>
            </a:endParaRPr>
          </a:p>
        </p:txBody>
      </p:sp>
      <p:pic>
        <p:nvPicPr>
          <p:cNvPr id="19" name="Picture 18">
            <a:extLst>
              <a:ext uri="{FF2B5EF4-FFF2-40B4-BE49-F238E27FC236}">
                <a16:creationId xmlns:a16="http://schemas.microsoft.com/office/drawing/2014/main" id="{4AFA4E5C-662A-6129-EE56-0F6D8D568C43}"/>
              </a:ext>
            </a:extLst>
          </p:cNvPr>
          <p:cNvPicPr>
            <a:picLocks noChangeAspect="1"/>
          </p:cNvPicPr>
          <p:nvPr/>
        </p:nvPicPr>
        <p:blipFill>
          <a:blip r:embed="rId4"/>
          <a:stretch>
            <a:fillRect/>
          </a:stretch>
        </p:blipFill>
        <p:spPr>
          <a:xfrm>
            <a:off x="2092817" y="2317115"/>
            <a:ext cx="4177778" cy="2133333"/>
          </a:xfrm>
          <a:prstGeom prst="rect">
            <a:avLst/>
          </a:prstGeom>
        </p:spPr>
      </p:pic>
    </p:spTree>
    <p:extLst>
      <p:ext uri="{BB962C8B-B14F-4D97-AF65-F5344CB8AC3E}">
        <p14:creationId xmlns:p14="http://schemas.microsoft.com/office/powerpoint/2010/main" val="2374724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C74A26-42B1-BA3D-C8BF-024385E95BB3}"/>
              </a:ext>
            </a:extLst>
          </p:cNvPr>
          <p:cNvSpPr txBox="1"/>
          <p:nvPr/>
        </p:nvSpPr>
        <p:spPr>
          <a:xfrm>
            <a:off x="540833" y="1669780"/>
            <a:ext cx="13548734" cy="1200329"/>
          </a:xfrm>
          <a:prstGeom prst="rect">
            <a:avLst/>
          </a:prstGeom>
          <a:noFill/>
        </p:spPr>
        <p:txBody>
          <a:bodyPr wrap="square">
            <a:spAutoFit/>
          </a:bodyPr>
          <a:lstStyle/>
          <a:p>
            <a:pPr algn="just">
              <a:buNone/>
            </a:pPr>
            <a:r>
              <a:rPr lang="en-US" dirty="0"/>
              <a:t>Low-fidelity wireframes for </a:t>
            </a:r>
            <a:r>
              <a:rPr lang="en-US" b="1" dirty="0" err="1"/>
              <a:t>SpendSmart</a:t>
            </a:r>
            <a:r>
              <a:rPr lang="en-US" dirty="0"/>
              <a:t> represent the initial visualization of the app’s structure and user flow. They focus on the basic layout, placement of key elements, and overall navigation without detailed design or styling. These wireframes help define the core functionality and ensure that the app’s information architecture and interactions align with user needs. They serve as an essential foundation before progressing to mid-fidelity wireframes.</a:t>
            </a:r>
          </a:p>
        </p:txBody>
      </p:sp>
      <p:sp>
        <p:nvSpPr>
          <p:cNvPr id="4" name="TextBox 3">
            <a:extLst>
              <a:ext uri="{FF2B5EF4-FFF2-40B4-BE49-F238E27FC236}">
                <a16:creationId xmlns:a16="http://schemas.microsoft.com/office/drawing/2014/main" id="{61C53EAB-AF6B-6097-1CAC-11309DBD39E7}"/>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Low Fidelity Wireframes</a:t>
            </a:r>
            <a:endParaRPr lang="en-IN" sz="3200" dirty="0">
              <a:solidFill>
                <a:srgbClr val="4B0082"/>
              </a:solidFill>
            </a:endParaRPr>
          </a:p>
        </p:txBody>
      </p:sp>
      <p:sp>
        <p:nvSpPr>
          <p:cNvPr id="6" name="TextBox 5">
            <a:extLst>
              <a:ext uri="{FF2B5EF4-FFF2-40B4-BE49-F238E27FC236}">
                <a16:creationId xmlns:a16="http://schemas.microsoft.com/office/drawing/2014/main" id="{FA1A0DDC-1D0A-8057-8D25-D9867713236B}"/>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pic>
        <p:nvPicPr>
          <p:cNvPr id="8" name="Picture 7">
            <a:extLst>
              <a:ext uri="{FF2B5EF4-FFF2-40B4-BE49-F238E27FC236}">
                <a16:creationId xmlns:a16="http://schemas.microsoft.com/office/drawing/2014/main" id="{A38D5BB6-F3C3-2A6D-8881-173492D3F74C}"/>
              </a:ext>
            </a:extLst>
          </p:cNvPr>
          <p:cNvPicPr>
            <a:picLocks noChangeAspect="1"/>
          </p:cNvPicPr>
          <p:nvPr/>
        </p:nvPicPr>
        <p:blipFill>
          <a:blip r:embed="rId2"/>
          <a:stretch>
            <a:fillRect/>
          </a:stretch>
        </p:blipFill>
        <p:spPr>
          <a:xfrm>
            <a:off x="540834" y="3451860"/>
            <a:ext cx="2888012" cy="4213992"/>
          </a:xfrm>
          <a:prstGeom prst="rect">
            <a:avLst/>
          </a:prstGeom>
        </p:spPr>
      </p:pic>
      <p:pic>
        <p:nvPicPr>
          <p:cNvPr id="10" name="Picture 9">
            <a:extLst>
              <a:ext uri="{FF2B5EF4-FFF2-40B4-BE49-F238E27FC236}">
                <a16:creationId xmlns:a16="http://schemas.microsoft.com/office/drawing/2014/main" id="{0A99E586-BB8B-4256-C58B-68E75FF6D091}"/>
              </a:ext>
            </a:extLst>
          </p:cNvPr>
          <p:cNvPicPr>
            <a:picLocks noChangeAspect="1"/>
          </p:cNvPicPr>
          <p:nvPr/>
        </p:nvPicPr>
        <p:blipFill>
          <a:blip r:embed="rId3"/>
          <a:stretch>
            <a:fillRect/>
          </a:stretch>
        </p:blipFill>
        <p:spPr>
          <a:xfrm>
            <a:off x="4275007" y="3445055"/>
            <a:ext cx="2807758" cy="4113932"/>
          </a:xfrm>
          <a:prstGeom prst="rect">
            <a:avLst/>
          </a:prstGeom>
        </p:spPr>
      </p:pic>
      <p:pic>
        <p:nvPicPr>
          <p:cNvPr id="12" name="Picture 11">
            <a:extLst>
              <a:ext uri="{FF2B5EF4-FFF2-40B4-BE49-F238E27FC236}">
                <a16:creationId xmlns:a16="http://schemas.microsoft.com/office/drawing/2014/main" id="{15B70A38-DA59-C7F9-2542-BE16A7B0D30B}"/>
              </a:ext>
            </a:extLst>
          </p:cNvPr>
          <p:cNvPicPr>
            <a:picLocks noChangeAspect="1"/>
          </p:cNvPicPr>
          <p:nvPr/>
        </p:nvPicPr>
        <p:blipFill>
          <a:blip r:embed="rId4"/>
          <a:stretch>
            <a:fillRect/>
          </a:stretch>
        </p:blipFill>
        <p:spPr>
          <a:xfrm>
            <a:off x="11234459" y="3435812"/>
            <a:ext cx="2581170" cy="4113932"/>
          </a:xfrm>
          <a:prstGeom prst="rect">
            <a:avLst/>
          </a:prstGeom>
        </p:spPr>
      </p:pic>
      <p:pic>
        <p:nvPicPr>
          <p:cNvPr id="14" name="Picture 13">
            <a:extLst>
              <a:ext uri="{FF2B5EF4-FFF2-40B4-BE49-F238E27FC236}">
                <a16:creationId xmlns:a16="http://schemas.microsoft.com/office/drawing/2014/main" id="{C1C47B33-3ACC-D167-4C6B-E5863EDBFDA6}"/>
              </a:ext>
            </a:extLst>
          </p:cNvPr>
          <p:cNvPicPr>
            <a:picLocks noChangeAspect="1"/>
          </p:cNvPicPr>
          <p:nvPr/>
        </p:nvPicPr>
        <p:blipFill>
          <a:blip r:embed="rId5"/>
          <a:stretch>
            <a:fillRect/>
          </a:stretch>
        </p:blipFill>
        <p:spPr>
          <a:xfrm>
            <a:off x="7826568" y="3445055"/>
            <a:ext cx="2664088" cy="4124423"/>
          </a:xfrm>
          <a:prstGeom prst="rect">
            <a:avLst/>
          </a:prstGeom>
        </p:spPr>
      </p:pic>
      <p:cxnSp>
        <p:nvCxnSpPr>
          <p:cNvPr id="28" name="Straight Arrow Connector 27">
            <a:extLst>
              <a:ext uri="{FF2B5EF4-FFF2-40B4-BE49-F238E27FC236}">
                <a16:creationId xmlns:a16="http://schemas.microsoft.com/office/drawing/2014/main" id="{9827E50A-D7D2-B796-83B7-A53B5EA18127}"/>
              </a:ext>
            </a:extLst>
          </p:cNvPr>
          <p:cNvCxnSpPr>
            <a:cxnSpLocks/>
          </p:cNvCxnSpPr>
          <p:nvPr/>
        </p:nvCxnSpPr>
        <p:spPr>
          <a:xfrm>
            <a:off x="3482906" y="5558856"/>
            <a:ext cx="738040" cy="8567"/>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32E7671-A7C5-B256-4A5C-3F527AF337F6}"/>
              </a:ext>
            </a:extLst>
          </p:cNvPr>
          <p:cNvCxnSpPr>
            <a:cxnSpLocks/>
          </p:cNvCxnSpPr>
          <p:nvPr/>
        </p:nvCxnSpPr>
        <p:spPr>
          <a:xfrm>
            <a:off x="10612576" y="5567531"/>
            <a:ext cx="515023" cy="0"/>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EFA3FEB-C65E-F8BF-FD29-03D035CF38D9}"/>
              </a:ext>
            </a:extLst>
          </p:cNvPr>
          <p:cNvCxnSpPr>
            <a:cxnSpLocks/>
          </p:cNvCxnSpPr>
          <p:nvPr/>
        </p:nvCxnSpPr>
        <p:spPr>
          <a:xfrm>
            <a:off x="7174687" y="5502021"/>
            <a:ext cx="597017" cy="0"/>
          </a:xfrm>
          <a:prstGeom prst="straightConnector1">
            <a:avLst/>
          </a:prstGeom>
          <a:ln>
            <a:solidFill>
              <a:srgbClr val="7543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147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3A36C19-68A1-B554-5752-87BBB19F8B26}"/>
              </a:ext>
            </a:extLst>
          </p:cNvPr>
          <p:cNvPicPr>
            <a:picLocks noChangeAspect="1"/>
          </p:cNvPicPr>
          <p:nvPr/>
        </p:nvPicPr>
        <p:blipFill>
          <a:blip r:embed="rId2"/>
          <a:stretch>
            <a:fillRect/>
          </a:stretch>
        </p:blipFill>
        <p:spPr>
          <a:xfrm>
            <a:off x="544105" y="423747"/>
            <a:ext cx="2519656" cy="3691053"/>
          </a:xfrm>
          <a:prstGeom prst="rect">
            <a:avLst/>
          </a:prstGeom>
        </p:spPr>
      </p:pic>
      <p:pic>
        <p:nvPicPr>
          <p:cNvPr id="17" name="Picture 16">
            <a:extLst>
              <a:ext uri="{FF2B5EF4-FFF2-40B4-BE49-F238E27FC236}">
                <a16:creationId xmlns:a16="http://schemas.microsoft.com/office/drawing/2014/main" id="{78BED274-1E82-B492-70A7-F415099A9A11}"/>
              </a:ext>
            </a:extLst>
          </p:cNvPr>
          <p:cNvPicPr>
            <a:picLocks noChangeAspect="1"/>
          </p:cNvPicPr>
          <p:nvPr/>
        </p:nvPicPr>
        <p:blipFill>
          <a:blip r:embed="rId3"/>
          <a:stretch>
            <a:fillRect/>
          </a:stretch>
        </p:blipFill>
        <p:spPr>
          <a:xfrm>
            <a:off x="3079698" y="4382431"/>
            <a:ext cx="2323789" cy="3691053"/>
          </a:xfrm>
          <a:prstGeom prst="rect">
            <a:avLst/>
          </a:prstGeom>
        </p:spPr>
      </p:pic>
      <p:pic>
        <p:nvPicPr>
          <p:cNvPr id="19" name="Picture 18">
            <a:extLst>
              <a:ext uri="{FF2B5EF4-FFF2-40B4-BE49-F238E27FC236}">
                <a16:creationId xmlns:a16="http://schemas.microsoft.com/office/drawing/2014/main" id="{6B141BF3-30B4-6634-A40F-A43B540D6BC0}"/>
              </a:ext>
            </a:extLst>
          </p:cNvPr>
          <p:cNvPicPr>
            <a:picLocks noChangeAspect="1"/>
          </p:cNvPicPr>
          <p:nvPr/>
        </p:nvPicPr>
        <p:blipFill>
          <a:blip r:embed="rId4"/>
          <a:stretch>
            <a:fillRect/>
          </a:stretch>
        </p:blipFill>
        <p:spPr>
          <a:xfrm>
            <a:off x="9286279" y="328961"/>
            <a:ext cx="2323789" cy="3652026"/>
          </a:xfrm>
          <a:prstGeom prst="rect">
            <a:avLst/>
          </a:prstGeom>
        </p:spPr>
      </p:pic>
      <p:pic>
        <p:nvPicPr>
          <p:cNvPr id="21" name="Picture 20">
            <a:extLst>
              <a:ext uri="{FF2B5EF4-FFF2-40B4-BE49-F238E27FC236}">
                <a16:creationId xmlns:a16="http://schemas.microsoft.com/office/drawing/2014/main" id="{754B47B4-2FB1-00AE-1F18-A18C3AC6DEFC}"/>
              </a:ext>
            </a:extLst>
          </p:cNvPr>
          <p:cNvPicPr>
            <a:picLocks noChangeAspect="1"/>
          </p:cNvPicPr>
          <p:nvPr/>
        </p:nvPicPr>
        <p:blipFill>
          <a:blip r:embed="rId5"/>
          <a:stretch>
            <a:fillRect/>
          </a:stretch>
        </p:blipFill>
        <p:spPr>
          <a:xfrm>
            <a:off x="7237095" y="4382430"/>
            <a:ext cx="2323789" cy="3691054"/>
          </a:xfrm>
          <a:prstGeom prst="rect">
            <a:avLst/>
          </a:prstGeom>
        </p:spPr>
      </p:pic>
      <p:pic>
        <p:nvPicPr>
          <p:cNvPr id="23" name="Picture 22">
            <a:extLst>
              <a:ext uri="{FF2B5EF4-FFF2-40B4-BE49-F238E27FC236}">
                <a16:creationId xmlns:a16="http://schemas.microsoft.com/office/drawing/2014/main" id="{3EF0C563-6435-0FC6-D110-DAF0EA696D71}"/>
              </a:ext>
            </a:extLst>
          </p:cNvPr>
          <p:cNvPicPr>
            <a:picLocks noChangeAspect="1"/>
          </p:cNvPicPr>
          <p:nvPr/>
        </p:nvPicPr>
        <p:blipFill>
          <a:blip r:embed="rId6"/>
          <a:stretch>
            <a:fillRect/>
          </a:stretch>
        </p:blipFill>
        <p:spPr>
          <a:xfrm>
            <a:off x="5279267" y="328961"/>
            <a:ext cx="2392319" cy="3691054"/>
          </a:xfrm>
          <a:prstGeom prst="rect">
            <a:avLst/>
          </a:prstGeom>
        </p:spPr>
      </p:pic>
      <p:pic>
        <p:nvPicPr>
          <p:cNvPr id="25" name="Picture 24">
            <a:extLst>
              <a:ext uri="{FF2B5EF4-FFF2-40B4-BE49-F238E27FC236}">
                <a16:creationId xmlns:a16="http://schemas.microsoft.com/office/drawing/2014/main" id="{0700780F-44E1-98DC-83F8-C8789F8155B4}"/>
              </a:ext>
            </a:extLst>
          </p:cNvPr>
          <p:cNvPicPr>
            <a:picLocks noChangeAspect="1"/>
          </p:cNvPicPr>
          <p:nvPr/>
        </p:nvPicPr>
        <p:blipFill>
          <a:blip r:embed="rId7"/>
          <a:stretch>
            <a:fillRect/>
          </a:stretch>
        </p:blipFill>
        <p:spPr>
          <a:xfrm>
            <a:off x="11901599" y="4020015"/>
            <a:ext cx="2323789" cy="3958683"/>
          </a:xfrm>
          <a:prstGeom prst="rect">
            <a:avLst/>
          </a:prstGeom>
        </p:spPr>
      </p:pic>
    </p:spTree>
    <p:extLst>
      <p:ext uri="{BB962C8B-B14F-4D97-AF65-F5344CB8AC3E}">
        <p14:creationId xmlns:p14="http://schemas.microsoft.com/office/powerpoint/2010/main" val="3469364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C43DD2-FECF-3D1C-32E7-7FCA2E3EB459}"/>
              </a:ext>
            </a:extLst>
          </p:cNvPr>
          <p:cNvSpPr txBox="1"/>
          <p:nvPr/>
        </p:nvSpPr>
        <p:spPr>
          <a:xfrm>
            <a:off x="540833" y="1540511"/>
            <a:ext cx="13169590" cy="923330"/>
          </a:xfrm>
          <a:prstGeom prst="rect">
            <a:avLst/>
          </a:prstGeom>
          <a:noFill/>
        </p:spPr>
        <p:txBody>
          <a:bodyPr wrap="square">
            <a:spAutoFit/>
          </a:bodyPr>
          <a:lstStyle/>
          <a:p>
            <a:pPr algn="just">
              <a:buNone/>
            </a:pPr>
            <a:r>
              <a:rPr lang="en-US" dirty="0"/>
              <a:t>Mid-fidelity wireframes for </a:t>
            </a:r>
            <a:r>
              <a:rPr lang="en-US" b="1" dirty="0" err="1"/>
              <a:t>SpendSmart</a:t>
            </a:r>
            <a:r>
              <a:rPr lang="en-US" dirty="0"/>
              <a:t> outline the app’s core functionality and layout, providing a clear visual representation of the user interface. These wireframes focus on structure and usability without detailed design elements. They serve as a crucial step in refining the app’s user experience before moving to high-fidelity prototypes.</a:t>
            </a:r>
          </a:p>
        </p:txBody>
      </p:sp>
      <p:sp>
        <p:nvSpPr>
          <p:cNvPr id="4" name="TextBox 3">
            <a:extLst>
              <a:ext uri="{FF2B5EF4-FFF2-40B4-BE49-F238E27FC236}">
                <a16:creationId xmlns:a16="http://schemas.microsoft.com/office/drawing/2014/main" id="{0A5D6157-0765-2A11-20A1-F563A1B28B1F}"/>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sp>
        <p:nvSpPr>
          <p:cNvPr id="5" name="TextBox 4">
            <a:extLst>
              <a:ext uri="{FF2B5EF4-FFF2-40B4-BE49-F238E27FC236}">
                <a16:creationId xmlns:a16="http://schemas.microsoft.com/office/drawing/2014/main" id="{39DD72FA-FB17-2429-F623-055E54683E02}"/>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Mid Fidelity Wireframes</a:t>
            </a:r>
            <a:endParaRPr lang="en-IN" sz="3200" dirty="0">
              <a:solidFill>
                <a:srgbClr val="4B0082"/>
              </a:solidFill>
            </a:endParaRPr>
          </a:p>
        </p:txBody>
      </p:sp>
      <p:pic>
        <p:nvPicPr>
          <p:cNvPr id="7" name="Picture 6">
            <a:extLst>
              <a:ext uri="{FF2B5EF4-FFF2-40B4-BE49-F238E27FC236}">
                <a16:creationId xmlns:a16="http://schemas.microsoft.com/office/drawing/2014/main" id="{3E4693B7-C141-08D3-0E05-8956F0D8143A}"/>
              </a:ext>
            </a:extLst>
          </p:cNvPr>
          <p:cNvPicPr>
            <a:picLocks noChangeAspect="1"/>
          </p:cNvPicPr>
          <p:nvPr/>
        </p:nvPicPr>
        <p:blipFill>
          <a:blip r:embed="rId2"/>
          <a:stretch>
            <a:fillRect/>
          </a:stretch>
        </p:blipFill>
        <p:spPr>
          <a:xfrm>
            <a:off x="1083216" y="3368928"/>
            <a:ext cx="2102855" cy="4558861"/>
          </a:xfrm>
          <a:prstGeom prst="rect">
            <a:avLst/>
          </a:prstGeom>
        </p:spPr>
      </p:pic>
      <p:pic>
        <p:nvPicPr>
          <p:cNvPr id="9" name="Picture 8">
            <a:extLst>
              <a:ext uri="{FF2B5EF4-FFF2-40B4-BE49-F238E27FC236}">
                <a16:creationId xmlns:a16="http://schemas.microsoft.com/office/drawing/2014/main" id="{CF0A579B-5534-65A3-A53A-B76D0ED18416}"/>
              </a:ext>
            </a:extLst>
          </p:cNvPr>
          <p:cNvPicPr>
            <a:picLocks noChangeAspect="1"/>
          </p:cNvPicPr>
          <p:nvPr/>
        </p:nvPicPr>
        <p:blipFill>
          <a:blip r:embed="rId3"/>
          <a:stretch>
            <a:fillRect/>
          </a:stretch>
        </p:blipFill>
        <p:spPr>
          <a:xfrm>
            <a:off x="3910363" y="2463841"/>
            <a:ext cx="2102854" cy="4558859"/>
          </a:xfrm>
          <a:prstGeom prst="rect">
            <a:avLst/>
          </a:prstGeom>
        </p:spPr>
      </p:pic>
      <p:pic>
        <p:nvPicPr>
          <p:cNvPr id="15" name="Picture 14">
            <a:extLst>
              <a:ext uri="{FF2B5EF4-FFF2-40B4-BE49-F238E27FC236}">
                <a16:creationId xmlns:a16="http://schemas.microsoft.com/office/drawing/2014/main" id="{2E446057-57F4-480C-5A4A-F52D0405CE34}"/>
              </a:ext>
            </a:extLst>
          </p:cNvPr>
          <p:cNvPicPr>
            <a:picLocks noChangeAspect="1"/>
          </p:cNvPicPr>
          <p:nvPr/>
        </p:nvPicPr>
        <p:blipFill>
          <a:blip r:embed="rId4"/>
          <a:stretch>
            <a:fillRect/>
          </a:stretch>
        </p:blipFill>
        <p:spPr>
          <a:xfrm>
            <a:off x="6648199" y="3307922"/>
            <a:ext cx="2102854" cy="4558858"/>
          </a:xfrm>
          <a:prstGeom prst="rect">
            <a:avLst/>
          </a:prstGeom>
        </p:spPr>
      </p:pic>
      <p:pic>
        <p:nvPicPr>
          <p:cNvPr id="17" name="Picture 16">
            <a:extLst>
              <a:ext uri="{FF2B5EF4-FFF2-40B4-BE49-F238E27FC236}">
                <a16:creationId xmlns:a16="http://schemas.microsoft.com/office/drawing/2014/main" id="{B32744E3-7BBC-D5E0-1D32-D68814D65E9E}"/>
              </a:ext>
            </a:extLst>
          </p:cNvPr>
          <p:cNvPicPr>
            <a:picLocks noChangeAspect="1"/>
          </p:cNvPicPr>
          <p:nvPr/>
        </p:nvPicPr>
        <p:blipFill>
          <a:blip r:embed="rId5"/>
          <a:stretch>
            <a:fillRect/>
          </a:stretch>
        </p:blipFill>
        <p:spPr>
          <a:xfrm>
            <a:off x="12188643" y="3371567"/>
            <a:ext cx="2102853" cy="4558855"/>
          </a:xfrm>
          <a:prstGeom prst="rect">
            <a:avLst/>
          </a:prstGeom>
        </p:spPr>
      </p:pic>
      <p:pic>
        <p:nvPicPr>
          <p:cNvPr id="19" name="Picture 18">
            <a:extLst>
              <a:ext uri="{FF2B5EF4-FFF2-40B4-BE49-F238E27FC236}">
                <a16:creationId xmlns:a16="http://schemas.microsoft.com/office/drawing/2014/main" id="{04734B66-8545-7109-A48C-021D1865DA2B}"/>
              </a:ext>
            </a:extLst>
          </p:cNvPr>
          <p:cNvPicPr>
            <a:picLocks noChangeAspect="1"/>
          </p:cNvPicPr>
          <p:nvPr/>
        </p:nvPicPr>
        <p:blipFill>
          <a:blip r:embed="rId6"/>
          <a:stretch>
            <a:fillRect/>
          </a:stretch>
        </p:blipFill>
        <p:spPr>
          <a:xfrm>
            <a:off x="9475345" y="2463841"/>
            <a:ext cx="2102853" cy="4558857"/>
          </a:xfrm>
          <a:prstGeom prst="rect">
            <a:avLst/>
          </a:prstGeom>
        </p:spPr>
      </p:pic>
    </p:spTree>
    <p:extLst>
      <p:ext uri="{BB962C8B-B14F-4D97-AF65-F5344CB8AC3E}">
        <p14:creationId xmlns:p14="http://schemas.microsoft.com/office/powerpoint/2010/main" val="1964392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BE2A33-F033-B500-DF38-D7A842D37698}"/>
              </a:ext>
            </a:extLst>
          </p:cNvPr>
          <p:cNvPicPr>
            <a:picLocks noChangeAspect="1"/>
          </p:cNvPicPr>
          <p:nvPr/>
        </p:nvPicPr>
        <p:blipFill>
          <a:blip r:embed="rId2"/>
          <a:stretch>
            <a:fillRect/>
          </a:stretch>
        </p:blipFill>
        <p:spPr>
          <a:xfrm>
            <a:off x="727969" y="1046480"/>
            <a:ext cx="2830634" cy="6136640"/>
          </a:xfrm>
          <a:prstGeom prst="rect">
            <a:avLst/>
          </a:prstGeom>
        </p:spPr>
      </p:pic>
      <p:pic>
        <p:nvPicPr>
          <p:cNvPr id="5" name="Picture 4">
            <a:extLst>
              <a:ext uri="{FF2B5EF4-FFF2-40B4-BE49-F238E27FC236}">
                <a16:creationId xmlns:a16="http://schemas.microsoft.com/office/drawing/2014/main" id="{94CF20DE-3D7D-0453-B99E-BD599BF07F60}"/>
              </a:ext>
            </a:extLst>
          </p:cNvPr>
          <p:cNvPicPr>
            <a:picLocks noChangeAspect="1"/>
          </p:cNvPicPr>
          <p:nvPr/>
        </p:nvPicPr>
        <p:blipFill>
          <a:blip r:embed="rId3"/>
          <a:stretch>
            <a:fillRect/>
          </a:stretch>
        </p:blipFill>
        <p:spPr>
          <a:xfrm>
            <a:off x="4263455" y="995682"/>
            <a:ext cx="2840006" cy="6156960"/>
          </a:xfrm>
          <a:prstGeom prst="rect">
            <a:avLst/>
          </a:prstGeom>
        </p:spPr>
      </p:pic>
      <p:pic>
        <p:nvPicPr>
          <p:cNvPr id="7" name="Picture 6">
            <a:extLst>
              <a:ext uri="{FF2B5EF4-FFF2-40B4-BE49-F238E27FC236}">
                <a16:creationId xmlns:a16="http://schemas.microsoft.com/office/drawing/2014/main" id="{3A70AC1B-12E4-5E00-74A2-891AAE817B29}"/>
              </a:ext>
            </a:extLst>
          </p:cNvPr>
          <p:cNvPicPr>
            <a:picLocks noChangeAspect="1"/>
          </p:cNvPicPr>
          <p:nvPr/>
        </p:nvPicPr>
        <p:blipFill>
          <a:blip r:embed="rId4"/>
          <a:stretch>
            <a:fillRect/>
          </a:stretch>
        </p:blipFill>
        <p:spPr>
          <a:xfrm>
            <a:off x="7808313" y="995682"/>
            <a:ext cx="2830634" cy="6136642"/>
          </a:xfrm>
          <a:prstGeom prst="rect">
            <a:avLst/>
          </a:prstGeom>
        </p:spPr>
      </p:pic>
      <p:pic>
        <p:nvPicPr>
          <p:cNvPr id="9" name="Picture 8">
            <a:extLst>
              <a:ext uri="{FF2B5EF4-FFF2-40B4-BE49-F238E27FC236}">
                <a16:creationId xmlns:a16="http://schemas.microsoft.com/office/drawing/2014/main" id="{FE70CDF1-AB48-1C28-1934-101B9D9FA622}"/>
              </a:ext>
            </a:extLst>
          </p:cNvPr>
          <p:cNvPicPr>
            <a:picLocks noChangeAspect="1"/>
          </p:cNvPicPr>
          <p:nvPr/>
        </p:nvPicPr>
        <p:blipFill>
          <a:blip r:embed="rId5"/>
          <a:stretch>
            <a:fillRect/>
          </a:stretch>
        </p:blipFill>
        <p:spPr>
          <a:xfrm>
            <a:off x="11225574" y="995682"/>
            <a:ext cx="2830634" cy="6136642"/>
          </a:xfrm>
          <a:prstGeom prst="rect">
            <a:avLst/>
          </a:prstGeom>
        </p:spPr>
      </p:pic>
    </p:spTree>
    <p:extLst>
      <p:ext uri="{BB962C8B-B14F-4D97-AF65-F5344CB8AC3E}">
        <p14:creationId xmlns:p14="http://schemas.microsoft.com/office/powerpoint/2010/main" val="547960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543C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AAC2D7B-0EED-5081-93DA-E2F42E8372C8}"/>
              </a:ext>
            </a:extLst>
          </p:cNvPr>
          <p:cNvSpPr/>
          <p:nvPr/>
        </p:nvSpPr>
        <p:spPr>
          <a:xfrm>
            <a:off x="0" y="3994616"/>
            <a:ext cx="14630400" cy="3117384"/>
          </a:xfrm>
          <a:prstGeom prst="rect">
            <a:avLst/>
          </a:prstGeom>
          <a:solidFill>
            <a:srgbClr val="4B0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DF09CB4C-38B9-A9A6-D453-B36D7D90E7FC}"/>
              </a:ext>
            </a:extLst>
          </p:cNvPr>
          <p:cNvSpPr txBox="1"/>
          <p:nvPr/>
        </p:nvSpPr>
        <p:spPr>
          <a:xfrm>
            <a:off x="540833" y="826467"/>
            <a:ext cx="5204277"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High Fidelity Wireframes</a:t>
            </a:r>
            <a:endParaRPr lang="en-IN" sz="3200" dirty="0">
              <a:solidFill>
                <a:srgbClr val="4B0082"/>
              </a:solidFill>
            </a:endParaRPr>
          </a:p>
        </p:txBody>
      </p:sp>
      <p:sp>
        <p:nvSpPr>
          <p:cNvPr id="3" name="TextBox 2">
            <a:extLst>
              <a:ext uri="{FF2B5EF4-FFF2-40B4-BE49-F238E27FC236}">
                <a16:creationId xmlns:a16="http://schemas.microsoft.com/office/drawing/2014/main" id="{CE60456A-5FF1-5775-2387-05B16D6CADCE}"/>
              </a:ext>
            </a:extLst>
          </p:cNvPr>
          <p:cNvSpPr txBox="1"/>
          <p:nvPr/>
        </p:nvSpPr>
        <p:spPr>
          <a:xfrm>
            <a:off x="540833" y="327866"/>
            <a:ext cx="1084767" cy="369332"/>
          </a:xfrm>
          <a:prstGeom prst="rect">
            <a:avLst/>
          </a:prstGeom>
          <a:noFill/>
        </p:spPr>
        <p:txBody>
          <a:bodyPr wrap="square">
            <a:spAutoFit/>
          </a:bodyPr>
          <a:lstStyle/>
          <a:p>
            <a:r>
              <a:rPr lang="en-US" b="1" dirty="0">
                <a:solidFill>
                  <a:srgbClr val="231971"/>
                </a:solidFill>
                <a:latin typeface="Inter Bold" pitchFamily="34" charset="0"/>
                <a:ea typeface="Inter Bold" pitchFamily="34" charset="-122"/>
              </a:rPr>
              <a:t>DESIGN</a:t>
            </a:r>
            <a:endParaRPr lang="en-IN" dirty="0"/>
          </a:p>
        </p:txBody>
      </p:sp>
      <p:sp>
        <p:nvSpPr>
          <p:cNvPr id="5" name="TextBox 4">
            <a:extLst>
              <a:ext uri="{FF2B5EF4-FFF2-40B4-BE49-F238E27FC236}">
                <a16:creationId xmlns:a16="http://schemas.microsoft.com/office/drawing/2014/main" id="{DC04506C-AE33-F611-FF14-BF6D04D3BCE1}"/>
              </a:ext>
            </a:extLst>
          </p:cNvPr>
          <p:cNvSpPr txBox="1"/>
          <p:nvPr/>
        </p:nvSpPr>
        <p:spPr>
          <a:xfrm>
            <a:off x="540833" y="1540511"/>
            <a:ext cx="12762809" cy="646331"/>
          </a:xfrm>
          <a:prstGeom prst="rect">
            <a:avLst/>
          </a:prstGeom>
          <a:noFill/>
        </p:spPr>
        <p:txBody>
          <a:bodyPr wrap="square">
            <a:spAutoFit/>
          </a:bodyPr>
          <a:lstStyle/>
          <a:p>
            <a:pPr algn="just"/>
            <a:r>
              <a:rPr lang="en-US" dirty="0"/>
              <a:t>High-fidelity wireframes for </a:t>
            </a:r>
            <a:r>
              <a:rPr lang="en-US" dirty="0" err="1"/>
              <a:t>SpendSmart</a:t>
            </a:r>
            <a:r>
              <a:rPr lang="en-US" dirty="0"/>
              <a:t> bring the final design vision to life, showcasing refined visuals, </a:t>
            </a:r>
            <a:r>
              <a:rPr lang="en-US" dirty="0" err="1"/>
              <a:t>colour</a:t>
            </a:r>
            <a:r>
              <a:rPr lang="en-US" dirty="0"/>
              <a:t> palette, typography, and interactive elements. They represent the completed user interface and highlight the app’s usability and visual consistency.</a:t>
            </a:r>
            <a:endParaRPr lang="en-IN" dirty="0"/>
          </a:p>
        </p:txBody>
      </p:sp>
      <p:pic>
        <p:nvPicPr>
          <p:cNvPr id="8" name="Picture 7">
            <a:extLst>
              <a:ext uri="{FF2B5EF4-FFF2-40B4-BE49-F238E27FC236}">
                <a16:creationId xmlns:a16="http://schemas.microsoft.com/office/drawing/2014/main" id="{FD8D6C85-3BF2-222D-1737-F697E995469E}"/>
              </a:ext>
            </a:extLst>
          </p:cNvPr>
          <p:cNvPicPr>
            <a:picLocks noChangeAspect="1"/>
          </p:cNvPicPr>
          <p:nvPr/>
        </p:nvPicPr>
        <p:blipFill>
          <a:blip r:embed="rId2"/>
          <a:stretch>
            <a:fillRect/>
          </a:stretch>
        </p:blipFill>
        <p:spPr>
          <a:xfrm>
            <a:off x="6134208" y="3059179"/>
            <a:ext cx="2315476" cy="5019810"/>
          </a:xfrm>
          <a:prstGeom prst="rect">
            <a:avLst/>
          </a:prstGeom>
        </p:spPr>
      </p:pic>
      <p:pic>
        <p:nvPicPr>
          <p:cNvPr id="10" name="Picture 9">
            <a:extLst>
              <a:ext uri="{FF2B5EF4-FFF2-40B4-BE49-F238E27FC236}">
                <a16:creationId xmlns:a16="http://schemas.microsoft.com/office/drawing/2014/main" id="{75892ABF-FD88-6656-807A-DCCCD183D678}"/>
              </a:ext>
            </a:extLst>
          </p:cNvPr>
          <p:cNvPicPr>
            <a:picLocks noChangeAspect="1"/>
          </p:cNvPicPr>
          <p:nvPr/>
        </p:nvPicPr>
        <p:blipFill>
          <a:blip r:embed="rId3"/>
          <a:stretch>
            <a:fillRect/>
          </a:stretch>
        </p:blipFill>
        <p:spPr>
          <a:xfrm>
            <a:off x="2969712" y="3059179"/>
            <a:ext cx="2300922" cy="4988259"/>
          </a:xfrm>
          <a:prstGeom prst="rect">
            <a:avLst/>
          </a:prstGeom>
        </p:spPr>
      </p:pic>
      <p:pic>
        <p:nvPicPr>
          <p:cNvPr id="12" name="Picture 11">
            <a:extLst>
              <a:ext uri="{FF2B5EF4-FFF2-40B4-BE49-F238E27FC236}">
                <a16:creationId xmlns:a16="http://schemas.microsoft.com/office/drawing/2014/main" id="{EA40915B-1D06-0CD5-7840-5F0BFF18A122}"/>
              </a:ext>
            </a:extLst>
          </p:cNvPr>
          <p:cNvPicPr>
            <a:picLocks noChangeAspect="1"/>
          </p:cNvPicPr>
          <p:nvPr/>
        </p:nvPicPr>
        <p:blipFill>
          <a:blip r:embed="rId4"/>
          <a:stretch>
            <a:fillRect/>
          </a:stretch>
        </p:blipFill>
        <p:spPr>
          <a:xfrm>
            <a:off x="9298705" y="3059177"/>
            <a:ext cx="2300923" cy="4988261"/>
          </a:xfrm>
          <a:prstGeom prst="rect">
            <a:avLst/>
          </a:prstGeom>
        </p:spPr>
      </p:pic>
    </p:spTree>
    <p:extLst>
      <p:ext uri="{BB962C8B-B14F-4D97-AF65-F5344CB8AC3E}">
        <p14:creationId xmlns:p14="http://schemas.microsoft.com/office/powerpoint/2010/main" val="39150045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13BBD7-6BF4-8FD5-55EF-9773A241F4AD}"/>
              </a:ext>
            </a:extLst>
          </p:cNvPr>
          <p:cNvSpPr txBox="1"/>
          <p:nvPr/>
        </p:nvSpPr>
        <p:spPr>
          <a:xfrm>
            <a:off x="540833" y="348435"/>
            <a:ext cx="3776524" cy="523220"/>
          </a:xfrm>
          <a:prstGeom prst="rect">
            <a:avLst/>
          </a:prstGeom>
          <a:noFill/>
        </p:spPr>
        <p:txBody>
          <a:bodyPr wrap="square">
            <a:spAutoFit/>
          </a:bodyPr>
          <a:lstStyle/>
          <a:p>
            <a:r>
              <a:rPr lang="en-US" sz="2800" b="1" dirty="0">
                <a:solidFill>
                  <a:srgbClr val="4B0082"/>
                </a:solidFill>
                <a:latin typeface="Inter Bold" pitchFamily="34" charset="0"/>
                <a:ea typeface="Inter Bold" pitchFamily="34" charset="-122"/>
              </a:rPr>
              <a:t>Main Screens</a:t>
            </a:r>
            <a:endParaRPr lang="en-IN" sz="2800" dirty="0">
              <a:solidFill>
                <a:srgbClr val="4B0082"/>
              </a:solidFill>
            </a:endParaRPr>
          </a:p>
        </p:txBody>
      </p:sp>
      <p:pic>
        <p:nvPicPr>
          <p:cNvPr id="12" name="Picture 11">
            <a:extLst>
              <a:ext uri="{FF2B5EF4-FFF2-40B4-BE49-F238E27FC236}">
                <a16:creationId xmlns:a16="http://schemas.microsoft.com/office/drawing/2014/main" id="{9EA08D17-611E-6643-30B8-4DFC59ABEA0B}"/>
              </a:ext>
            </a:extLst>
          </p:cNvPr>
          <p:cNvPicPr>
            <a:picLocks noChangeAspect="1"/>
          </p:cNvPicPr>
          <p:nvPr/>
        </p:nvPicPr>
        <p:blipFill>
          <a:blip r:embed="rId2"/>
          <a:stretch>
            <a:fillRect/>
          </a:stretch>
        </p:blipFill>
        <p:spPr>
          <a:xfrm>
            <a:off x="7296470" y="490490"/>
            <a:ext cx="1671777" cy="3624310"/>
          </a:xfrm>
          <a:prstGeom prst="rect">
            <a:avLst/>
          </a:prstGeom>
        </p:spPr>
      </p:pic>
      <p:pic>
        <p:nvPicPr>
          <p:cNvPr id="14" name="Picture 13">
            <a:extLst>
              <a:ext uri="{FF2B5EF4-FFF2-40B4-BE49-F238E27FC236}">
                <a16:creationId xmlns:a16="http://schemas.microsoft.com/office/drawing/2014/main" id="{414C8765-5DCA-3733-1B12-875171381E81}"/>
              </a:ext>
            </a:extLst>
          </p:cNvPr>
          <p:cNvPicPr>
            <a:picLocks noChangeAspect="1"/>
          </p:cNvPicPr>
          <p:nvPr/>
        </p:nvPicPr>
        <p:blipFill>
          <a:blip r:embed="rId3"/>
          <a:stretch>
            <a:fillRect/>
          </a:stretch>
        </p:blipFill>
        <p:spPr>
          <a:xfrm>
            <a:off x="7296469" y="4481848"/>
            <a:ext cx="1671777" cy="3624310"/>
          </a:xfrm>
          <a:prstGeom prst="rect">
            <a:avLst/>
          </a:prstGeom>
        </p:spPr>
      </p:pic>
      <p:pic>
        <p:nvPicPr>
          <p:cNvPr id="16" name="Picture 15">
            <a:extLst>
              <a:ext uri="{FF2B5EF4-FFF2-40B4-BE49-F238E27FC236}">
                <a16:creationId xmlns:a16="http://schemas.microsoft.com/office/drawing/2014/main" id="{143E97B9-906A-C2AD-7B86-77E327BF6E83}"/>
              </a:ext>
            </a:extLst>
          </p:cNvPr>
          <p:cNvPicPr>
            <a:picLocks noChangeAspect="1"/>
          </p:cNvPicPr>
          <p:nvPr/>
        </p:nvPicPr>
        <p:blipFill>
          <a:blip r:embed="rId4"/>
          <a:stretch>
            <a:fillRect/>
          </a:stretch>
        </p:blipFill>
        <p:spPr>
          <a:xfrm>
            <a:off x="4977713" y="4481848"/>
            <a:ext cx="1671777" cy="3624310"/>
          </a:xfrm>
          <a:prstGeom prst="rect">
            <a:avLst/>
          </a:prstGeom>
        </p:spPr>
      </p:pic>
      <p:grpSp>
        <p:nvGrpSpPr>
          <p:cNvPr id="24" name="Group 23">
            <a:extLst>
              <a:ext uri="{FF2B5EF4-FFF2-40B4-BE49-F238E27FC236}">
                <a16:creationId xmlns:a16="http://schemas.microsoft.com/office/drawing/2014/main" id="{B31F3F6A-722C-2DF1-7EA0-ED4CE7F6DF8A}"/>
              </a:ext>
            </a:extLst>
          </p:cNvPr>
          <p:cNvGrpSpPr/>
          <p:nvPr/>
        </p:nvGrpSpPr>
        <p:grpSpPr>
          <a:xfrm>
            <a:off x="2782555" y="5287450"/>
            <a:ext cx="2118310" cy="307777"/>
            <a:chOff x="1968550" y="1772092"/>
            <a:chExt cx="3009163" cy="307777"/>
          </a:xfrm>
        </p:grpSpPr>
        <p:sp>
          <p:nvSpPr>
            <p:cNvPr id="21" name="TextBox 20">
              <a:extLst>
                <a:ext uri="{FF2B5EF4-FFF2-40B4-BE49-F238E27FC236}">
                  <a16:creationId xmlns:a16="http://schemas.microsoft.com/office/drawing/2014/main" id="{4753718D-7411-D8F6-F403-D1C01BFAEF4A}"/>
                </a:ext>
              </a:extLst>
            </p:cNvPr>
            <p:cNvSpPr txBox="1"/>
            <p:nvPr/>
          </p:nvSpPr>
          <p:spPr>
            <a:xfrm>
              <a:off x="1968550" y="1772092"/>
              <a:ext cx="300916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Wallet Screen -------- </a:t>
              </a:r>
              <a:endParaRPr lang="en-IN" sz="1400" dirty="0">
                <a:solidFill>
                  <a:srgbClr val="4B0082"/>
                </a:solidFill>
              </a:endParaRPr>
            </a:p>
          </p:txBody>
        </p:sp>
        <p:sp>
          <p:nvSpPr>
            <p:cNvPr id="22" name="Oval 21">
              <a:extLst>
                <a:ext uri="{FF2B5EF4-FFF2-40B4-BE49-F238E27FC236}">
                  <a16:creationId xmlns:a16="http://schemas.microsoft.com/office/drawing/2014/main" id="{904C848D-A73F-097B-56A9-C0FB43E20D74}"/>
                </a:ext>
              </a:extLst>
            </p:cNvPr>
            <p:cNvSpPr/>
            <p:nvPr/>
          </p:nvSpPr>
          <p:spPr>
            <a:xfrm>
              <a:off x="4791797" y="1890420"/>
              <a:ext cx="106534"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5" name="TextBox 24">
            <a:extLst>
              <a:ext uri="{FF2B5EF4-FFF2-40B4-BE49-F238E27FC236}">
                <a16:creationId xmlns:a16="http://schemas.microsoft.com/office/drawing/2014/main" id="{16CD2A9B-2561-45AB-66E5-40C0383ABEDD}"/>
              </a:ext>
            </a:extLst>
          </p:cNvPr>
          <p:cNvSpPr txBox="1"/>
          <p:nvPr/>
        </p:nvSpPr>
        <p:spPr>
          <a:xfrm>
            <a:off x="2069649" y="1538456"/>
            <a:ext cx="2574542" cy="830997"/>
          </a:xfrm>
          <a:prstGeom prst="rect">
            <a:avLst/>
          </a:prstGeom>
          <a:noFill/>
        </p:spPr>
        <p:txBody>
          <a:bodyPr wrap="square">
            <a:spAutoFit/>
          </a:bodyPr>
          <a:lstStyle/>
          <a:p>
            <a:pPr algn="ctr">
              <a:buNone/>
            </a:pPr>
            <a:r>
              <a:rPr lang="en-US" sz="1600" dirty="0"/>
              <a:t>Displays an overview of your financial status and recent activities.</a:t>
            </a:r>
          </a:p>
        </p:txBody>
      </p:sp>
      <p:grpSp>
        <p:nvGrpSpPr>
          <p:cNvPr id="26" name="Group 25">
            <a:extLst>
              <a:ext uri="{FF2B5EF4-FFF2-40B4-BE49-F238E27FC236}">
                <a16:creationId xmlns:a16="http://schemas.microsoft.com/office/drawing/2014/main" id="{CF11B912-51BD-5123-83EF-FCA792D3F7D1}"/>
              </a:ext>
            </a:extLst>
          </p:cNvPr>
          <p:cNvGrpSpPr/>
          <p:nvPr/>
        </p:nvGrpSpPr>
        <p:grpSpPr>
          <a:xfrm>
            <a:off x="2796122" y="1201643"/>
            <a:ext cx="2118310" cy="307777"/>
            <a:chOff x="1968550" y="1772092"/>
            <a:chExt cx="3009163" cy="307777"/>
          </a:xfrm>
        </p:grpSpPr>
        <p:sp>
          <p:nvSpPr>
            <p:cNvPr id="27" name="TextBox 26">
              <a:extLst>
                <a:ext uri="{FF2B5EF4-FFF2-40B4-BE49-F238E27FC236}">
                  <a16:creationId xmlns:a16="http://schemas.microsoft.com/office/drawing/2014/main" id="{BCC4A25E-5BBD-A147-F1E0-F94E6770AB45}"/>
                </a:ext>
              </a:extLst>
            </p:cNvPr>
            <p:cNvSpPr txBox="1"/>
            <p:nvPr/>
          </p:nvSpPr>
          <p:spPr>
            <a:xfrm>
              <a:off x="1968550" y="1772092"/>
              <a:ext cx="300916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Home Screen -------- </a:t>
              </a:r>
              <a:endParaRPr lang="en-IN" sz="1400" dirty="0">
                <a:solidFill>
                  <a:srgbClr val="4B0082"/>
                </a:solidFill>
              </a:endParaRPr>
            </a:p>
          </p:txBody>
        </p:sp>
        <p:sp>
          <p:nvSpPr>
            <p:cNvPr id="28" name="Oval 27">
              <a:extLst>
                <a:ext uri="{FF2B5EF4-FFF2-40B4-BE49-F238E27FC236}">
                  <a16:creationId xmlns:a16="http://schemas.microsoft.com/office/drawing/2014/main" id="{D19F09BB-8887-1E62-B284-E7900BB3A19A}"/>
                </a:ext>
              </a:extLst>
            </p:cNvPr>
            <p:cNvSpPr/>
            <p:nvPr/>
          </p:nvSpPr>
          <p:spPr>
            <a:xfrm>
              <a:off x="4791797" y="1890420"/>
              <a:ext cx="106534"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2" name="TextBox 31">
            <a:extLst>
              <a:ext uri="{FF2B5EF4-FFF2-40B4-BE49-F238E27FC236}">
                <a16:creationId xmlns:a16="http://schemas.microsoft.com/office/drawing/2014/main" id="{15437644-6D3B-03F2-C2B2-C4FD43AC5A24}"/>
              </a:ext>
            </a:extLst>
          </p:cNvPr>
          <p:cNvSpPr txBox="1"/>
          <p:nvPr/>
        </p:nvSpPr>
        <p:spPr>
          <a:xfrm>
            <a:off x="1851949" y="5731984"/>
            <a:ext cx="2993035" cy="830997"/>
          </a:xfrm>
          <a:prstGeom prst="rect">
            <a:avLst/>
          </a:prstGeom>
          <a:noFill/>
        </p:spPr>
        <p:txBody>
          <a:bodyPr wrap="square">
            <a:spAutoFit/>
          </a:bodyPr>
          <a:lstStyle/>
          <a:p>
            <a:pPr algn="ctr">
              <a:buNone/>
            </a:pPr>
            <a:r>
              <a:rPr lang="en-US" sz="1600" dirty="0"/>
              <a:t>The wallet screens in </a:t>
            </a:r>
            <a:r>
              <a:rPr lang="en-US" sz="1600" dirty="0" err="1"/>
              <a:t>SpendSmart</a:t>
            </a:r>
            <a:r>
              <a:rPr lang="en-US" sz="1600" dirty="0"/>
              <a:t> offer users a comprehensive view of their finances.</a:t>
            </a:r>
          </a:p>
        </p:txBody>
      </p:sp>
      <p:sp>
        <p:nvSpPr>
          <p:cNvPr id="35" name="TextBox 34">
            <a:extLst>
              <a:ext uri="{FF2B5EF4-FFF2-40B4-BE49-F238E27FC236}">
                <a16:creationId xmlns:a16="http://schemas.microsoft.com/office/drawing/2014/main" id="{137A3FE0-7437-44B7-A4E4-D8CA0DB13B7B}"/>
              </a:ext>
            </a:extLst>
          </p:cNvPr>
          <p:cNvSpPr txBox="1"/>
          <p:nvPr/>
        </p:nvSpPr>
        <p:spPr>
          <a:xfrm>
            <a:off x="9249465" y="5716860"/>
            <a:ext cx="3070628" cy="830997"/>
          </a:xfrm>
          <a:prstGeom prst="rect">
            <a:avLst/>
          </a:prstGeom>
          <a:noFill/>
        </p:spPr>
        <p:txBody>
          <a:bodyPr wrap="square">
            <a:spAutoFit/>
          </a:bodyPr>
          <a:lstStyle/>
          <a:p>
            <a:pPr algn="ctr">
              <a:buNone/>
            </a:pPr>
            <a:r>
              <a:rPr lang="en-US" sz="1600" dirty="0"/>
              <a:t>The profile screen offers a range of features to customize and manage your account</a:t>
            </a:r>
          </a:p>
        </p:txBody>
      </p:sp>
      <p:sp>
        <p:nvSpPr>
          <p:cNvPr id="36" name="TextBox 35">
            <a:extLst>
              <a:ext uri="{FF2B5EF4-FFF2-40B4-BE49-F238E27FC236}">
                <a16:creationId xmlns:a16="http://schemas.microsoft.com/office/drawing/2014/main" id="{75B17EB4-D45D-34E3-4EF3-14A10C1292F5}"/>
              </a:ext>
            </a:extLst>
          </p:cNvPr>
          <p:cNvSpPr txBox="1"/>
          <p:nvPr/>
        </p:nvSpPr>
        <p:spPr>
          <a:xfrm>
            <a:off x="9249465" y="1538456"/>
            <a:ext cx="3136506" cy="1077218"/>
          </a:xfrm>
          <a:prstGeom prst="rect">
            <a:avLst/>
          </a:prstGeom>
          <a:noFill/>
        </p:spPr>
        <p:txBody>
          <a:bodyPr wrap="square">
            <a:spAutoFit/>
          </a:bodyPr>
          <a:lstStyle/>
          <a:p>
            <a:pPr algn="ctr">
              <a:buNone/>
            </a:pPr>
            <a:r>
              <a:rPr lang="en-US" sz="1600" dirty="0"/>
              <a:t>The income and expense statistics screens provide users with clear, graphical representations of their financial data.</a:t>
            </a:r>
          </a:p>
        </p:txBody>
      </p:sp>
      <p:grpSp>
        <p:nvGrpSpPr>
          <p:cNvPr id="42" name="Group 41">
            <a:extLst>
              <a:ext uri="{FF2B5EF4-FFF2-40B4-BE49-F238E27FC236}">
                <a16:creationId xmlns:a16="http://schemas.microsoft.com/office/drawing/2014/main" id="{638A5634-8062-071A-B841-6F7DF2D0F208}"/>
              </a:ext>
            </a:extLst>
          </p:cNvPr>
          <p:cNvGrpSpPr/>
          <p:nvPr/>
        </p:nvGrpSpPr>
        <p:grpSpPr>
          <a:xfrm>
            <a:off x="9087446" y="1145879"/>
            <a:ext cx="3142891" cy="523220"/>
            <a:chOff x="9077711" y="945611"/>
            <a:chExt cx="2974081" cy="523220"/>
          </a:xfrm>
        </p:grpSpPr>
        <p:sp>
          <p:nvSpPr>
            <p:cNvPr id="40" name="TextBox 39">
              <a:extLst>
                <a:ext uri="{FF2B5EF4-FFF2-40B4-BE49-F238E27FC236}">
                  <a16:creationId xmlns:a16="http://schemas.microsoft.com/office/drawing/2014/main" id="{3C96A967-8FB0-21E1-2B73-3710AEB22397}"/>
                </a:ext>
              </a:extLst>
            </p:cNvPr>
            <p:cNvSpPr txBox="1"/>
            <p:nvPr/>
          </p:nvSpPr>
          <p:spPr>
            <a:xfrm>
              <a:off x="9093290" y="945611"/>
              <a:ext cx="2958502" cy="523220"/>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------Income &amp; Expense Statistics </a:t>
              </a:r>
              <a:endParaRPr lang="en-IN" sz="1400" dirty="0">
                <a:solidFill>
                  <a:srgbClr val="4B0082"/>
                </a:solidFill>
              </a:endParaRPr>
            </a:p>
          </p:txBody>
        </p:sp>
        <p:sp>
          <p:nvSpPr>
            <p:cNvPr id="41" name="Oval 40">
              <a:extLst>
                <a:ext uri="{FF2B5EF4-FFF2-40B4-BE49-F238E27FC236}">
                  <a16:creationId xmlns:a16="http://schemas.microsoft.com/office/drawing/2014/main" id="{60D487A3-A8DD-8E53-1DE3-8D008710FA21}"/>
                </a:ext>
              </a:extLst>
            </p:cNvPr>
            <p:cNvSpPr/>
            <p:nvPr/>
          </p:nvSpPr>
          <p:spPr>
            <a:xfrm>
              <a:off x="9077711" y="107475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3" name="Group 42">
            <a:extLst>
              <a:ext uri="{FF2B5EF4-FFF2-40B4-BE49-F238E27FC236}">
                <a16:creationId xmlns:a16="http://schemas.microsoft.com/office/drawing/2014/main" id="{CC11073C-39EB-F8B1-D024-BA85D20D9CFC}"/>
              </a:ext>
            </a:extLst>
          </p:cNvPr>
          <p:cNvGrpSpPr/>
          <p:nvPr/>
        </p:nvGrpSpPr>
        <p:grpSpPr>
          <a:xfrm>
            <a:off x="9077368" y="5213965"/>
            <a:ext cx="2017947" cy="307777"/>
            <a:chOff x="9083753" y="945611"/>
            <a:chExt cx="1909560" cy="307777"/>
          </a:xfrm>
        </p:grpSpPr>
        <p:sp>
          <p:nvSpPr>
            <p:cNvPr id="44" name="TextBox 43">
              <a:extLst>
                <a:ext uri="{FF2B5EF4-FFF2-40B4-BE49-F238E27FC236}">
                  <a16:creationId xmlns:a16="http://schemas.microsoft.com/office/drawing/2014/main" id="{5ED05812-84BF-FCF9-9B04-BB5FCD3D533B}"/>
                </a:ext>
              </a:extLst>
            </p:cNvPr>
            <p:cNvSpPr txBox="1"/>
            <p:nvPr/>
          </p:nvSpPr>
          <p:spPr>
            <a:xfrm>
              <a:off x="9093290" y="945611"/>
              <a:ext cx="1900023"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------Profile Settings</a:t>
              </a:r>
              <a:endParaRPr lang="en-IN" sz="1400" dirty="0">
                <a:solidFill>
                  <a:srgbClr val="4B0082"/>
                </a:solidFill>
              </a:endParaRPr>
            </a:p>
          </p:txBody>
        </p:sp>
        <p:sp>
          <p:nvSpPr>
            <p:cNvPr id="45" name="Oval 44">
              <a:extLst>
                <a:ext uri="{FF2B5EF4-FFF2-40B4-BE49-F238E27FC236}">
                  <a16:creationId xmlns:a16="http://schemas.microsoft.com/office/drawing/2014/main" id="{4D58B388-A8CF-E866-4297-F46A3D3B4961}"/>
                </a:ext>
              </a:extLst>
            </p:cNvPr>
            <p:cNvSpPr/>
            <p:nvPr/>
          </p:nvSpPr>
          <p:spPr>
            <a:xfrm>
              <a:off x="9083753" y="1062617"/>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4" name="Picture 3">
            <a:extLst>
              <a:ext uri="{FF2B5EF4-FFF2-40B4-BE49-F238E27FC236}">
                <a16:creationId xmlns:a16="http://schemas.microsoft.com/office/drawing/2014/main" id="{8C1CD61F-5099-6274-DA3A-6CF700F447E4}"/>
              </a:ext>
            </a:extLst>
          </p:cNvPr>
          <p:cNvPicPr>
            <a:picLocks noChangeAspect="1"/>
          </p:cNvPicPr>
          <p:nvPr/>
        </p:nvPicPr>
        <p:blipFill>
          <a:blip r:embed="rId5"/>
          <a:stretch>
            <a:fillRect/>
          </a:stretch>
        </p:blipFill>
        <p:spPr>
          <a:xfrm>
            <a:off x="4994213" y="485627"/>
            <a:ext cx="1671777" cy="3624310"/>
          </a:xfrm>
          <a:prstGeom prst="rect">
            <a:avLst/>
          </a:prstGeom>
        </p:spPr>
      </p:pic>
    </p:spTree>
    <p:extLst>
      <p:ext uri="{BB962C8B-B14F-4D97-AF65-F5344CB8AC3E}">
        <p14:creationId xmlns:p14="http://schemas.microsoft.com/office/powerpoint/2010/main" val="1440373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F3F995-61F7-84D3-58E8-DE8AEB5C100E}"/>
              </a:ext>
            </a:extLst>
          </p:cNvPr>
          <p:cNvPicPr>
            <a:picLocks noChangeAspect="1"/>
          </p:cNvPicPr>
          <p:nvPr/>
        </p:nvPicPr>
        <p:blipFill>
          <a:blip r:embed="rId2"/>
          <a:stretch>
            <a:fillRect/>
          </a:stretch>
        </p:blipFill>
        <p:spPr>
          <a:xfrm>
            <a:off x="2392834" y="2332767"/>
            <a:ext cx="2611340" cy="5661224"/>
          </a:xfrm>
          <a:prstGeom prst="rect">
            <a:avLst/>
          </a:prstGeom>
        </p:spPr>
      </p:pic>
      <p:pic>
        <p:nvPicPr>
          <p:cNvPr id="6" name="Picture 5">
            <a:extLst>
              <a:ext uri="{FF2B5EF4-FFF2-40B4-BE49-F238E27FC236}">
                <a16:creationId xmlns:a16="http://schemas.microsoft.com/office/drawing/2014/main" id="{B1FB45B7-CC80-B25D-6A17-35AA1B62D1E2}"/>
              </a:ext>
            </a:extLst>
          </p:cNvPr>
          <p:cNvPicPr>
            <a:picLocks noChangeAspect="1"/>
          </p:cNvPicPr>
          <p:nvPr/>
        </p:nvPicPr>
        <p:blipFill>
          <a:blip r:embed="rId3"/>
          <a:stretch>
            <a:fillRect/>
          </a:stretch>
        </p:blipFill>
        <p:spPr>
          <a:xfrm>
            <a:off x="6363523" y="1680427"/>
            <a:ext cx="2611340" cy="5661225"/>
          </a:xfrm>
          <a:prstGeom prst="rect">
            <a:avLst/>
          </a:prstGeom>
        </p:spPr>
      </p:pic>
      <p:pic>
        <p:nvPicPr>
          <p:cNvPr id="8" name="Picture 7">
            <a:extLst>
              <a:ext uri="{FF2B5EF4-FFF2-40B4-BE49-F238E27FC236}">
                <a16:creationId xmlns:a16="http://schemas.microsoft.com/office/drawing/2014/main" id="{34B6FFA9-929D-5EEB-C0BA-1696FD3E79FB}"/>
              </a:ext>
            </a:extLst>
          </p:cNvPr>
          <p:cNvPicPr>
            <a:picLocks noChangeAspect="1"/>
          </p:cNvPicPr>
          <p:nvPr/>
        </p:nvPicPr>
        <p:blipFill>
          <a:blip r:embed="rId4"/>
          <a:stretch>
            <a:fillRect/>
          </a:stretch>
        </p:blipFill>
        <p:spPr>
          <a:xfrm>
            <a:off x="10334213" y="2332767"/>
            <a:ext cx="2611339" cy="5661224"/>
          </a:xfrm>
          <a:prstGeom prst="rect">
            <a:avLst/>
          </a:prstGeom>
        </p:spPr>
      </p:pic>
      <p:grpSp>
        <p:nvGrpSpPr>
          <p:cNvPr id="9" name="Group 8">
            <a:extLst>
              <a:ext uri="{FF2B5EF4-FFF2-40B4-BE49-F238E27FC236}">
                <a16:creationId xmlns:a16="http://schemas.microsoft.com/office/drawing/2014/main" id="{4E4CD2C9-CF6D-28D4-A721-04FEAB2F93DE}"/>
              </a:ext>
            </a:extLst>
          </p:cNvPr>
          <p:cNvGrpSpPr/>
          <p:nvPr/>
        </p:nvGrpSpPr>
        <p:grpSpPr>
          <a:xfrm>
            <a:off x="3062822" y="1045848"/>
            <a:ext cx="1577758" cy="1199651"/>
            <a:chOff x="3062822" y="1045848"/>
            <a:chExt cx="1577758" cy="1199651"/>
          </a:xfrm>
        </p:grpSpPr>
        <p:sp>
          <p:nvSpPr>
            <p:cNvPr id="3" name="TextBox 2">
              <a:extLst>
                <a:ext uri="{FF2B5EF4-FFF2-40B4-BE49-F238E27FC236}">
                  <a16:creationId xmlns:a16="http://schemas.microsoft.com/office/drawing/2014/main" id="{012185CB-9797-2F9D-2801-A65F55D6FE24}"/>
                </a:ext>
              </a:extLst>
            </p:cNvPr>
            <p:cNvSpPr txBox="1"/>
            <p:nvPr/>
          </p:nvSpPr>
          <p:spPr>
            <a:xfrm>
              <a:off x="3062822" y="1045848"/>
              <a:ext cx="1577758"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Budget Screen  </a:t>
              </a:r>
              <a:endParaRPr lang="en-IN" sz="1400" dirty="0">
                <a:solidFill>
                  <a:srgbClr val="4B0082"/>
                </a:solidFill>
              </a:endParaRPr>
            </a:p>
          </p:txBody>
        </p:sp>
        <p:sp>
          <p:nvSpPr>
            <p:cNvPr id="5" name="TextBox 4">
              <a:extLst>
                <a:ext uri="{FF2B5EF4-FFF2-40B4-BE49-F238E27FC236}">
                  <a16:creationId xmlns:a16="http://schemas.microsoft.com/office/drawing/2014/main" id="{C9203BFA-3531-99D1-2B8B-D25EA666F866}"/>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7" name="Oval 6">
              <a:extLst>
                <a:ext uri="{FF2B5EF4-FFF2-40B4-BE49-F238E27FC236}">
                  <a16:creationId xmlns:a16="http://schemas.microsoft.com/office/drawing/2014/main" id="{FD47EE40-6BA9-18E2-D180-628B9E471159}"/>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1" name="Group 10">
            <a:extLst>
              <a:ext uri="{FF2B5EF4-FFF2-40B4-BE49-F238E27FC236}">
                <a16:creationId xmlns:a16="http://schemas.microsoft.com/office/drawing/2014/main" id="{96A944FF-9696-CAFD-307B-37B6EA99B360}"/>
              </a:ext>
            </a:extLst>
          </p:cNvPr>
          <p:cNvGrpSpPr/>
          <p:nvPr/>
        </p:nvGrpSpPr>
        <p:grpSpPr>
          <a:xfrm>
            <a:off x="7177622" y="375288"/>
            <a:ext cx="1577758" cy="1199651"/>
            <a:chOff x="3215222" y="1045848"/>
            <a:chExt cx="1577758" cy="1199651"/>
          </a:xfrm>
        </p:grpSpPr>
        <p:sp>
          <p:nvSpPr>
            <p:cNvPr id="12" name="TextBox 11">
              <a:extLst>
                <a:ext uri="{FF2B5EF4-FFF2-40B4-BE49-F238E27FC236}">
                  <a16:creationId xmlns:a16="http://schemas.microsoft.com/office/drawing/2014/main" id="{46F8B267-08BE-6709-15DC-5511365AFB66}"/>
                </a:ext>
              </a:extLst>
            </p:cNvPr>
            <p:cNvSpPr txBox="1"/>
            <p:nvPr/>
          </p:nvSpPr>
          <p:spPr>
            <a:xfrm>
              <a:off x="3215222" y="1045848"/>
              <a:ext cx="1577758"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Add Budget  </a:t>
              </a:r>
              <a:endParaRPr lang="en-IN" sz="1400" dirty="0">
                <a:solidFill>
                  <a:srgbClr val="4B0082"/>
                </a:solidFill>
              </a:endParaRPr>
            </a:p>
          </p:txBody>
        </p:sp>
        <p:sp>
          <p:nvSpPr>
            <p:cNvPr id="13" name="TextBox 12">
              <a:extLst>
                <a:ext uri="{FF2B5EF4-FFF2-40B4-BE49-F238E27FC236}">
                  <a16:creationId xmlns:a16="http://schemas.microsoft.com/office/drawing/2014/main" id="{C3B964A7-718C-7DB4-97AF-FC4C653C9E21}"/>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14" name="Oval 13">
              <a:extLst>
                <a:ext uri="{FF2B5EF4-FFF2-40B4-BE49-F238E27FC236}">
                  <a16:creationId xmlns:a16="http://schemas.microsoft.com/office/drawing/2014/main" id="{912B3076-93D5-2D9C-9682-83E13CD2CA6C}"/>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5" name="Group 14">
            <a:extLst>
              <a:ext uri="{FF2B5EF4-FFF2-40B4-BE49-F238E27FC236}">
                <a16:creationId xmlns:a16="http://schemas.microsoft.com/office/drawing/2014/main" id="{FEE9D5B3-4A14-72E0-D726-B10410C8830D}"/>
              </a:ext>
            </a:extLst>
          </p:cNvPr>
          <p:cNvGrpSpPr/>
          <p:nvPr/>
        </p:nvGrpSpPr>
        <p:grpSpPr>
          <a:xfrm>
            <a:off x="10643082" y="929269"/>
            <a:ext cx="1878571" cy="1280670"/>
            <a:chOff x="2836215" y="964829"/>
            <a:chExt cx="1878571" cy="1280670"/>
          </a:xfrm>
        </p:grpSpPr>
        <p:sp>
          <p:nvSpPr>
            <p:cNvPr id="16" name="TextBox 15">
              <a:extLst>
                <a:ext uri="{FF2B5EF4-FFF2-40B4-BE49-F238E27FC236}">
                  <a16:creationId xmlns:a16="http://schemas.microsoft.com/office/drawing/2014/main" id="{AEEAC396-ED85-02A9-B5F6-CD2C144673F4}"/>
                </a:ext>
              </a:extLst>
            </p:cNvPr>
            <p:cNvSpPr txBox="1"/>
            <p:nvPr/>
          </p:nvSpPr>
          <p:spPr>
            <a:xfrm>
              <a:off x="2836215" y="964829"/>
              <a:ext cx="1878571" cy="307777"/>
            </a:xfrm>
            <a:prstGeom prst="rect">
              <a:avLst/>
            </a:prstGeom>
            <a:noFill/>
          </p:spPr>
          <p:txBody>
            <a:bodyPr wrap="square">
              <a:spAutoFit/>
            </a:bodyPr>
            <a:lstStyle/>
            <a:p>
              <a:r>
                <a:rPr lang="en-US" sz="1400" b="1" dirty="0">
                  <a:solidFill>
                    <a:srgbClr val="4B0082"/>
                  </a:solidFill>
                  <a:latin typeface="Inter Bold" pitchFamily="34" charset="0"/>
                  <a:ea typeface="Inter Bold" pitchFamily="34" charset="-122"/>
                </a:rPr>
                <a:t>Add Amount ,Name  </a:t>
              </a:r>
              <a:endParaRPr lang="en-IN" sz="1400" dirty="0">
                <a:solidFill>
                  <a:srgbClr val="4B0082"/>
                </a:solidFill>
              </a:endParaRPr>
            </a:p>
          </p:txBody>
        </p:sp>
        <p:sp>
          <p:nvSpPr>
            <p:cNvPr id="17" name="TextBox 16">
              <a:extLst>
                <a:ext uri="{FF2B5EF4-FFF2-40B4-BE49-F238E27FC236}">
                  <a16:creationId xmlns:a16="http://schemas.microsoft.com/office/drawing/2014/main" id="{A2F9BE83-D188-C756-CD80-C1A7A008C178}"/>
                </a:ext>
              </a:extLst>
            </p:cNvPr>
            <p:cNvSpPr txBox="1"/>
            <p:nvPr/>
          </p:nvSpPr>
          <p:spPr>
            <a:xfrm>
              <a:off x="3650306" y="1237046"/>
              <a:ext cx="250390" cy="938719"/>
            </a:xfrm>
            <a:prstGeom prst="rect">
              <a:avLst/>
            </a:prstGeom>
            <a:noFill/>
          </p:spPr>
          <p:txBody>
            <a:bodyPr wrap="none" rtlCol="0">
              <a:spAutoFit/>
            </a:bodyPr>
            <a:lstStyle/>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p>
            <a:p>
              <a:r>
                <a:rPr lang="en-IN" sz="1100" dirty="0">
                  <a:solidFill>
                    <a:srgbClr val="4B0082"/>
                  </a:solidFill>
                </a:rPr>
                <a:t>|</a:t>
              </a:r>
              <a:endParaRPr lang="en-IN" dirty="0">
                <a:solidFill>
                  <a:srgbClr val="4B0082"/>
                </a:solidFill>
              </a:endParaRPr>
            </a:p>
          </p:txBody>
        </p:sp>
        <p:sp>
          <p:nvSpPr>
            <p:cNvPr id="18" name="Oval 17">
              <a:extLst>
                <a:ext uri="{FF2B5EF4-FFF2-40B4-BE49-F238E27FC236}">
                  <a16:creationId xmlns:a16="http://schemas.microsoft.com/office/drawing/2014/main" id="{324E5FD9-A54D-09DD-FDAF-7BE7CA37B3EA}"/>
                </a:ext>
              </a:extLst>
            </p:cNvPr>
            <p:cNvSpPr/>
            <p:nvPr/>
          </p:nvSpPr>
          <p:spPr>
            <a:xfrm>
              <a:off x="3733768" y="2174379"/>
              <a:ext cx="74995" cy="71120"/>
            </a:xfrm>
            <a:prstGeom prst="ellipse">
              <a:avLst/>
            </a:prstGeom>
            <a:solidFill>
              <a:srgbClr val="4B0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643657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FC7644-C46E-D955-67FA-72D1F63BA005}"/>
              </a:ext>
            </a:extLst>
          </p:cNvPr>
          <p:cNvSpPr txBox="1"/>
          <p:nvPr/>
        </p:nvSpPr>
        <p:spPr>
          <a:xfrm>
            <a:off x="683567" y="402721"/>
            <a:ext cx="1424013" cy="584775"/>
          </a:xfrm>
          <a:prstGeom prst="rect">
            <a:avLst/>
          </a:prstGeom>
          <a:noFill/>
        </p:spPr>
        <p:txBody>
          <a:bodyPr wrap="square">
            <a:spAutoFit/>
          </a:bodyPr>
          <a:lstStyle/>
          <a:p>
            <a:r>
              <a:rPr lang="en-US" sz="3200" b="1" dirty="0">
                <a:solidFill>
                  <a:srgbClr val="4B0082"/>
                </a:solidFill>
                <a:latin typeface="Inter Bold" pitchFamily="34" charset="0"/>
                <a:ea typeface="Inter Bold" pitchFamily="34" charset="-122"/>
              </a:rPr>
              <a:t>TEST</a:t>
            </a:r>
            <a:endParaRPr lang="en-IN" sz="3200" dirty="0">
              <a:solidFill>
                <a:srgbClr val="4B0082"/>
              </a:solidFill>
            </a:endParaRPr>
          </a:p>
        </p:txBody>
      </p:sp>
      <p:sp>
        <p:nvSpPr>
          <p:cNvPr id="3" name="Rectangle 1">
            <a:extLst>
              <a:ext uri="{FF2B5EF4-FFF2-40B4-BE49-F238E27FC236}">
                <a16:creationId xmlns:a16="http://schemas.microsoft.com/office/drawing/2014/main" id="{E302B031-8058-EA8A-427B-5034AE30ED81}"/>
              </a:ext>
            </a:extLst>
          </p:cNvPr>
          <p:cNvSpPr>
            <a:spLocks noChangeArrowheads="1"/>
          </p:cNvSpPr>
          <p:nvPr/>
        </p:nvSpPr>
        <p:spPr bwMode="auto">
          <a:xfrm>
            <a:off x="683567" y="2029848"/>
            <a:ext cx="73564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Users found the app </a:t>
            </a:r>
            <a:r>
              <a:rPr kumimoji="0" lang="en-US" altLang="en-US" sz="1800" b="1" i="0" u="none" strike="noStrike" cap="none" normalizeH="0" baseline="0" dirty="0">
                <a:ln>
                  <a:noFill/>
                </a:ln>
                <a:solidFill>
                  <a:schemeClr val="tx1"/>
                </a:solidFill>
                <a:effectLst/>
                <a:latin typeface="Arial" panose="020B0604020202020204" pitchFamily="34" charset="0"/>
              </a:rPr>
              <a:t>easy to navigate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a:ln>
                  <a:noFill/>
                </a:ln>
                <a:solidFill>
                  <a:schemeClr val="tx1"/>
                </a:solidFill>
                <a:effectLst/>
                <a:latin typeface="Arial" panose="020B0604020202020204" pitchFamily="34" charset="0"/>
              </a:rPr>
              <a:t>and visually </a:t>
            </a:r>
            <a:r>
              <a:rPr kumimoji="0" lang="en-US" altLang="en-US" sz="1800" b="0" i="0" u="none" strike="noStrike" cap="none" normalizeH="0" baseline="0" dirty="0">
                <a:ln>
                  <a:noFill/>
                </a:ln>
                <a:solidFill>
                  <a:schemeClr val="tx1"/>
                </a:solidFill>
                <a:effectLst/>
                <a:latin typeface="Arial" panose="020B0604020202020204" pitchFamily="34" charset="0"/>
              </a:rPr>
              <a:t>clear.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color scheme and icons</a:t>
            </a:r>
            <a:r>
              <a:rPr kumimoji="0" lang="en-US" altLang="en-US" sz="1800" b="0" i="0" u="none" strike="noStrike" cap="none" normalizeH="0" baseline="0" dirty="0">
                <a:ln>
                  <a:noFill/>
                </a:ln>
                <a:solidFill>
                  <a:schemeClr val="tx1"/>
                </a:solidFill>
                <a:effectLst/>
                <a:latin typeface="Arial" panose="020B0604020202020204" pitchFamily="34" charset="0"/>
              </a:rPr>
              <a:t> were appreciated for simplicity.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Expense tracking flow</a:t>
            </a:r>
            <a:r>
              <a:rPr kumimoji="0" lang="en-US" altLang="en-US" sz="1800" b="0" i="0" u="none" strike="noStrike" cap="none" normalizeH="0" baseline="0" dirty="0">
                <a:ln>
                  <a:noFill/>
                </a:ln>
                <a:solidFill>
                  <a:schemeClr val="tx1"/>
                </a:solidFill>
                <a:effectLst/>
                <a:latin typeface="Arial" panose="020B0604020202020204" pitchFamily="34" charset="0"/>
              </a:rPr>
              <a:t> felt smooth and quick to complete.</a:t>
            </a:r>
          </a:p>
        </p:txBody>
      </p:sp>
      <p:sp>
        <p:nvSpPr>
          <p:cNvPr id="5" name="TextBox 4">
            <a:extLst>
              <a:ext uri="{FF2B5EF4-FFF2-40B4-BE49-F238E27FC236}">
                <a16:creationId xmlns:a16="http://schemas.microsoft.com/office/drawing/2014/main" id="{ED6ADD2F-024F-7B60-F4D6-EC85296BEE6E}"/>
              </a:ext>
            </a:extLst>
          </p:cNvPr>
          <p:cNvSpPr txBox="1"/>
          <p:nvPr/>
        </p:nvSpPr>
        <p:spPr>
          <a:xfrm>
            <a:off x="683567" y="4260760"/>
            <a:ext cx="8819248" cy="923330"/>
          </a:xfrm>
          <a:prstGeom prst="rect">
            <a:avLst/>
          </a:prstGeom>
          <a:noFill/>
        </p:spPr>
        <p:txBody>
          <a:bodyPr wrap="square">
            <a:spAutoFit/>
          </a:bodyPr>
          <a:lstStyle/>
          <a:p>
            <a:pPr>
              <a:buNone/>
            </a:pPr>
            <a:r>
              <a:rPr lang="en-US" b="1" dirty="0"/>
              <a:t>Area to Improve:</a:t>
            </a:r>
          </a:p>
          <a:p>
            <a:pPr>
              <a:buNone/>
            </a:pPr>
            <a:endParaRPr lang="en-US" dirty="0"/>
          </a:p>
          <a:p>
            <a:pPr>
              <a:buFont typeface="Arial" panose="020B0604020202020204" pitchFamily="34" charset="0"/>
              <a:buChar char="•"/>
            </a:pPr>
            <a:r>
              <a:rPr lang="en-US" dirty="0"/>
              <a:t> Some users suggested </a:t>
            </a:r>
            <a:r>
              <a:rPr lang="en-US" b="1" dirty="0"/>
              <a:t>adding clearer category labels</a:t>
            </a:r>
            <a:r>
              <a:rPr lang="en-US" dirty="0"/>
              <a:t> for faster understanding.</a:t>
            </a:r>
          </a:p>
        </p:txBody>
      </p:sp>
      <p:sp>
        <p:nvSpPr>
          <p:cNvPr id="6" name="TextBox 5">
            <a:extLst>
              <a:ext uri="{FF2B5EF4-FFF2-40B4-BE49-F238E27FC236}">
                <a16:creationId xmlns:a16="http://schemas.microsoft.com/office/drawing/2014/main" id="{2B59E7BC-81D2-B7C4-6514-6087512EF089}"/>
              </a:ext>
            </a:extLst>
          </p:cNvPr>
          <p:cNvSpPr txBox="1"/>
          <p:nvPr/>
        </p:nvSpPr>
        <p:spPr>
          <a:xfrm>
            <a:off x="683567" y="1263430"/>
            <a:ext cx="1390445" cy="461665"/>
          </a:xfrm>
          <a:prstGeom prst="rect">
            <a:avLst/>
          </a:prstGeom>
          <a:noFill/>
        </p:spPr>
        <p:txBody>
          <a:bodyPr wrap="none" rtlCol="0">
            <a:spAutoFit/>
          </a:bodyPr>
          <a:lstStyle/>
          <a:p>
            <a:r>
              <a:rPr lang="en-IN" sz="2400" b="1" dirty="0">
                <a:solidFill>
                  <a:srgbClr val="4B0082"/>
                </a:solidFill>
              </a:rPr>
              <a:t>Feedback</a:t>
            </a:r>
          </a:p>
        </p:txBody>
      </p:sp>
    </p:spTree>
    <p:extLst>
      <p:ext uri="{BB962C8B-B14F-4D97-AF65-F5344CB8AC3E}">
        <p14:creationId xmlns:p14="http://schemas.microsoft.com/office/powerpoint/2010/main" val="78772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694</TotalTime>
  <Words>1556</Words>
  <Application>Microsoft Office PowerPoint</Application>
  <PresentationFormat>Custom</PresentationFormat>
  <Paragraphs>265</Paragraphs>
  <Slides>23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Inter</vt:lpstr>
      <vt:lpstr>Inter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Prathiksha Vasudevan</dc:creator>
  <cp:lastModifiedBy>Prathiksha Vasudevan</cp:lastModifiedBy>
  <cp:revision>6</cp:revision>
  <dcterms:created xsi:type="dcterms:W3CDTF">2025-10-13T13:34:21Z</dcterms:created>
  <dcterms:modified xsi:type="dcterms:W3CDTF">2025-10-28T14:23:21Z</dcterms:modified>
</cp:coreProperties>
</file>